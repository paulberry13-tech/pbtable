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Berry" userId="300b6ad9-5d93-43cf-b78d-9a01b9be4ada" providerId="ADAL" clId="{C911423E-AA36-4D89-83A6-948E4BA73ACC}"/>
    <pc:docChg chg="custSel modSld">
      <pc:chgData name="Paul Berry" userId="300b6ad9-5d93-43cf-b78d-9a01b9be4ada" providerId="ADAL" clId="{C911423E-AA36-4D89-83A6-948E4BA73ACC}" dt="2026-10-14T17:32:00.293" v="19"/>
      <pc:docMkLst>
        <pc:docMk/>
      </pc:docMkLst>
      <pc:sldChg chg="modSp mod">
        <pc:chgData name="Paul Berry" userId="300b6ad9-5d93-43cf-b78d-9a01b9be4ada" providerId="ADAL" clId="{C911423E-AA36-4D89-83A6-948E4BA73ACC}" dt="2026-10-14T17:32:00.069" v="3"/>
        <pc:sldMkLst>
          <pc:docMk/>
          <pc:sldMk cId="0" sldId="262"/>
        </pc:sldMkLst>
        <pc:spChg chg="mod">
          <ac:chgData name="Paul Berry" userId="300b6ad9-5d93-43cf-b78d-9a01b9be4ada" providerId="ADAL" clId="{C911423E-AA36-4D89-83A6-948E4BA73ACC}" dt="2026-10-14T17:32:00.069" v="3"/>
          <ac:spMkLst>
            <pc:docMk/>
            <pc:sldMk cId="0" sldId="262"/>
            <ac:spMk id="5" creationId="{00000000-0000-0000-0000-000000000000}"/>
          </ac:spMkLst>
        </pc:spChg>
        <pc:spChg chg="mod">
          <ac:chgData name="Paul Berry" userId="300b6ad9-5d93-43cf-b78d-9a01b9be4ada" providerId="ADAL" clId="{C911423E-AA36-4D89-83A6-948E4BA73ACC}" dt="2026-10-14T17:32:00.058" v="1"/>
          <ac:spMkLst>
            <pc:docMk/>
            <pc:sldMk cId="0" sldId="262"/>
            <ac:spMk id="6" creationId="{00000000-0000-0000-0000-000000000000}"/>
          </ac:spMkLst>
        </pc:spChg>
      </pc:sldChg>
      <pc:sldChg chg="modSp mod">
        <pc:chgData name="Paul Berry" userId="300b6ad9-5d93-43cf-b78d-9a01b9be4ada" providerId="ADAL" clId="{C911423E-AA36-4D89-83A6-948E4BA73ACC}" dt="2026-10-14T17:32:00.145" v="7"/>
        <pc:sldMkLst>
          <pc:docMk/>
          <pc:sldMk cId="0" sldId="264"/>
        </pc:sldMkLst>
        <pc:spChg chg="mod">
          <ac:chgData name="Paul Berry" userId="300b6ad9-5d93-43cf-b78d-9a01b9be4ada" providerId="ADAL" clId="{C911423E-AA36-4D89-83A6-948E4BA73ACC}" dt="2026-10-14T17:32:00.145" v="7"/>
          <ac:spMkLst>
            <pc:docMk/>
            <pc:sldMk cId="0" sldId="264"/>
            <ac:spMk id="5" creationId="{00000000-0000-0000-0000-000000000000}"/>
          </ac:spMkLst>
        </pc:spChg>
        <pc:spChg chg="mod">
          <ac:chgData name="Paul Berry" userId="300b6ad9-5d93-43cf-b78d-9a01b9be4ada" providerId="ADAL" clId="{C911423E-AA36-4D89-83A6-948E4BA73ACC}" dt="2026-10-14T17:32:00.134" v="5"/>
          <ac:spMkLst>
            <pc:docMk/>
            <pc:sldMk cId="0" sldId="264"/>
            <ac:spMk id="6" creationId="{00000000-0000-0000-0000-000000000000}"/>
          </ac:spMkLst>
        </pc:spChg>
      </pc:sldChg>
      <pc:sldChg chg="modSp mod">
        <pc:chgData name="Paul Berry" userId="300b6ad9-5d93-43cf-b78d-9a01b9be4ada" providerId="ADAL" clId="{C911423E-AA36-4D89-83A6-948E4BA73ACC}" dt="2026-10-14T17:32:00.198" v="11"/>
        <pc:sldMkLst>
          <pc:docMk/>
          <pc:sldMk cId="0" sldId="266"/>
        </pc:sldMkLst>
        <pc:spChg chg="mod">
          <ac:chgData name="Paul Berry" userId="300b6ad9-5d93-43cf-b78d-9a01b9be4ada" providerId="ADAL" clId="{C911423E-AA36-4D89-83A6-948E4BA73ACC}" dt="2026-10-14T17:32:00.198" v="11"/>
          <ac:spMkLst>
            <pc:docMk/>
            <pc:sldMk cId="0" sldId="266"/>
            <ac:spMk id="5" creationId="{00000000-0000-0000-0000-000000000000}"/>
          </ac:spMkLst>
        </pc:spChg>
        <pc:spChg chg="mod">
          <ac:chgData name="Paul Berry" userId="300b6ad9-5d93-43cf-b78d-9a01b9be4ada" providerId="ADAL" clId="{C911423E-AA36-4D89-83A6-948E4BA73ACC}" dt="2026-10-14T17:32:00.190" v="9"/>
          <ac:spMkLst>
            <pc:docMk/>
            <pc:sldMk cId="0" sldId="266"/>
            <ac:spMk id="6" creationId="{00000000-0000-0000-0000-000000000000}"/>
          </ac:spMkLst>
        </pc:spChg>
      </pc:sldChg>
      <pc:sldChg chg="modSp mod">
        <pc:chgData name="Paul Berry" userId="300b6ad9-5d93-43cf-b78d-9a01b9be4ada" providerId="ADAL" clId="{C911423E-AA36-4D89-83A6-948E4BA73ACC}" dt="2026-10-14T17:32:00.247" v="15"/>
        <pc:sldMkLst>
          <pc:docMk/>
          <pc:sldMk cId="0" sldId="280"/>
        </pc:sldMkLst>
        <pc:spChg chg="mod">
          <ac:chgData name="Paul Berry" userId="300b6ad9-5d93-43cf-b78d-9a01b9be4ada" providerId="ADAL" clId="{C911423E-AA36-4D89-83A6-948E4BA73ACC}" dt="2026-10-14T17:32:00.247" v="15"/>
          <ac:spMkLst>
            <pc:docMk/>
            <pc:sldMk cId="0" sldId="280"/>
            <ac:spMk id="5" creationId="{00000000-0000-0000-0000-000000000000}"/>
          </ac:spMkLst>
        </pc:spChg>
        <pc:spChg chg="mod">
          <ac:chgData name="Paul Berry" userId="300b6ad9-5d93-43cf-b78d-9a01b9be4ada" providerId="ADAL" clId="{C911423E-AA36-4D89-83A6-948E4BA73ACC}" dt="2026-10-14T17:32:00.240" v="13"/>
          <ac:spMkLst>
            <pc:docMk/>
            <pc:sldMk cId="0" sldId="280"/>
            <ac:spMk id="6" creationId="{00000000-0000-0000-0000-000000000000}"/>
          </ac:spMkLst>
        </pc:spChg>
      </pc:sldChg>
      <pc:sldChg chg="modSp mod">
        <pc:chgData name="Paul Berry" userId="300b6ad9-5d93-43cf-b78d-9a01b9be4ada" providerId="ADAL" clId="{C911423E-AA36-4D89-83A6-948E4BA73ACC}" dt="2026-10-14T17:32:00.293" v="19"/>
        <pc:sldMkLst>
          <pc:docMk/>
          <pc:sldMk cId="0" sldId="289"/>
        </pc:sldMkLst>
        <pc:spChg chg="mod">
          <ac:chgData name="Paul Berry" userId="300b6ad9-5d93-43cf-b78d-9a01b9be4ada" providerId="ADAL" clId="{C911423E-AA36-4D89-83A6-948E4BA73ACC}" dt="2026-10-14T17:32:00.293" v="19"/>
          <ac:spMkLst>
            <pc:docMk/>
            <pc:sldMk cId="0" sldId="289"/>
            <ac:spMk id="5" creationId="{00000000-0000-0000-0000-000000000000}"/>
          </ac:spMkLst>
        </pc:spChg>
        <pc:spChg chg="mod">
          <ac:chgData name="Paul Berry" userId="300b6ad9-5d93-43cf-b78d-9a01b9be4ada" providerId="ADAL" clId="{C911423E-AA36-4D89-83A6-948E4BA73ACC}" dt="2026-10-14T17:32:00.284" v="17"/>
          <ac:spMkLst>
            <pc:docMk/>
            <pc:sldMk cId="0" sldId="289"/>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587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use the next slide to pick the sections for the people in the room. Hide the sections they don't need (they're grouped in the deck's outline). Ambassadors usually need sections 1, 3 and 4; Committee add 5; Seniors need everything.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Swindon's levels today. Ambassadors: open, edit and publish sessions, and remove bookings. Committee: the same, plus free places (comps), taster sessions, guardian contacts, results and the money reports. Seniors: everything. If Ambassadors should add names at the last minute, a Senior can switch that on for them in Admins. Then update this table.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the same way. What appears in the Admin menu depends on each person's level.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code arriving? Check spam or junk, and use the newest code, because they expire quickly. Someone who can't sign in at all probably hasn't been set up as an admin with that email: a Senior adds admins.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only shows what each admin can use, so different people in the room will see different menus. Graded sessions appears too, at clubs that run graded play.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sessions is for Seniors at Swindon today. Ambassadors and Committee can still edit and publish sessions once they exist.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starts at the club's usual price (Club settings); change it for a session that costs something different. Members and non-members can have different prices. A player limit is needed: without one there would be no limit at all. To change any of it later: Edit session details on the session. Locations: Seniors keep the club's venues in Club settings → Venues, each with its full address (it gives players a map link). The session form chooses from that list, so every session at a venue is written the same way and the stats stay together. Add a new venue there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(show members) and opening booking are open to Ambassadors at Swindon, so this slide suits them even if they skip the rest of the section.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date becomes its own session: a change reaches the later ones only when you choose it, and never moves a date or touches who is booked. Booking stays closed on every one until you open it or set when it opens; set that on the first session and choose the later ones too. Calendar shows them all: Open goes to one, Delete removes just that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format is chosen when a session is created, or later with Edit. The courts themselves are built on the session, from the people booked.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the format never touches bookings. Players aren't told when it changes, so mention it if it changes their 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King of the court needs players in multiples of 4. Mexicano and Ladder courts are 4 players each; anyone over sits out a round in turn.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book as normal. The next slides cover putting players in order, the courts it builds, and keeping a pair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the next two slides assume a session set up with the Round-robin format. Court grouping only appears on round-robin sessions. Changing the grouping doesn't reorder the list; it's applied when you press Generate courts.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five on a court, one sits out each game in turn, so everyone plays the same number of games.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Round-robin. Social mixer pairs are on the next slide; in a Custom session, linked pairs are kept together on the court plan. Both players need to be in the line-up before they can be linked.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link pairs or split into court groups, do it before Generate mixer rounds. All the rounds are drawn up at once, so you can print them before play starts. Pairs and court groups are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"every round" to keep them together all session. Linked pairs always land in the same court group.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when courts 1–2 are one standard and 3–4 another, or the courts are in two halls. The group courts must add up to the session's courts, with at least 4 players in each group. Mix everyone together undoes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shows the court plan, with optional groups and linked pairs.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court count you set on the session is saved with it. Groups fill from the top of the list, and linked pairs stay together.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Ambassadors: opening, publishing and the waiting list. Committee: also free places for admins. Seniors: also adding someone and cancelling (Swindon's levels today).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updates the booked list if people are booking as you watch. Remove takes a booking off (Ambassadors can do this).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look at the sessions; players sign in with an emailed code to book. The players' handout covers it step by step. If the club shows sessions before booking opens (Club settings → Booking, set by Seniors), members also see the next few weeks of sessions there as view-only, with when booking opens; they can book each one once it opens.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without enough money in their wallet are skipped, not removed, so remind waiting players to keep topped up. The cut-off is “Waiting list moves up until” in Club settings, Booking.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places for admins are on the next slide. A walk-in who isn't on the system yet needs adding as a player first (section 7).</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admins with a booking login are listed: add them as a member first. Remove takes a free place away (needs the Remove someone permission). Free places show as FREE in the line-up.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when a session can't go ahead (venue, weather). Refunds go to wallets, not back to cards.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 can run the reports. Adjusting someone's balance is for Seniors.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figure next to someone means £0. A minus amount takes money off. Every adjustment shows in the money report with its reason.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payments go straight to the club's own Stripe account. Stripe's own fees are in the club's Stripe payout reports, not here.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Club settings change things for everyone, so they're kept for Seniors. Nothing changes until you press Save club settings.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club settings saves every group, open or closed. The club name has its own Save button; the logo and theme save as you choose them, and Venues has its own Save venues button. Groups left open stay open next time on that device. Venues: + Add a venue, its name and full address, then Save venues; changing a venue does not change sessions already saved.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already made keep their own price when the usual price changes. The waiting list can keep moving after bookings close (for example bookings close 24 hours before, the list moves until 2 hours before), but not stop before them. Someone who cancels after bookings close gets their money back only if a person from the waiting list takes the place. Show sessions before booking opens lets members see sessions they can’t book yet, as view-only; Show sessions up to (Seniors) sets how many weeks ahead, and later sessions appear as the weeks go by.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off people they look after doesn't remove anyone already added. The emergency contact appears in Emergency info on the session, like a member's, and admins booking someone in are never stopped.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data lives here, so it's for Seniors only, and every record opened is logged.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Erase deletes date of birth, contacts, address, health notes and consents, but keeps the name, results, login and payments. A child who has turned 18: Give them their own login, in the same record.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are matched by email, then by name. A row marked Problem says what's wrong and is left out: fix it in the file and upload again. Uploading the same file again updates people rather than adding them twice.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rename a player who already has games: change the email or details instead, and ask twoclear if a name really must change. If the club lets new players join online, they arrive by themselves as non-members.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club contact before presenting. Players have their own two-page handout: putting the club on their phone, and booking a session.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4996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63701"/>
            <a:ext cx="10566400" cy="4381499"/>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4996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63701"/>
            <a:ext cx="10566400" cy="4381499"/>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ebp"/><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ebp"/><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webp"/><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eb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9.webp"/><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0.webp"/><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1.webp"/><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2.webp"/><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3.webp"/><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5.webp"/><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6.webp"/><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webp"/><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8.webp"/><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9.webp"/></Relationships>
</file>

<file path=ppt/slides/_rels/slide25.xml.rels><?xml version="1.0" encoding="UTF-8" standalone="yes"?>
<Relationships xmlns="http://schemas.openxmlformats.org/package/2006/relationships"><Relationship Id="rId3" Type="http://schemas.openxmlformats.org/officeDocument/2006/relationships/image" Target="../media/image20.webp"/><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1.webp"/><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2.webp"/><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3.webp"/><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webp"/><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5.webp"/><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webp"/><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7.webp"/><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8.webp"/><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webp"/><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30.webp"/><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31.webp"/><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97316"/>
                </a:solidFill>
                <a:latin typeface="DM Sans" pitchFamily="34" charset="0"/>
                <a:ea typeface="DM Sans" pitchFamily="34" charset="-122"/>
                <a:cs typeface="DM Sans" pitchFamily="34" charset="-120"/>
              </a:rPr>
              <a:t>ADMIN TRAINING · SWINDON PICKLEBALL CLUB</a:t>
            </a:r>
            <a:endParaRPr lang="en-US" sz="1400" dirty="0"/>
          </a:p>
        </p:txBody>
      </p:sp>
      <p:sp>
        <p:nvSpPr>
          <p:cNvPr id="4" name="Text 2"/>
          <p:cNvSpPr>
            <a:spLocks noGrp="1"/>
          </p:cNvSpPr>
          <p:nvPr>
            <p:ph type="title"/>
          </p:nvPr>
        </p:nvSpPr>
        <p:spPr>
          <a:xfrm>
            <a:off x="812800" y="2127250"/>
            <a:ext cx="10883392" cy="1803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F6F4EF"/>
                </a:solidFill>
                <a:latin typeface="Poppins" pitchFamily="34" charset="0"/>
                <a:ea typeface="Poppins" pitchFamily="34" charset="-122"/>
                <a:cs typeface="Poppins" pitchFamily="34" charset="-120"/>
              </a:rPr>
              <a:t>Running your club</a:t>
            </a:r>
            <a:endParaRPr lang="en-US" sz="7000" dirty="0"/>
          </a:p>
          <a:p>
            <a:pPr marL="0" indent="0" algn="l">
              <a:lnSpc>
                <a:spcPts val="7000"/>
              </a:lnSpc>
              <a:buNone/>
            </a:pPr>
            <a:r>
              <a:rPr lang="en-US" sz="7000" b="1" i="0" dirty="0">
                <a:solidFill>
                  <a:srgbClr val="F6F4EF"/>
                </a:solidFill>
                <a:latin typeface="Poppins" pitchFamily="34" charset="0"/>
                <a:ea typeface="Poppins" pitchFamily="34" charset="-122"/>
                <a:cs typeface="Poppins" pitchFamily="34" charset="-120"/>
              </a:rPr>
              <a:t>on twoclear</a:t>
            </a:r>
            <a:endParaRPr lang="en-US" sz="7000" dirty="0"/>
          </a:p>
        </p:txBody>
      </p:sp>
      <p:sp>
        <p:nvSpPr>
          <p:cNvPr id="5" name="Text 3"/>
          <p:cNvSpPr/>
          <p:nvPr/>
        </p:nvSpPr>
        <p:spPr>
          <a:xfrm>
            <a:off x="812800" y="4108450"/>
            <a:ext cx="78486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2E0"/>
                </a:solidFill>
                <a:latin typeface="DM Sans" pitchFamily="34" charset="0"/>
                <a:ea typeface="DM Sans" pitchFamily="34" charset="-122"/>
                <a:cs typeface="DM Sans" pitchFamily="34" charset="-120"/>
              </a:rPr>
              <a:t>Sessions, bookings, money and members’ details: what each admin needs, step by step.</a:t>
            </a:r>
            <a:endParaRPr lang="en-US" sz="1800" dirty="0"/>
          </a:p>
        </p:txBody>
      </p:sp>
      <p:sp>
        <p:nvSpPr>
          <p:cNvPr id="6" name="Text 4"/>
          <p:cNvSpPr/>
          <p:nvPr/>
        </p:nvSpPr>
        <p:spPr>
          <a:xfrm>
            <a:off x="812800" y="581406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2E0"/>
                </a:solidFill>
                <a:latin typeface="DM Sans" pitchFamily="34" charset="0"/>
                <a:ea typeface="DM Sans" pitchFamily="34" charset="-122"/>
                <a:cs typeface="DM Sans" pitchFamily="34" charset="-120"/>
              </a:rPr>
              <a:t>Pictures are from the demo club. You’ll see your own club’s name, sessions and members.</a:t>
            </a:r>
            <a:endParaRPr lang="en-US" sz="1300" dirty="0"/>
          </a:p>
        </p:txBody>
      </p:sp>
      <p:pic>
        <p:nvPicPr>
          <p:cNvPr id="7" name="Image 0" descr="twoclear"/>
          <p:cNvPicPr>
            <a:picLocks noChangeAspect="1"/>
          </p:cNvPicPr>
          <p:nvPr/>
        </p:nvPicPr>
        <p:blipFill>
          <a:blip r:embed="rId3"/>
          <a:srcRect t="-149" b="-149"/>
          <a:stretch/>
        </p:blipFill>
        <p:spPr>
          <a:xfrm>
            <a:off x="9093200" y="660400"/>
            <a:ext cx="2286000" cy="514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BEFORE WE START</a:t>
            </a:r>
            <a:endParaRPr lang="en-US" sz="1200" dirty="0"/>
          </a:p>
        </p:txBody>
      </p:sp>
      <p:sp>
        <p:nvSpPr>
          <p:cNvPr id="3" name="Text 1"/>
          <p:cNvSpPr>
            <a:spLocks noGrp="1"/>
          </p:cNvSpPr>
          <p:nvPr>
            <p:ph type="title"/>
          </p:nvPr>
        </p:nvSpPr>
        <p:spPr>
          <a:xfrm>
            <a:off x="812800" y="89916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Which sections you need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72260"/>
          <a:ext cx="10556240" cy="3068320"/>
        </p:xfrm>
        <a:graphic>
          <a:graphicData uri="http://schemas.openxmlformats.org/drawingml/2006/table">
            <a:tbl>
              <a:tblPr/>
              <a:tblGrid>
                <a:gridCol w="4222496">
                  <a:extLst>
                    <a:ext uri="{9D8B030D-6E8A-4147-A177-3AD203B41FA5}">
                      <a16:colId xmlns:a16="http://schemas.microsoft.com/office/drawing/2014/main" val="20000"/>
                    </a:ext>
                  </a:extLst>
                </a:gridCol>
                <a:gridCol w="2111248">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6F4EF"/>
                          </a:solidFill>
                          <a:latin typeface="DM Sans" pitchFamily="34" charset="0"/>
                          <a:ea typeface="DM Sans" pitchFamily="34" charset="-122"/>
                          <a:cs typeface="DM Sans" pitchFamily="34" charset="-120"/>
                        </a:rPr>
                        <a:t>Section</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960"/>
                        </a:lnSpc>
                        <a:buNone/>
                      </a:pPr>
                      <a:r>
                        <a:rPr lang="en-US" sz="1400" b="1" dirty="0">
                          <a:solidFill>
                            <a:srgbClr val="F6F4EF"/>
                          </a:solidFill>
                          <a:latin typeface="DM Sans" pitchFamily="34" charset="0"/>
                          <a:ea typeface="DM Sans" pitchFamily="34" charset="-122"/>
                          <a:cs typeface="DM Sans" pitchFamily="34" charset="-120"/>
                        </a:rPr>
                        <a:t>Ambassador</a:t>
                      </a:r>
                      <a:endParaRPr lang="en-US" sz="1400" dirty="0">
                        <a:latin typeface="DM Sans" charset="0"/>
                        <a:ea typeface="DM Sans" charset="0"/>
                        <a:cs typeface="DM Sans" charset="0"/>
                      </a:endParaRPr>
                    </a:p>
                  </a:txBody>
                  <a:tcPr marL="62230" marR="62230" marT="62230" marB="62230">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960"/>
                        </a:lnSpc>
                        <a:buNone/>
                      </a:pPr>
                      <a:r>
                        <a:rPr lang="en-US" sz="1400" b="1" dirty="0">
                          <a:solidFill>
                            <a:srgbClr val="F6F4EF"/>
                          </a:solidFill>
                          <a:latin typeface="DM Sans" pitchFamily="34" charset="0"/>
                          <a:ea typeface="DM Sans" pitchFamily="34" charset="-122"/>
                          <a:cs typeface="DM Sans" pitchFamily="34" charset="-120"/>
                        </a:rPr>
                        <a:t>Committee</a:t>
                      </a:r>
                      <a:endParaRPr lang="en-US" sz="1400" dirty="0">
                        <a:latin typeface="DM Sans" charset="0"/>
                        <a:ea typeface="DM Sans" charset="0"/>
                        <a:cs typeface="DM Sans" charset="0"/>
                      </a:endParaRPr>
                    </a:p>
                  </a:txBody>
                  <a:tcPr marL="62230" marR="62230" marT="62230" marB="62230">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960"/>
                        </a:lnSpc>
                        <a:buNone/>
                      </a:pPr>
                      <a:r>
                        <a:rPr lang="en-US" sz="1400" b="1" dirty="0">
                          <a:solidFill>
                            <a:srgbClr val="F6F4EF"/>
                          </a:solidFill>
                          <a:latin typeface="DM Sans" pitchFamily="34" charset="0"/>
                          <a:ea typeface="DM Sans" pitchFamily="34" charset="-122"/>
                          <a:cs typeface="DM Sans" pitchFamily="34" charset="-120"/>
                        </a:rPr>
                        <a:t>Senior</a:t>
                      </a:r>
                      <a:endParaRPr lang="en-US" sz="1400" dirty="0">
                        <a:latin typeface="DM Sans" charset="0"/>
                        <a:ea typeface="DM Sans" charset="0"/>
                        <a:cs typeface="DM Sans" charset="0"/>
                      </a:endParaRPr>
                    </a:p>
                  </a:txBody>
                  <a:tcPr marL="62230" marR="62230" marT="62230" marB="62230">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1 · Getting started</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2 · Setting up sessions</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3 · Building the courts</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4 · Running the session</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Most of it</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Most of it</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All of it</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5 · Money and reports</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Reports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6 · Club settings</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7 · Members and logins</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4894580"/>
            <a:ext cx="981075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“Most of it”: adding someone and cancelling a session are for Seniors, and free places for admins for Committee and Seniors, at the moment. This follows the club’s current admin levels. Seniors can change what each level can do, in </a:t>
            </a:r>
            <a:r>
              <a:rPr lang="en-US" sz="1300" b="1" dirty="0">
                <a:solidFill>
                  <a:srgbClr val="3D4A5C"/>
                </a:solidFill>
                <a:latin typeface="DM Sans" pitchFamily="34" charset="0"/>
                <a:ea typeface="DM Sans" pitchFamily="34" charset="-122"/>
                <a:cs typeface="DM Sans" pitchFamily="34" charset="-120"/>
              </a:rPr>
              <a:t>Admins</a:t>
            </a:r>
            <a:r>
              <a:rPr lang="en-US" sz="1300" dirty="0">
                <a:solidFill>
                  <a:srgbClr val="3D4A5C"/>
                </a:solidFill>
                <a:latin typeface="DM Sans" pitchFamily="34" charset="0"/>
                <a:ea typeface="DM Sans" pitchFamily="34" charset="-122"/>
                <a:cs typeface="DM Sans" pitchFamily="34" charset="-120"/>
              </a:rPr>
              <a:t>.</a:t>
            </a:r>
            <a:endParaRPr lang="en-US" sz="1300" dirty="0"/>
          </a:p>
        </p:txBody>
      </p:sp>
      <p:sp>
        <p:nvSpPr>
          <p:cNvPr id="6" name="Text 3"/>
          <p:cNvSpPr/>
          <p:nvPr/>
        </p:nvSpPr>
        <p:spPr>
          <a:xfrm>
            <a:off x="812800" y="6238241"/>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Hide the sections your audience doesn’t need</a:t>
            </a:r>
            <a:endParaRPr lang="en-US" sz="1200" dirty="0"/>
          </a:p>
        </p:txBody>
      </p:sp>
      <p:pic>
        <p:nvPicPr>
          <p:cNvPr id="7"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1"/>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1</a:t>
            </a:r>
            <a:endParaRPr lang="en-US" sz="6000" dirty="0"/>
          </a:p>
        </p:txBody>
      </p:sp>
      <p:sp>
        <p:nvSpPr>
          <p:cNvPr id="4" name="Text 2"/>
          <p:cNvSpPr>
            <a:spLocks noGrp="1"/>
          </p:cNvSpPr>
          <p:nvPr>
            <p:ph type="title"/>
          </p:nvPr>
        </p:nvSpPr>
        <p:spPr>
          <a:xfrm>
            <a:off x="812800" y="3070861"/>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Getting started</a:t>
            </a:r>
            <a:endParaRPr lang="en-US" sz="4800" dirty="0"/>
          </a:p>
        </p:txBody>
      </p:sp>
      <p:sp>
        <p:nvSpPr>
          <p:cNvPr id="5" name="Text 3"/>
          <p:cNvSpPr/>
          <p:nvPr/>
        </p:nvSpPr>
        <p:spPr>
          <a:xfrm>
            <a:off x="812800" y="3914141"/>
            <a:ext cx="850265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Signing in, and finding your way round the Admin menu.</a:t>
            </a:r>
            <a:endParaRPr lang="en-US" sz="1700" dirty="0"/>
          </a:p>
        </p:txBody>
      </p:sp>
      <p:sp>
        <p:nvSpPr>
          <p:cNvPr id="6" name="Text 4"/>
          <p:cNvSpPr/>
          <p:nvPr/>
        </p:nvSpPr>
        <p:spPr>
          <a:xfrm>
            <a:off x="812800" y="4419600"/>
            <a:ext cx="1390015"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everyone</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wR="132080" hR="132080" stAng="16200000" swAng="5400000"/>
                <a:lnTo>
                  <a:pt x="893128"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Signing in as an admin</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club site, click </a:t>
            </a:r>
            <a:r>
              <a:rPr lang="en-US" sz="1400" b="1" dirty="0">
                <a:solidFill>
                  <a:srgbClr val="3D4A5C"/>
                </a:solidFill>
                <a:latin typeface="DM Sans" pitchFamily="34" charset="0"/>
                <a:ea typeface="DM Sans" pitchFamily="34" charset="-122"/>
                <a:cs typeface="DM Sans" pitchFamily="34" charset="-120"/>
              </a:rPr>
              <a:t>Club admin sign in</a:t>
            </a:r>
            <a:r>
              <a:rPr lang="en-US" sz="1400" dirty="0">
                <a:solidFill>
                  <a:srgbClr val="3D4A5C"/>
                </a:solidFill>
                <a:latin typeface="DM Sans" pitchFamily="34" charset="0"/>
                <a:ea typeface="DM Sans" pitchFamily="34" charset="-122"/>
                <a:cs typeface="DM Sans" pitchFamily="34" charset="-120"/>
              </a:rPr>
              <a:t> at the bottom of the menu.</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Enter the email the club set you up with, then </a:t>
            </a:r>
            <a:r>
              <a:rPr lang="en-US" sz="1400" b="1" dirty="0">
                <a:solidFill>
                  <a:srgbClr val="3D4A5C"/>
                </a:solidFill>
                <a:latin typeface="DM Sans" pitchFamily="34" charset="0"/>
                <a:ea typeface="DM Sans" pitchFamily="34" charset="-122"/>
                <a:cs typeface="DM Sans" pitchFamily="34" charset="-120"/>
              </a:rPr>
              <a:t>Email me a sign-in code</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Type the code from the email and click </a:t>
            </a:r>
            <a:r>
              <a:rPr lang="en-US" sz="1400" b="1" dirty="0">
                <a:solidFill>
                  <a:srgbClr val="3D4A5C"/>
                </a:solidFill>
                <a:latin typeface="DM Sans" pitchFamily="34" charset="0"/>
                <a:ea typeface="DM Sans" pitchFamily="34" charset="-122"/>
                <a:cs typeface="DM Sans" pitchFamily="34" charset="-120"/>
              </a:rPr>
              <a:t>Verify &amp; sign in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No password.</a:t>
            </a:r>
            <a:r>
              <a:rPr lang="en-US" sz="1200" dirty="0">
                <a:solidFill>
                  <a:srgbClr val="3D4A5C"/>
                </a:solidFill>
                <a:latin typeface="DM Sans" pitchFamily="34" charset="0"/>
                <a:ea typeface="DM Sans" pitchFamily="34" charset="-122"/>
                <a:cs typeface="DM Sans" pitchFamily="34" charset="-120"/>
              </a:rPr>
              <a:t> The Admin section then appears in the menu, showing only what you can do.</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lub site with Club admin sign in ringed at the bottom of the menu"/>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wR="132080" hR="132080" stAng="16200000" swAng="5400000"/>
                <a:lnTo>
                  <a:pt x="893128"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Admin menu</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623060"/>
          <a:ext cx="10556240" cy="2498090"/>
        </p:xfrm>
        <a:graphic>
          <a:graphicData uri="http://schemas.openxmlformats.org/drawingml/2006/table">
            <a:tbl>
              <a:tblPr/>
              <a:tblGrid>
                <a:gridCol w="2533498">
                  <a:extLst>
                    <a:ext uri="{9D8B030D-6E8A-4147-A177-3AD203B41FA5}">
                      <a16:colId xmlns:a16="http://schemas.microsoft.com/office/drawing/2014/main" val="20000"/>
                    </a:ext>
                  </a:extLst>
                </a:gridCol>
                <a:gridCol w="5489245">
                  <a:extLst>
                    <a:ext uri="{9D8B030D-6E8A-4147-A177-3AD203B41FA5}">
                      <a16:colId xmlns:a16="http://schemas.microsoft.com/office/drawing/2014/main" val="20001"/>
                    </a:ext>
                  </a:extLst>
                </a:gridCol>
                <a:gridCol w="2533498">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Menu item</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What it’s for</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Who uses it</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Social sessions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Open, run and publish sessions; create new ones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Everyone (creating: 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Calendar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 session by date: open or change one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Everyone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Players &amp; logins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Players, sign-in access and wallet balances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Reports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Wallet &amp; money, attendance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Committee, Senior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Club settings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Prices, booking rules, joining, the club’s look</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Member records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Members’ details and agreements, importing</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Something missing from your menu? Your level doesn’t include it</a:t>
            </a:r>
            <a:endParaRPr lang="en-US" sz="1200" dirty="0"/>
          </a:p>
        </p:txBody>
      </p:sp>
      <p:pic>
        <p:nvPicPr>
          <p:cNvPr id="7"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1"/>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2</a:t>
            </a:r>
            <a:endParaRPr lang="en-US" sz="6000" dirty="0"/>
          </a:p>
        </p:txBody>
      </p:sp>
      <p:sp>
        <p:nvSpPr>
          <p:cNvPr id="4" name="Text 2"/>
          <p:cNvSpPr>
            <a:spLocks noGrp="1"/>
          </p:cNvSpPr>
          <p:nvPr>
            <p:ph type="title"/>
          </p:nvPr>
        </p:nvSpPr>
        <p:spPr>
          <a:xfrm>
            <a:off x="812800" y="3070861"/>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Setting up sessions</a:t>
            </a:r>
            <a:endParaRPr lang="en-US" sz="4800" dirty="0"/>
          </a:p>
        </p:txBody>
      </p:sp>
      <p:sp>
        <p:nvSpPr>
          <p:cNvPr id="5" name="Text 3"/>
          <p:cNvSpPr/>
          <p:nvPr/>
        </p:nvSpPr>
        <p:spPr>
          <a:xfrm>
            <a:off x="812800" y="3914139"/>
            <a:ext cx="990600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Creating a session, letting members see and book it, and repeating it every week.</a:t>
            </a:r>
            <a:endParaRPr lang="en-US" sz="1700" dirty="0"/>
          </a:p>
        </p:txBody>
      </p:sp>
      <p:sp>
        <p:nvSpPr>
          <p:cNvPr id="6" name="Text 4"/>
          <p:cNvSpPr/>
          <p:nvPr/>
        </p:nvSpPr>
        <p:spPr>
          <a:xfrm>
            <a:off x="812800" y="4419600"/>
            <a:ext cx="1157208"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371169"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SETTING UP SESSIONS</a:t>
            </a:r>
            <a:endParaRPr lang="en-US" sz="1200" dirty="0"/>
          </a:p>
        </p:txBody>
      </p:sp>
      <p:sp>
        <p:nvSpPr>
          <p:cNvPr id="3" name="Text 1"/>
          <p:cNvSpPr/>
          <p:nvPr/>
        </p:nvSpPr>
        <p:spPr>
          <a:xfrm>
            <a:off x="3183969"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Creating a session</a:t>
            </a:r>
            <a:endParaRPr lang="en-US" sz="2800" dirty="0"/>
          </a:p>
        </p:txBody>
      </p:sp>
      <p:sp>
        <p:nvSpPr>
          <p:cNvPr id="5" name="Text 3"/>
          <p:cNvSpPr/>
          <p:nvPr/>
        </p:nvSpPr>
        <p:spPr>
          <a:xfrm>
            <a:off x="875744" y="1612900"/>
            <a:ext cx="3958384" cy="1790700"/>
          </a:xfrm>
          <a:prstGeom prst="rect">
            <a:avLst/>
          </a:prstGeom>
          <a:noFill/>
          <a:ln/>
        </p:spPr>
        <p:txBody>
          <a:bodyPr wrap="square" lIns="0" tIns="0" rIns="0" bIns="0" rtlCol="0" anchor="t">
            <a:normAutofit/>
          </a:bodyPr>
          <a:lstStyle/>
          <a:p>
            <a:pPr marL="191056" indent="-191056"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 New</a:t>
            </a:r>
            <a:r>
              <a:rPr lang="en-US" sz="1400" dirty="0">
                <a:solidFill>
                  <a:srgbClr val="3D4A5C"/>
                </a:solidFill>
                <a:latin typeface="DM Sans" pitchFamily="34" charset="0"/>
                <a:ea typeface="DM Sans" pitchFamily="34" charset="-122"/>
                <a:cs typeface="DM Sans" pitchFamily="34" charset="-120"/>
              </a:rPr>
              <a:t>.</a:t>
            </a:r>
            <a:endParaRPr lang="en-US" sz="1400" dirty="0"/>
          </a:p>
          <a:p>
            <a:pPr marL="191056" indent="-191056"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Name, date, start and end time.</a:t>
            </a:r>
            <a:endParaRPr lang="en-US" sz="1400" dirty="0"/>
          </a:p>
          <a:p>
            <a:pPr marL="191056" indent="-191056"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Location (</a:t>
            </a:r>
            <a:r>
              <a:rPr lang="en-US" sz="1400" b="1" dirty="0">
                <a:solidFill>
                  <a:srgbClr val="3D4A5C"/>
                </a:solidFill>
                <a:latin typeface="DM Sans" pitchFamily="34" charset="0"/>
                <a:ea typeface="DM Sans" pitchFamily="34" charset="-122"/>
                <a:cs typeface="DM Sans" pitchFamily="34" charset="-120"/>
              </a:rPr>
              <a:t>choose the venue from the list</a:t>
            </a:r>
            <a:r>
              <a:rPr lang="en-US" sz="1400" dirty="0">
                <a:solidFill>
                  <a:srgbClr val="3D4A5C"/>
                </a:solidFill>
                <a:latin typeface="DM Sans" pitchFamily="34" charset="0"/>
                <a:ea typeface="DM Sans" pitchFamily="34" charset="-122"/>
                <a:cs typeface="DM Sans" pitchFamily="34" charset="-120"/>
              </a:rPr>
              <a:t>), player limit, courts and price.</a:t>
            </a:r>
            <a:endParaRPr lang="en-US" sz="1400" dirty="0"/>
          </a:p>
          <a:p>
            <a:pPr marL="191056" indent="-191056"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How play is organised, e.g. round-robin.</a:t>
            </a:r>
            <a:endParaRPr lang="en-US" sz="1400" dirty="0"/>
          </a:p>
          <a:p>
            <a:pPr marL="191056" indent="-191056"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536950"/>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Saved, but hidden.</a:t>
            </a:r>
            <a:r>
              <a:rPr lang="en-US" sz="1200" dirty="0">
                <a:solidFill>
                  <a:srgbClr val="3D4A5C"/>
                </a:solidFill>
                <a:latin typeface="DM Sans" pitchFamily="34" charset="0"/>
                <a:ea typeface="DM Sans" pitchFamily="34" charset="-122"/>
                <a:cs typeface="DM Sans" pitchFamily="34" charset="-120"/>
              </a:rPr>
              <a:t> Nobody can see or book it until you open it (next slide). Formats are in section 3.</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new session form, with date and times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371169"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SETTING UP SESSIONS</a:t>
            </a:r>
            <a:endParaRPr lang="en-US" sz="1200" dirty="0"/>
          </a:p>
        </p:txBody>
      </p:sp>
      <p:sp>
        <p:nvSpPr>
          <p:cNvPr id="3" name="Text 1"/>
          <p:cNvSpPr/>
          <p:nvPr/>
        </p:nvSpPr>
        <p:spPr>
          <a:xfrm>
            <a:off x="3183969"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Letting members see and book it</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it appears on the Social page.</a:t>
            </a:r>
            <a:endParaRPr lang="en-US" sz="1400" dirty="0"/>
          </a:p>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members can book in the app.</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Or let booking open by itself a set number of days before.</a:t>
            </a:r>
            <a:endParaRPr lang="en-US" sz="1400" dirty="0"/>
          </a:p>
        </p:txBody>
      </p:sp>
      <p:sp>
        <p:nvSpPr>
          <p:cNvPr id="6" name="Text 4"/>
          <p:cNvSpPr/>
          <p:nvPr/>
        </p:nvSpPr>
        <p:spPr>
          <a:xfrm>
            <a:off x="819150" y="3265171"/>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Members first?</a:t>
            </a:r>
            <a:r>
              <a:rPr lang="en-US" sz="1200" dirty="0">
                <a:solidFill>
                  <a:srgbClr val="3D4A5C"/>
                </a:solidFill>
                <a:latin typeface="DM Sans" pitchFamily="34" charset="0"/>
                <a:ea typeface="DM Sans" pitchFamily="34" charset="-122"/>
                <a:cs typeface="DM Sans" pitchFamily="34" charset="-120"/>
              </a:rPr>
              <a:t> Non-members can be made to wait a few hours after booking opens (Club settings).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session builder with Open for booking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371169"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SETTING UP SESSIONS</a:t>
            </a:r>
            <a:endParaRPr lang="en-US" sz="1200" dirty="0"/>
          </a:p>
        </p:txBody>
      </p:sp>
      <p:sp>
        <p:nvSpPr>
          <p:cNvPr id="3" name="Text 1"/>
          <p:cNvSpPr/>
          <p:nvPr/>
        </p:nvSpPr>
        <p:spPr>
          <a:xfrm>
            <a:off x="3183969"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Repeating every week</a:t>
            </a:r>
            <a:endParaRPr lang="en-US" sz="2800" dirty="0"/>
          </a:p>
        </p:txBody>
      </p:sp>
      <p:sp>
        <p:nvSpPr>
          <p:cNvPr id="5" name="Text 3"/>
          <p:cNvSpPr/>
          <p:nvPr/>
        </p:nvSpPr>
        <p:spPr>
          <a:xfrm>
            <a:off x="879157" y="1612900"/>
            <a:ext cx="3954971" cy="12827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Set it up as normal, then tick </a:t>
            </a:r>
            <a:r>
              <a:rPr lang="en-US" sz="1400" b="1" dirty="0">
                <a:solidFill>
                  <a:srgbClr val="3D4A5C"/>
                </a:solidFill>
                <a:latin typeface="DM Sans" pitchFamily="34" charset="0"/>
                <a:ea typeface="DM Sans" pitchFamily="34" charset="-122"/>
                <a:cs typeface="DM Sans" pitchFamily="34" charset="-120"/>
              </a:rPr>
              <a:t>Repeat this session</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Every week</a:t>
            </a:r>
            <a:r>
              <a:rPr lang="en-US" sz="1400" dirty="0">
                <a:solidFill>
                  <a:srgbClr val="3D4A5C"/>
                </a:solidFill>
                <a:latin typeface="DM Sans" pitchFamily="34" charset="0"/>
                <a:ea typeface="DM Sans" pitchFamily="34" charset="-122"/>
                <a:cs typeface="DM Sans" pitchFamily="34" charset="-120"/>
              </a:rPr>
              <a:t> or </a:t>
            </a:r>
            <a:r>
              <a:rPr lang="en-US" sz="1400" b="1" dirty="0">
                <a:solidFill>
                  <a:srgbClr val="3D4A5C"/>
                </a:solidFill>
                <a:latin typeface="DM Sans" pitchFamily="34" charset="0"/>
                <a:ea typeface="DM Sans" pitchFamily="34" charset="-122"/>
                <a:cs typeface="DM Sans" pitchFamily="34" charset="-120"/>
              </a:rPr>
              <a:t>every 2 weeks</a:t>
            </a:r>
            <a:r>
              <a:rPr lang="en-US" sz="1400" dirty="0">
                <a:solidFill>
                  <a:srgbClr val="3D4A5C"/>
                </a:solidFill>
                <a:latin typeface="DM Sans" pitchFamily="34" charset="0"/>
                <a:ea typeface="DM Sans" pitchFamily="34" charset="-122"/>
                <a:cs typeface="DM Sans" pitchFamily="34" charset="-120"/>
              </a:rPr>
              <a:t>, and a last date.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Check the dates, then </a:t>
            </a: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028950"/>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Changing the run:</a:t>
            </a:r>
            <a:r>
              <a:rPr lang="en-US" sz="1200" dirty="0">
                <a:solidFill>
                  <a:srgbClr val="3D4A5C"/>
                </a:solidFill>
                <a:latin typeface="DM Sans" pitchFamily="34" charset="0"/>
                <a:ea typeface="DM Sans" pitchFamily="34" charset="-122"/>
                <a:cs typeface="DM Sans" pitchFamily="34" charset="-120"/>
              </a:rPr>
              <a:t> on a session, </a:t>
            </a:r>
            <a:r>
              <a:rPr lang="en-US" sz="1200" b="1" dirty="0">
                <a:solidFill>
                  <a:srgbClr val="3D4A5C"/>
                </a:solidFill>
                <a:latin typeface="DM Sans" pitchFamily="34" charset="0"/>
                <a:ea typeface="DM Sans" pitchFamily="34" charset="-122"/>
                <a:cs typeface="DM Sans" pitchFamily="34" charset="-120"/>
              </a:rPr>
              <a:t>Edit session details</a:t>
            </a:r>
            <a:r>
              <a:rPr lang="en-US" sz="1200" dirty="0">
                <a:solidFill>
                  <a:srgbClr val="3D4A5C"/>
                </a:solidFill>
                <a:latin typeface="DM Sans" pitchFamily="34" charset="0"/>
                <a:ea typeface="DM Sans" pitchFamily="34" charset="-122"/>
                <a:cs typeface="DM Sans" pitchFamily="34" charset="-120"/>
              </a:rPr>
              <a:t> → </a:t>
            </a:r>
            <a:r>
              <a:rPr lang="en-US" sz="1200" b="1" dirty="0">
                <a:solidFill>
                  <a:srgbClr val="3D4A5C"/>
                </a:solidFill>
                <a:latin typeface="DM Sans" pitchFamily="34" charset="0"/>
                <a:ea typeface="DM Sans" pitchFamily="34" charset="-122"/>
                <a:cs typeface="DM Sans" pitchFamily="34" charset="-120"/>
              </a:rPr>
              <a:t>Save changes</a:t>
            </a:r>
            <a:r>
              <a:rPr lang="en-US" sz="1200" dirty="0">
                <a:solidFill>
                  <a:srgbClr val="3D4A5C"/>
                </a:solidFill>
                <a:latin typeface="DM Sans" pitchFamily="34" charset="0"/>
                <a:ea typeface="DM Sans" pitchFamily="34" charset="-122"/>
                <a:cs typeface="DM Sans" pitchFamily="34" charset="-120"/>
              </a:rPr>
              <a:t>, then choose </a:t>
            </a:r>
            <a:r>
              <a:rPr lang="en-US" sz="1200" b="1" dirty="0">
                <a:solidFill>
                  <a:srgbClr val="3D4A5C"/>
                </a:solidFill>
                <a:latin typeface="DM Sans" pitchFamily="34" charset="0"/>
                <a:ea typeface="DM Sans" pitchFamily="34" charset="-122"/>
                <a:cs typeface="DM Sans" pitchFamily="34" charset="-120"/>
              </a:rPr>
              <a:t>This session and the later ones</a:t>
            </a:r>
            <a:r>
              <a:rPr lang="en-US" sz="1200" dirty="0">
                <a:solidFill>
                  <a:srgbClr val="3D4A5C"/>
                </a:solidFill>
                <a:latin typeface="DM Sans" pitchFamily="34" charset="0"/>
                <a:ea typeface="DM Sans" pitchFamily="34" charset="-122"/>
                <a:cs typeface="DM Sans" pitchFamily="34" charset="-120"/>
              </a:rPr>
              <a:t> or </a:t>
            </a:r>
            <a:r>
              <a:rPr lang="en-US" sz="1200" b="1" dirty="0">
                <a:solidFill>
                  <a:srgbClr val="3D4A5C"/>
                </a:solidFill>
                <a:latin typeface="DM Sans" pitchFamily="34" charset="0"/>
                <a:ea typeface="DM Sans" pitchFamily="34" charset="-122"/>
                <a:cs typeface="DM Sans" pitchFamily="34" charset="-120"/>
              </a:rPr>
              <a:t>This session only</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Repeat options: every week, every 2 weeks and Repeat until,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29"/>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3</a:t>
            </a:r>
            <a:endParaRPr lang="en-US" sz="6000" dirty="0"/>
          </a:p>
        </p:txBody>
      </p:sp>
      <p:sp>
        <p:nvSpPr>
          <p:cNvPr id="4" name="Text 2"/>
          <p:cNvSpPr>
            <a:spLocks noGrp="1"/>
          </p:cNvSpPr>
          <p:nvPr>
            <p:ph type="title"/>
          </p:nvPr>
        </p:nvSpPr>
        <p:spPr>
          <a:xfrm>
            <a:off x="812800" y="2919729"/>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Building the courts</a:t>
            </a:r>
            <a:endParaRPr lang="en-US" sz="4800" dirty="0"/>
          </a:p>
        </p:txBody>
      </p:sp>
      <p:sp>
        <p:nvSpPr>
          <p:cNvPr id="5" name="Text 3"/>
          <p:cNvSpPr/>
          <p:nvPr/>
        </p:nvSpPr>
        <p:spPr>
          <a:xfrm>
            <a:off x="812800" y="3763014"/>
            <a:ext cx="850265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Choosing a format, the order players go on court, linking partners, splitting courts into groups, and Custom sessions.</a:t>
            </a:r>
            <a:endParaRPr lang="en-US" sz="1700" dirty="0"/>
          </a:p>
        </p:txBody>
      </p:sp>
      <p:sp>
        <p:nvSpPr>
          <p:cNvPr id="6" name="Text 4"/>
          <p:cNvSpPr/>
          <p:nvPr/>
        </p:nvSpPr>
        <p:spPr>
          <a:xfrm>
            <a:off x="812800" y="4570729"/>
            <a:ext cx="3340021"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Ambassador · Committee · Senior</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Choosing a format</a:t>
            </a:r>
            <a:endParaRPr lang="en-US" sz="2800" dirty="0"/>
          </a:p>
        </p:txBody>
      </p:sp>
      <p:sp>
        <p:nvSpPr>
          <p:cNvPr id="5" name="Text 3"/>
          <p:cNvSpPr/>
          <p:nvPr/>
        </p:nvSpPr>
        <p:spPr>
          <a:xfrm>
            <a:off x="879157" y="1612900"/>
            <a:ext cx="3954971" cy="179324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In </a:t>
            </a:r>
            <a:r>
              <a:rPr lang="en-US" sz="1400" b="1" dirty="0">
                <a:solidFill>
                  <a:srgbClr val="3D4A5C"/>
                </a:solidFill>
                <a:latin typeface="DM Sans" pitchFamily="34" charset="0"/>
                <a:ea typeface="DM Sans" pitchFamily="34" charset="-122"/>
                <a:cs typeface="DM Sans" pitchFamily="34" charset="-120"/>
              </a:rPr>
              <a:t>+ New</a:t>
            </a:r>
            <a:r>
              <a:rPr lang="en-US" sz="1400" dirty="0">
                <a:solidFill>
                  <a:srgbClr val="3D4A5C"/>
                </a:solidFill>
                <a:latin typeface="DM Sans" pitchFamily="34" charset="0"/>
                <a:ea typeface="DM Sans" pitchFamily="34" charset="-122"/>
                <a:cs typeface="DM Sans" pitchFamily="34" charset="-120"/>
              </a:rPr>
              <a:t>, or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 on a session, pick the </a:t>
            </a:r>
            <a:r>
              <a:rPr lang="en-US" sz="1400" b="1" dirty="0">
                <a:solidFill>
                  <a:srgbClr val="3D4A5C"/>
                </a:solidFill>
                <a:latin typeface="DM Sans" pitchFamily="34" charset="0"/>
                <a:ea typeface="DM Sans" pitchFamily="34" charset="-122"/>
                <a:cs typeface="DM Sans" pitchFamily="34" charset="-120"/>
              </a:rPr>
              <a:t>Format</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Tap the </a:t>
            </a:r>
            <a:r>
              <a:rPr lang="en-US" sz="1400" b="1" dirty="0">
                <a:solidFill>
                  <a:srgbClr val="3D4A5C"/>
                </a:solidFill>
                <a:latin typeface="DM Sans" pitchFamily="34" charset="0"/>
                <a:ea typeface="DM Sans" pitchFamily="34" charset="-122"/>
                <a:cs typeface="DM Sans" pitchFamily="34" charset="-120"/>
              </a:rPr>
              <a:t>i</a:t>
            </a:r>
            <a:r>
              <a:rPr lang="en-US" sz="1400" dirty="0">
                <a:solidFill>
                  <a:srgbClr val="3D4A5C"/>
                </a:solidFill>
                <a:latin typeface="DM Sans" pitchFamily="34" charset="0"/>
                <a:ea typeface="DM Sans" pitchFamily="34" charset="-122"/>
                <a:cs typeface="DM Sans" pitchFamily="34" charset="-120"/>
              </a:rPr>
              <a:t> beside Format for a reminder of each one.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King of the court, Ladder and Mexicano need scores, so </a:t>
            </a: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switches on by itself.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has no games or scores.</a:t>
            </a:r>
            <a:endParaRPr lang="en-US" sz="1400" dirty="0"/>
          </a:p>
        </p:txBody>
      </p:sp>
      <p:sp>
        <p:nvSpPr>
          <p:cNvPr id="6" name="Text 4"/>
          <p:cNvSpPr/>
          <p:nvPr/>
        </p:nvSpPr>
        <p:spPr>
          <a:xfrm>
            <a:off x="819150" y="3539492"/>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Change of plan?</a:t>
            </a:r>
            <a:r>
              <a:rPr lang="en-US" sz="1200" dirty="0">
                <a:solidFill>
                  <a:srgbClr val="3D4A5C"/>
                </a:solidFill>
                <a:latin typeface="DM Sans" pitchFamily="34" charset="0"/>
                <a:ea typeface="DM Sans" pitchFamily="34" charset="-122"/>
                <a:cs typeface="DM Sans" pitchFamily="34" charset="-120"/>
              </a:rPr>
              <a:t> Use Edit session details to change the format, any time before the courts are built or round 1 starts.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Format choices on a new session, with the explanation of each format open"/>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What each format does to the courts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623060"/>
          <a:ext cx="10556240" cy="3191510"/>
        </p:xfrm>
        <a:graphic>
          <a:graphicData uri="http://schemas.openxmlformats.org/drawingml/2006/table">
            <a:tbl>
              <a:tblPr/>
              <a:tblGrid>
                <a:gridCol w="2111248">
                  <a:extLst>
                    <a:ext uri="{9D8B030D-6E8A-4147-A177-3AD203B41FA5}">
                      <a16:colId xmlns:a16="http://schemas.microsoft.com/office/drawing/2014/main" val="20000"/>
                    </a:ext>
                  </a:extLst>
                </a:gridCol>
                <a:gridCol w="6333744">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Format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How the courts are built</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Scores</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Round-robin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Same court all session. Everyone on it partners and plays everyone on it. All built at once.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Your choice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Social mixer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New courts every round, so people meet as many others as possible. All rounds built at once.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Your choice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King of the court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Winners move up a court, losers move down.</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Ladder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Players climb or slide as they win or lose.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Mexicano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Re-paired by running points so games stay close.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Custom</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 games drawn up: it just books the courts. Optional groups and pairs on a printed court plan.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5068571"/>
            <a:ext cx="981075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Round-robin and Social mixer: </a:t>
            </a:r>
            <a:r>
              <a:rPr lang="en-US" sz="1300" b="1" dirty="0">
                <a:solidFill>
                  <a:srgbClr val="3D4A5C"/>
                </a:solidFill>
                <a:latin typeface="DM Sans" pitchFamily="34" charset="0"/>
                <a:ea typeface="DM Sans" pitchFamily="34" charset="-122"/>
                <a:cs typeface="DM Sans" pitchFamily="34" charset="-120"/>
              </a:rPr>
              <a:t>Generate</a:t>
            </a:r>
            <a:r>
              <a:rPr lang="en-US" sz="1300" dirty="0">
                <a:solidFill>
                  <a:srgbClr val="3D4A5C"/>
                </a:solidFill>
                <a:latin typeface="DM Sans" pitchFamily="34" charset="0"/>
                <a:ea typeface="DM Sans" pitchFamily="34" charset="-122"/>
                <a:cs typeface="DM Sans" pitchFamily="34" charset="-120"/>
              </a:rPr>
              <a:t> builds the whole session. King, Ladder and Mexicano: </a:t>
            </a:r>
            <a:r>
              <a:rPr lang="en-US" sz="1300" b="1" dirty="0">
                <a:solidFill>
                  <a:srgbClr val="3D4A5C"/>
                </a:solidFill>
                <a:latin typeface="DM Sans" pitchFamily="34" charset="0"/>
                <a:ea typeface="DM Sans" pitchFamily="34" charset="-122"/>
                <a:cs typeface="DM Sans" pitchFamily="34" charset="-120"/>
              </a:rPr>
              <a:t>Start round 1</a:t>
            </a:r>
            <a:r>
              <a:rPr lang="en-US" sz="1300" dirty="0">
                <a:solidFill>
                  <a:srgbClr val="3D4A5C"/>
                </a:solidFill>
                <a:latin typeface="DM Sans" pitchFamily="34" charset="0"/>
                <a:ea typeface="DM Sans" pitchFamily="34" charset="-122"/>
                <a:cs typeface="DM Sans" pitchFamily="34" charset="-120"/>
              </a:rPr>
              <a:t>, enter the scores, then generate the next. Custom: nothing to generate.</a:t>
            </a:r>
            <a:endParaRPr lang="en-US" sz="1300" dirty="0"/>
          </a:p>
        </p:txBody>
      </p:sp>
      <p:sp>
        <p:nvSpPr>
          <p:cNvPr id="7" name="Text 4"/>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8"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Setting up a round-robin</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 New</a:t>
            </a:r>
            <a:r>
              <a:rPr lang="en-US" sz="1400" dirty="0">
                <a:solidFill>
                  <a:srgbClr val="3D4A5C"/>
                </a:solidFill>
                <a:latin typeface="DM Sans" pitchFamily="34" charset="0"/>
                <a:ea typeface="DM Sans" pitchFamily="34" charset="-122"/>
                <a:cs typeface="DM Sans" pitchFamily="34" charset="-120"/>
              </a:rPr>
              <a:t>. Fill in the details, then choose </a:t>
            </a:r>
            <a:r>
              <a:rPr lang="en-US" sz="1400" b="1" dirty="0">
                <a:solidFill>
                  <a:srgbClr val="3D4A5C"/>
                </a:solidFill>
                <a:latin typeface="DM Sans" pitchFamily="34" charset="0"/>
                <a:ea typeface="DM Sans" pitchFamily="34" charset="-122"/>
                <a:cs typeface="DM Sans" pitchFamily="34" charset="-120"/>
              </a:rPr>
              <a:t>Round-robin</a:t>
            </a:r>
            <a:r>
              <a:rPr lang="en-US" sz="1400" dirty="0">
                <a:solidFill>
                  <a:srgbClr val="3D4A5C"/>
                </a:solidFill>
                <a:latin typeface="DM Sans" pitchFamily="34" charset="0"/>
                <a:ea typeface="DM Sans" pitchFamily="34" charset="-122"/>
                <a:cs typeface="DM Sans" pitchFamily="34" charset="-120"/>
              </a:rPr>
              <a:t> under </a:t>
            </a:r>
            <a:r>
              <a:rPr lang="en-US" sz="1400" b="1" dirty="0">
                <a:solidFill>
                  <a:srgbClr val="3D4A5C"/>
                </a:solidFill>
                <a:latin typeface="DM Sans" pitchFamily="34" charset="0"/>
                <a:ea typeface="DM Sans" pitchFamily="34" charset="-122"/>
                <a:cs typeface="DM Sans" pitchFamily="34" charset="-120"/>
              </a:rPr>
              <a:t>Format</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Pick a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a:t>
            </a:r>
            <a:r>
              <a:rPr lang="en-US" sz="1400" b="1" dirty="0">
                <a:solidFill>
                  <a:srgbClr val="3D4A5C"/>
                </a:solidFill>
                <a:latin typeface="DM Sans" pitchFamily="34" charset="0"/>
                <a:ea typeface="DM Sans" pitchFamily="34" charset="-122"/>
                <a:cs typeface="DM Sans" pitchFamily="34" charset="-120"/>
              </a:rPr>
              <a:t>Use my order</a:t>
            </a:r>
            <a:r>
              <a:rPr lang="en-US" sz="1400" dirty="0">
                <a:solidFill>
                  <a:srgbClr val="3D4A5C"/>
                </a:solidFill>
                <a:latin typeface="DM Sans" pitchFamily="34" charset="0"/>
                <a:ea typeface="DM Sans" pitchFamily="34" charset="-122"/>
                <a:cs typeface="DM Sans" pitchFamily="34" charset="-120"/>
              </a:rPr>
              <a:t> lets you place players yourself.</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on for a results table, off to just print slips.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514092"/>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On the day:</a:t>
            </a:r>
            <a:r>
              <a:rPr lang="en-US" sz="1200" dirty="0">
                <a:solidFill>
                  <a:srgbClr val="3D4A5C"/>
                </a:solidFill>
                <a:latin typeface="DM Sans" pitchFamily="34" charset="0"/>
                <a:ea typeface="DM Sans" pitchFamily="34" charset="-122"/>
                <a:cs typeface="DM Sans" pitchFamily="34" charset="-120"/>
              </a:rPr>
              <a:t> open the session, choose </a:t>
            </a:r>
            <a:r>
              <a:rPr lang="en-US" sz="1200" b="1" dirty="0">
                <a:solidFill>
                  <a:srgbClr val="3D4A5C"/>
                </a:solidFill>
                <a:latin typeface="DM Sans" pitchFamily="34" charset="0"/>
                <a:ea typeface="DM Sans" pitchFamily="34" charset="-122"/>
                <a:cs typeface="DM Sans" pitchFamily="34" charset="-120"/>
              </a:rPr>
              <a:t>Games per court</a:t>
            </a:r>
            <a:r>
              <a:rPr lang="en-US" sz="1200" dirty="0">
                <a:solidFill>
                  <a:srgbClr val="3D4A5C"/>
                </a:solidFill>
                <a:latin typeface="DM Sans" pitchFamily="34" charset="0"/>
                <a:ea typeface="DM Sans" pitchFamily="34" charset="-122"/>
                <a:cs typeface="DM Sans" pitchFamily="34" charset="-120"/>
              </a:rPr>
              <a:t>, then </a:t>
            </a:r>
            <a:r>
              <a:rPr lang="en-US" sz="1200" b="1" dirty="0">
                <a:solidFill>
                  <a:srgbClr val="3D4A5C"/>
                </a:solidFill>
                <a:latin typeface="DM Sans" pitchFamily="34" charset="0"/>
                <a:ea typeface="DM Sans" pitchFamily="34" charset="-122"/>
                <a:cs typeface="DM Sans" pitchFamily="34" charset="-120"/>
              </a:rPr>
              <a:t>Generate courts</a:t>
            </a:r>
            <a:r>
              <a:rPr lang="en-US" sz="1200" dirty="0">
                <a:solidFill>
                  <a:srgbClr val="3D4A5C"/>
                </a:solidFill>
                <a:latin typeface="DM Sans" pitchFamily="34" charset="0"/>
                <a:ea typeface="DM Sans" pitchFamily="34" charset="-122"/>
                <a:cs typeface="DM Sans" pitchFamily="34" charset="-120"/>
              </a:rPr>
              <a:t>. Each court plays everyone on it.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new session form with Round-robin chosen under Format, ringed, and Court grouping below"/>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Who goes on which court (round-robin)</a:t>
            </a:r>
            <a:endParaRPr lang="en-US" sz="2800" dirty="0"/>
          </a:p>
        </p:txBody>
      </p:sp>
      <p:sp>
        <p:nvSpPr>
          <p:cNvPr id="5" name="Text 3"/>
          <p:cNvSpPr/>
          <p:nvPr/>
        </p:nvSpPr>
        <p:spPr>
          <a:xfrm>
            <a:off x="876300" y="1612900"/>
            <a:ext cx="3957828" cy="201676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your </a:t>
            </a:r>
            <a:r>
              <a:rPr lang="en-US" sz="1400" b="1" dirty="0">
                <a:solidFill>
                  <a:srgbClr val="3D4A5C"/>
                </a:solidFill>
                <a:latin typeface="DM Sans" pitchFamily="34" charset="0"/>
                <a:ea typeface="DM Sans" pitchFamily="34" charset="-122"/>
                <a:cs typeface="DM Sans" pitchFamily="34" charset="-120"/>
              </a:rPr>
              <a:t>round-robin</a:t>
            </a:r>
            <a:r>
              <a:rPr lang="en-US" sz="1400" dirty="0">
                <a:solidFill>
                  <a:srgbClr val="3D4A5C"/>
                </a:solidFill>
                <a:latin typeface="DM Sans" pitchFamily="34" charset="0"/>
                <a:ea typeface="DM Sans" pitchFamily="34" charset="-122"/>
                <a:cs typeface="DM Sans" pitchFamily="34" charset="-120"/>
              </a:rPr>
              <a:t> session. Under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choose </a:t>
            </a:r>
            <a:r>
              <a:rPr lang="en-US" sz="1400" b="1" dirty="0">
                <a:solidFill>
                  <a:srgbClr val="3D4A5C"/>
                </a:solidFill>
                <a:latin typeface="DM Sans" pitchFamily="34" charset="0"/>
                <a:ea typeface="DM Sans" pitchFamily="34" charset="-122"/>
                <a:cs typeface="DM Sans" pitchFamily="34" charset="-120"/>
              </a:rPr>
              <a:t>Use my order</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 </a:t>
            </a:r>
            <a:r>
              <a:rPr lang="en-US" sz="1400" b="1" dirty="0">
                <a:solidFill>
                  <a:srgbClr val="3D4A5C"/>
                </a:solidFill>
                <a:latin typeface="DM Sans" pitchFamily="34" charset="0"/>
                <a:ea typeface="DM Sans" pitchFamily="34" charset="-122"/>
                <a:cs typeface="DM Sans" pitchFamily="34" charset="-120"/>
              </a:rPr>
              <a:t>Seed order</a:t>
            </a:r>
            <a:r>
              <a:rPr lang="en-US" sz="1400" dirty="0">
                <a:solidFill>
                  <a:srgbClr val="3D4A5C"/>
                </a:solidFill>
                <a:latin typeface="DM Sans" pitchFamily="34" charset="0"/>
                <a:ea typeface="DM Sans" pitchFamily="34" charset="-122"/>
                <a:cs typeface="DM Sans" pitchFamily="34" charset="-120"/>
              </a:rPr>
              <a:t> list is the order players are placed: the top four on Court 1, the next four on Court 2, and so 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Move people with </a:t>
            </a:r>
            <a:r>
              <a:rPr lang="en-US" sz="1400" b="1" dirty="0">
                <a:solidFill>
                  <a:srgbClr val="3D4A5C"/>
                </a:solidFill>
                <a:latin typeface="DM Sans" pitchFamily="34" charset="0"/>
                <a:ea typeface="DM Sans" pitchFamily="34" charset="-122"/>
                <a:cs typeface="DM Sans" pitchFamily="34" charset="-120"/>
              </a:rPr>
              <a:t>▲▼</a:t>
            </a:r>
            <a:r>
              <a:rPr lang="en-US" sz="1400" dirty="0">
                <a:solidFill>
                  <a:srgbClr val="3D4A5C"/>
                </a:solidFill>
                <a:latin typeface="DM Sans" pitchFamily="34" charset="0"/>
                <a:ea typeface="DM Sans" pitchFamily="34" charset="-122"/>
                <a:cs typeface="DM Sans" pitchFamily="34" charset="-120"/>
              </a:rPr>
              <a:t> or drag them. </a:t>
            </a:r>
            <a:r>
              <a:rPr lang="en-US" sz="1400" b="1" dirty="0">
                <a:solidFill>
                  <a:srgbClr val="3D4A5C"/>
                </a:solidFill>
                <a:latin typeface="DM Sans" pitchFamily="34" charset="0"/>
                <a:ea typeface="DM Sans" pitchFamily="34" charset="-122"/>
                <a:cs typeface="DM Sans" pitchFamily="34" charset="-120"/>
              </a:rPr>
              <a:t>✨ Auto-seed</a:t>
            </a:r>
            <a:r>
              <a:rPr lang="en-US" sz="1400" dirty="0">
                <a:solidFill>
                  <a:srgbClr val="3D4A5C"/>
                </a:solidFill>
                <a:latin typeface="DM Sans" pitchFamily="34" charset="0"/>
                <a:ea typeface="DM Sans" pitchFamily="34" charset="-122"/>
                <a:cs typeface="DM Sans" pitchFamily="34" charset="-120"/>
              </a:rPr>
              <a:t> puts the strongest first.</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763014"/>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Let it decide instead:</a:t>
            </a:r>
            <a:r>
              <a:rPr lang="en-US" sz="1200" dirty="0">
                <a:solidFill>
                  <a:srgbClr val="3D4A5C"/>
                </a:solidFill>
                <a:latin typeface="DM Sans" pitchFamily="34" charset="0"/>
                <a:ea typeface="DM Sans" pitchFamily="34" charset="-122"/>
                <a:cs typeface="DM Sans" pitchFamily="34" charset="-120"/>
              </a:rPr>
              <a:t> Balanced, Mixed doubles, Protect newcomers and Random draw arrange the courts for you when you generate.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ourt grouping on a round-robin session, with Use my order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courts it builds (round-robin)</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Court 1 takes the first four in the list, Court 2 the next four.</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Each court shows its games in order, with who sits out.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Changed the list? Generate again.</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Print</a:t>
            </a:r>
            <a:r>
              <a:rPr lang="en-US" sz="1200" dirty="0">
                <a:solidFill>
                  <a:srgbClr val="3D4A5C"/>
                </a:solidFill>
                <a:latin typeface="DM Sans" pitchFamily="34" charset="0"/>
                <a:ea typeface="DM Sans" pitchFamily="34" charset="-122"/>
                <a:cs typeface="DM Sans" pitchFamily="34" charset="-120"/>
              </a:rPr>
              <a:t> the court slips for the session, or enter scores as games finish.</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Generated round-robin courts, with Court 1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Keeping a pair together (round-robin)</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choose </a:t>
            </a:r>
            <a:r>
              <a:rPr lang="en-US" sz="1400" b="1" dirty="0">
                <a:solidFill>
                  <a:srgbClr val="3D4A5C"/>
                </a:solidFill>
                <a:latin typeface="DM Sans" pitchFamily="34" charset="0"/>
                <a:ea typeface="DM Sans" pitchFamily="34" charset="-122"/>
                <a:cs typeface="DM Sans" pitchFamily="34" charset="-120"/>
              </a:rPr>
              <a:t>Keep pairs together</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Locked pairs</a:t>
            </a:r>
            <a:r>
              <a:rPr lang="en-US" sz="1400" dirty="0">
                <a:solidFill>
                  <a:srgbClr val="3D4A5C"/>
                </a:solidFill>
                <a:latin typeface="DM Sans" pitchFamily="34" charset="0"/>
                <a:ea typeface="DM Sans" pitchFamily="34" charset="-122"/>
                <a:cs typeface="DM Sans" pitchFamily="34" charset="-120"/>
              </a:rPr>
              <a:t>, pick a player and their partner.</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Link</a:t>
            </a:r>
            <a:r>
              <a:rPr lang="en-US" sz="1400" dirty="0">
                <a:solidFill>
                  <a:srgbClr val="3D4A5C"/>
                </a:solidFill>
                <a:latin typeface="DM Sans" pitchFamily="34" charset="0"/>
                <a:ea typeface="DM Sans" pitchFamily="34" charset="-122"/>
                <a:cs typeface="DM Sans" pitchFamily="34" charset="-120"/>
              </a:rPr>
              <a:t>. Add as many pairs as you need.</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7"/>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Linked pairs</a:t>
            </a:r>
            <a:r>
              <a:rPr lang="en-US" sz="1200" dirty="0">
                <a:solidFill>
                  <a:srgbClr val="3D4A5C"/>
                </a:solidFill>
                <a:latin typeface="DM Sans" pitchFamily="34" charset="0"/>
                <a:ea typeface="DM Sans" pitchFamily="34" charset="-122"/>
                <a:cs typeface="DM Sans" pitchFamily="34" charset="-120"/>
              </a:rPr>
              <a:t> always play as a team and stay on the same court all session. Click the × on a pair to unlink it.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Locked pairs: a player and their partner chosen, with Link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Setting up a Social mixer</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 New</a:t>
            </a:r>
            <a:r>
              <a:rPr lang="en-US" sz="1400" dirty="0">
                <a:solidFill>
                  <a:srgbClr val="3D4A5C"/>
                </a:solidFill>
                <a:latin typeface="DM Sans" pitchFamily="34" charset="0"/>
                <a:ea typeface="DM Sans" pitchFamily="34" charset="-122"/>
                <a:cs typeface="DM Sans" pitchFamily="34" charset="-120"/>
              </a:rPr>
              <a:t>. Fill in the details, then choose </a:t>
            </a:r>
            <a:r>
              <a:rPr lang="en-US" sz="1400" b="1" dirty="0">
                <a:solidFill>
                  <a:srgbClr val="3D4A5C"/>
                </a:solidFill>
                <a:latin typeface="DM Sans" pitchFamily="34" charset="0"/>
                <a:ea typeface="DM Sans" pitchFamily="34" charset="-122"/>
                <a:cs typeface="DM Sans" pitchFamily="34" charset="-120"/>
              </a:rPr>
              <a:t>Social mixer</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on for a results table, off to just print the rounds.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day, open it, choose the </a:t>
            </a:r>
            <a:r>
              <a:rPr lang="en-US" sz="1400" b="1" dirty="0">
                <a:solidFill>
                  <a:srgbClr val="3D4A5C"/>
                </a:solidFill>
                <a:latin typeface="DM Sans" pitchFamily="34" charset="0"/>
                <a:ea typeface="DM Sans" pitchFamily="34" charset="-122"/>
                <a:cs typeface="DM Sans" pitchFamily="34" charset="-120"/>
              </a:rPr>
              <a:t>Rounds</a:t>
            </a:r>
            <a:r>
              <a:rPr lang="en-US" sz="1400" dirty="0">
                <a:solidFill>
                  <a:srgbClr val="3D4A5C"/>
                </a:solidFill>
                <a:latin typeface="DM Sans" pitchFamily="34" charset="0"/>
                <a:ea typeface="DM Sans" pitchFamily="34" charset="-122"/>
                <a:cs typeface="DM Sans" pitchFamily="34" charset="-120"/>
              </a:rPr>
              <a:t> (up to 8), then </a:t>
            </a:r>
            <a:r>
              <a:rPr lang="en-US" sz="1400" b="1" dirty="0">
                <a:solidFill>
                  <a:srgbClr val="3D4A5C"/>
                </a:solidFill>
                <a:latin typeface="DM Sans" pitchFamily="34" charset="0"/>
                <a:ea typeface="DM Sans" pitchFamily="34" charset="-122"/>
                <a:cs typeface="DM Sans" pitchFamily="34" charset="-120"/>
              </a:rPr>
              <a:t>Generate mixer rounds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514092"/>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Everyone rotates:</a:t>
            </a:r>
            <a:r>
              <a:rPr lang="en-US" sz="1200" dirty="0">
                <a:solidFill>
                  <a:srgbClr val="3D4A5C"/>
                </a:solidFill>
                <a:latin typeface="DM Sans" pitchFamily="34" charset="0"/>
                <a:ea typeface="DM Sans" pitchFamily="34" charset="-122"/>
                <a:cs typeface="DM Sans" pitchFamily="34" charset="-120"/>
              </a:rPr>
              <a:t> new partners and opponents each round. </a:t>
            </a:r>
            <a:r>
              <a:rPr lang="en-US" sz="1200" b="1" dirty="0">
                <a:solidFill>
                  <a:srgbClr val="3D4A5C"/>
                </a:solidFill>
                <a:latin typeface="DM Sans" pitchFamily="34" charset="0"/>
                <a:ea typeface="DM Sans" pitchFamily="34" charset="-122"/>
                <a:cs typeface="DM Sans" pitchFamily="34" charset="-120"/>
              </a:rPr>
              <a:t>Re-shuffle</a:t>
            </a:r>
            <a:r>
              <a:rPr lang="en-US" sz="1200" dirty="0">
                <a:solidFill>
                  <a:srgbClr val="3D4A5C"/>
                </a:solidFill>
                <a:latin typeface="DM Sans" pitchFamily="34" charset="0"/>
                <a:ea typeface="DM Sans" pitchFamily="34" charset="-122"/>
                <a:cs typeface="DM Sans" pitchFamily="34" charset="-120"/>
              </a:rPr>
              <a:t> draws all the rounds again.</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new session form with Social mixer chosen under Format, ringed, and Record scores below"/>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Pairs in a Social mixer</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Linked pairs</a:t>
            </a:r>
            <a:r>
              <a:rPr lang="en-US" sz="1400" dirty="0">
                <a:solidFill>
                  <a:srgbClr val="3D4A5C"/>
                </a:solidFill>
                <a:latin typeface="DM Sans" pitchFamily="34" charset="0"/>
                <a:ea typeface="DM Sans" pitchFamily="34" charset="-122"/>
                <a:cs typeface="DM Sans" pitchFamily="34" charset="-120"/>
              </a:rPr>
              <a:t>, pick a player and their partner, then click </a:t>
            </a:r>
            <a:r>
              <a:rPr lang="en-US" sz="1400" b="1" dirty="0">
                <a:solidFill>
                  <a:srgbClr val="3D4A5C"/>
                </a:solidFill>
                <a:latin typeface="DM Sans" pitchFamily="34" charset="0"/>
                <a:ea typeface="DM Sans" pitchFamily="34" charset="-122"/>
                <a:cs typeface="DM Sans" pitchFamily="34" charset="-120"/>
              </a:rPr>
              <a:t>Link</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how long they stay partners: </a:t>
            </a:r>
            <a:r>
              <a:rPr lang="en-US" sz="1400" b="1" dirty="0">
                <a:solidFill>
                  <a:srgbClr val="3D4A5C"/>
                </a:solidFill>
                <a:latin typeface="DM Sans" pitchFamily="34" charset="0"/>
                <a:ea typeface="DM Sans" pitchFamily="34" charset="-122"/>
                <a:cs typeface="DM Sans" pitchFamily="34" charset="-120"/>
              </a:rPr>
              <a:t>Partners for the first 2 rounds</a:t>
            </a:r>
            <a:r>
              <a:rPr lang="en-US" sz="1400" dirty="0">
                <a:solidFill>
                  <a:srgbClr val="3D4A5C"/>
                </a:solidFill>
                <a:latin typeface="DM Sans" pitchFamily="34" charset="0"/>
                <a:ea typeface="DM Sans" pitchFamily="34" charset="-122"/>
                <a:cs typeface="DM Sans" pitchFamily="34" charset="-120"/>
              </a:rPr>
              <a:t>, for example.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Generate the rounds.</a:t>
            </a:r>
            <a:endParaRPr lang="en-US" sz="1400" dirty="0"/>
          </a:p>
        </p:txBody>
      </p:sp>
      <p:sp>
        <p:nvSpPr>
          <p:cNvPr id="6" name="Text 4"/>
          <p:cNvSpPr/>
          <p:nvPr/>
        </p:nvSpPr>
        <p:spPr>
          <a:xfrm>
            <a:off x="819150" y="3016250"/>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While they’re partners</a:t>
            </a:r>
            <a:r>
              <a:rPr lang="en-US" sz="1200" dirty="0">
                <a:solidFill>
                  <a:srgbClr val="3D4A5C"/>
                </a:solidFill>
                <a:latin typeface="DM Sans" pitchFamily="34" charset="0"/>
                <a:ea typeface="DM Sans" pitchFamily="34" charset="-122"/>
                <a:cs typeface="DM Sans" pitchFamily="34" charset="-120"/>
              </a:rPr>
              <a:t> they play as a team and sit out together. After that they mix in with everyone, on new partners.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Linked pairs on a Social mixer, with Partners for the first 2 rounds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Splitting courts into groups</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Social mixer or Custom. Under </a:t>
            </a:r>
            <a:r>
              <a:rPr lang="en-US" sz="1400" b="1" dirty="0">
                <a:solidFill>
                  <a:srgbClr val="3D4A5C"/>
                </a:solidFill>
                <a:latin typeface="DM Sans" pitchFamily="34" charset="0"/>
                <a:ea typeface="DM Sans" pitchFamily="34" charset="-122"/>
                <a:cs typeface="DM Sans" pitchFamily="34" charset="-120"/>
              </a:rPr>
              <a:t>Court groups</a:t>
            </a:r>
            <a:r>
              <a:rPr lang="en-US" sz="1400" dirty="0">
                <a:solidFill>
                  <a:srgbClr val="3D4A5C"/>
                </a:solidFill>
                <a:latin typeface="DM Sans" pitchFamily="34" charset="0"/>
                <a:ea typeface="DM Sans" pitchFamily="34" charset="-122"/>
                <a:cs typeface="DM Sans" pitchFamily="34" charset="-120"/>
              </a:rPr>
              <a:t>, click </a:t>
            </a:r>
            <a:r>
              <a:rPr lang="en-US" sz="1400" b="1" dirty="0">
                <a:solidFill>
                  <a:srgbClr val="3D4A5C"/>
                </a:solidFill>
                <a:latin typeface="DM Sans" pitchFamily="34" charset="0"/>
                <a:ea typeface="DM Sans" pitchFamily="34" charset="-122"/>
                <a:cs typeface="DM Sans" pitchFamily="34" charset="-120"/>
              </a:rPr>
              <a:t>Split into groups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Name each group and say how many courts it has.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 Add another group</a:t>
            </a:r>
            <a:r>
              <a:rPr lang="en-US" sz="1400" dirty="0">
                <a:solidFill>
                  <a:srgbClr val="3D4A5C"/>
                </a:solidFill>
                <a:latin typeface="DM Sans" pitchFamily="34" charset="0"/>
                <a:ea typeface="DM Sans" pitchFamily="34" charset="-122"/>
                <a:cs typeface="DM Sans" pitchFamily="34" charset="-120"/>
              </a:rPr>
              <a:t> if you need more.</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Mixer: generate the rounds. Custom: the court plan updates.</a:t>
            </a:r>
            <a:endParaRPr lang="en-US" sz="1400" dirty="0"/>
          </a:p>
        </p:txBody>
      </p:sp>
      <p:sp>
        <p:nvSpPr>
          <p:cNvPr id="6" name="Text 4"/>
          <p:cNvSpPr/>
          <p:nvPr/>
        </p:nvSpPr>
        <p:spPr>
          <a:xfrm>
            <a:off x="819150" y="3514092"/>
            <a:ext cx="3898900" cy="1165860"/>
          </a:xfrm>
          <a:prstGeom prst="roundRect">
            <a:avLst>
              <a:gd name="adj" fmla="val 817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Players only rotate within their group.</a:t>
            </a:r>
            <a:r>
              <a:rPr lang="en-US" sz="1200" dirty="0">
                <a:solidFill>
                  <a:srgbClr val="3D4A5C"/>
                </a:solidFill>
                <a:latin typeface="DM Sans" pitchFamily="34" charset="0"/>
                <a:ea typeface="DM Sans" pitchFamily="34" charset="-122"/>
                <a:cs typeface="DM Sans" pitchFamily="34" charset="-120"/>
              </a:rPr>
              <a:t> Groups fill from the top of the seed order, so the first group takes the top of the list. Linked pairs stay in the same group.</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ourt groups: two named groups with their courts and players"/>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Setting up a Custom session</a:t>
            </a:r>
            <a:endParaRPr lang="en-US" sz="2800" dirty="0"/>
          </a:p>
        </p:txBody>
      </p:sp>
      <p:sp>
        <p:nvSpPr>
          <p:cNvPr id="5" name="Text 3"/>
          <p:cNvSpPr/>
          <p:nvPr/>
        </p:nvSpPr>
        <p:spPr>
          <a:xfrm>
            <a:off x="876300" y="1612900"/>
            <a:ext cx="3957828" cy="201676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 New</a:t>
            </a:r>
            <a:r>
              <a:rPr lang="en-US" sz="1400" dirty="0">
                <a:solidFill>
                  <a:srgbClr val="3D4A5C"/>
                </a:solidFill>
                <a:latin typeface="DM Sans" pitchFamily="34" charset="0"/>
                <a:ea typeface="DM Sans" pitchFamily="34" charset="-122"/>
                <a:cs typeface="DM Sans" pitchFamily="34" charset="-120"/>
              </a:rPr>
              <a:t>. Fill in the details, then choose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 score or timer settings: Custom just books the courts.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 Players book it like any other.</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it to set the </a:t>
            </a:r>
            <a:r>
              <a:rPr lang="en-US" sz="1400" b="1" dirty="0">
                <a:solidFill>
                  <a:srgbClr val="3D4A5C"/>
                </a:solidFill>
                <a:latin typeface="DM Sans" pitchFamily="34" charset="0"/>
                <a:ea typeface="DM Sans" pitchFamily="34" charset="-122"/>
                <a:cs typeface="DM Sans" pitchFamily="34" charset="-120"/>
              </a:rPr>
              <a:t>Courts booked</a:t>
            </a:r>
            <a:r>
              <a:rPr lang="en-US" sz="1400" dirty="0">
                <a:solidFill>
                  <a:srgbClr val="3D4A5C"/>
                </a:solidFill>
                <a:latin typeface="DM Sans" pitchFamily="34" charset="0"/>
                <a:ea typeface="DM Sans" pitchFamily="34" charset="-122"/>
                <a:cs typeface="DM Sans" pitchFamily="34" charset="-120"/>
              </a:rPr>
              <a:t> and print a court plan.</a:t>
            </a:r>
            <a:endParaRPr lang="en-US" sz="1400" dirty="0"/>
          </a:p>
        </p:txBody>
      </p:sp>
      <p:sp>
        <p:nvSpPr>
          <p:cNvPr id="6" name="Text 4"/>
          <p:cNvSpPr/>
          <p:nvPr/>
        </p:nvSpPr>
        <p:spPr>
          <a:xfrm>
            <a:off x="819150" y="3763008"/>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Use Custom</a:t>
            </a:r>
            <a:r>
              <a:rPr lang="en-US" sz="1200" dirty="0">
                <a:solidFill>
                  <a:srgbClr val="3D4A5C"/>
                </a:solidFill>
                <a:latin typeface="DM Sans" pitchFamily="34" charset="0"/>
                <a:ea typeface="DM Sans" pitchFamily="34" charset="-122"/>
                <a:cs typeface="DM Sans" pitchFamily="34" charset="-120"/>
              </a:rPr>
              <a:t> when you run the play yourself: drills, coaching, a league night, or a format we don’t draw up.</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new session form with Custom chosen under Format, ringed, and the explanation of Custom below"/>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2387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BUILDING THE COURTS</a:t>
            </a:r>
            <a:endParaRPr lang="en-US" sz="1200" dirty="0"/>
          </a:p>
        </p:txBody>
      </p:sp>
      <p:sp>
        <p:nvSpPr>
          <p:cNvPr id="3" name="Text 1"/>
          <p:cNvSpPr/>
          <p:nvPr/>
        </p:nvSpPr>
        <p:spPr>
          <a:xfrm>
            <a:off x="3236674"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Custom: just booking the courts</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the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session. No games are drawn up and there are no scores.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set the courts you’ve booked and check who’s playing.</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If you want, split the courts into groups and link pairs.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Print court plan</a:t>
            </a:r>
            <a:r>
              <a:rPr lang="en-US" sz="1400" dirty="0">
                <a:solidFill>
                  <a:srgbClr val="3D4A5C"/>
                </a:solidFill>
                <a:latin typeface="DM Sans" pitchFamily="34" charset="0"/>
                <a:ea typeface="DM Sans" pitchFamily="34" charset="-122"/>
                <a:cs typeface="DM Sans" pitchFamily="34" charset="-120"/>
              </a:rPr>
              <a:t> for the day.</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Players book a Custom session like any other.</a:t>
            </a:r>
            <a:r>
              <a:rPr lang="en-US" sz="1200" dirty="0">
                <a:solidFill>
                  <a:srgbClr val="3D4A5C"/>
                </a:solidFill>
                <a:latin typeface="DM Sans" pitchFamily="34" charset="0"/>
                <a:ea typeface="DM Sans" pitchFamily="34" charset="-122"/>
                <a:cs typeface="DM Sans" pitchFamily="34" charset="-120"/>
              </a:rPr>
              <a:t> The court plan is for you and your helpers.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ourt plan for a Custom session: two groups with their courts and players, and Print court plan"/>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4</a:t>
            </a:r>
            <a:endParaRPr lang="en-US" sz="6000" dirty="0"/>
          </a:p>
        </p:txBody>
      </p:sp>
      <p:sp>
        <p:nvSpPr>
          <p:cNvPr id="4" name="Text 2"/>
          <p:cNvSpPr>
            <a:spLocks noGrp="1"/>
          </p:cNvSpPr>
          <p:nvPr>
            <p:ph type="title"/>
          </p:nvPr>
        </p:nvSpPr>
        <p:spPr>
          <a:xfrm>
            <a:off x="812800" y="2919735"/>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Running the session</a:t>
            </a:r>
            <a:endParaRPr lang="en-US" sz="4800" dirty="0"/>
          </a:p>
        </p:txBody>
      </p:sp>
      <p:sp>
        <p:nvSpPr>
          <p:cNvPr id="5" name="Text 3"/>
          <p:cNvSpPr/>
          <p:nvPr/>
        </p:nvSpPr>
        <p:spPr>
          <a:xfrm>
            <a:off x="812800" y="3763008"/>
            <a:ext cx="850265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Opening a session, where players book, the waiting list, adding someone, free places for admins and cancelling.</a:t>
            </a:r>
            <a:endParaRPr lang="en-US" sz="1700" dirty="0"/>
          </a:p>
        </p:txBody>
      </p:sp>
      <p:sp>
        <p:nvSpPr>
          <p:cNvPr id="6" name="Text 4"/>
          <p:cNvSpPr/>
          <p:nvPr/>
        </p:nvSpPr>
        <p:spPr>
          <a:xfrm>
            <a:off x="812800" y="4570735"/>
            <a:ext cx="3340021"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Ambassador · Committee · Senior</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409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4 · RUNNING THE SESSION</a:t>
            </a:r>
            <a:endParaRPr lang="en-US" sz="1200" dirty="0"/>
          </a:p>
        </p:txBody>
      </p:sp>
      <p:sp>
        <p:nvSpPr>
          <p:cNvPr id="3" name="Text 1"/>
          <p:cNvSpPr/>
          <p:nvPr/>
        </p:nvSpPr>
        <p:spPr>
          <a:xfrm>
            <a:off x="3253740"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Opening the session</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puts it on the Social page.</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lets members book in the app.</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Booked so far</a:t>
            </a:r>
            <a:r>
              <a:rPr lang="en-US" sz="1400" dirty="0">
                <a:solidFill>
                  <a:srgbClr val="3D4A5C"/>
                </a:solidFill>
                <a:latin typeface="DM Sans" pitchFamily="34" charset="0"/>
                <a:ea typeface="DM Sans" pitchFamily="34" charset="-122"/>
                <a:cs typeface="DM Sans" pitchFamily="34" charset="-120"/>
              </a:rPr>
              <a:t> shows who’s coming and how many places are taken.</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Showing</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 are separate: you can open booking before the line-up is public.</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session with Show members, Open for booking and Booked so far, the booked list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409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4 · RUNNING THE SESSION</a:t>
            </a:r>
            <a:endParaRPr lang="en-US" sz="1200" dirty="0"/>
          </a:p>
        </p:txBody>
      </p:sp>
      <p:sp>
        <p:nvSpPr>
          <p:cNvPr id="3" name="Text 1"/>
          <p:cNvSpPr/>
          <p:nvPr/>
        </p:nvSpPr>
        <p:spPr>
          <a:xfrm>
            <a:off x="3253740"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Where players book</a:t>
            </a:r>
            <a:endParaRPr lang="en-US" sz="2800" dirty="0"/>
          </a:p>
        </p:txBody>
      </p:sp>
      <p:sp>
        <p:nvSpPr>
          <p:cNvPr id="5" name="Text 3"/>
          <p:cNvSpPr/>
          <p:nvPr/>
        </p:nvSpPr>
        <p:spPr>
          <a:xfrm>
            <a:off x="879157" y="1612900"/>
            <a:ext cx="3928809"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club site: </a:t>
            </a:r>
            <a:r>
              <a:rPr lang="en-US" sz="1400" b="1" dirty="0">
                <a:solidFill>
                  <a:srgbClr val="3D4A5C"/>
                </a:solidFill>
                <a:latin typeface="DM Sans" pitchFamily="34" charset="0"/>
                <a:ea typeface="DM Sans" pitchFamily="34" charset="-122"/>
                <a:cs typeface="DM Sans" pitchFamily="34" charset="-120"/>
              </a:rPr>
              <a:t>Booking</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Book a session</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a phone, the club’s app on the home screen opens the same page.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They tap a session, then </a:t>
            </a:r>
            <a:r>
              <a:rPr lang="en-US" sz="1400" b="1" dirty="0">
                <a:solidFill>
                  <a:srgbClr val="3D4A5C"/>
                </a:solidFill>
                <a:latin typeface="DM Sans" pitchFamily="34" charset="0"/>
                <a:ea typeface="DM Sans" pitchFamily="34" charset="-122"/>
                <a:cs typeface="DM Sans" pitchFamily="34" charset="-120"/>
              </a:rPr>
              <a:t>Book</a:t>
            </a:r>
            <a:r>
              <a:rPr lang="en-US" sz="1400" dirty="0">
                <a:solidFill>
                  <a:srgbClr val="3D4A5C"/>
                </a:solidFill>
                <a:latin typeface="DM Sans" pitchFamily="34" charset="0"/>
                <a:ea typeface="DM Sans" pitchFamily="34" charset="-122"/>
                <a:cs typeface="DM Sans" pitchFamily="34" charset="-120"/>
              </a:rPr>
              <a:t>. It’s paid from their wallet.</a:t>
            </a:r>
            <a:endParaRPr lang="en-US" sz="1400" dirty="0"/>
          </a:p>
        </p:txBody>
      </p:sp>
      <p:sp>
        <p:nvSpPr>
          <p:cNvPr id="6" name="Text 4"/>
          <p:cNvSpPr/>
          <p:nvPr/>
        </p:nvSpPr>
        <p:spPr>
          <a:xfrm>
            <a:off x="819150" y="3265177"/>
            <a:ext cx="3873500" cy="739140"/>
          </a:xfrm>
          <a:prstGeom prst="roundRect">
            <a:avLst>
              <a:gd name="adj" fmla="val 12887"/>
            </a:avLst>
          </a:prstGeom>
          <a:solidFill>
            <a:srgbClr val="FFFDF9"/>
          </a:solidFill>
          <a:ln w="12700">
            <a:solidFill>
              <a:srgbClr val="E4DED3"/>
            </a:solidFill>
            <a:prstDash val="solid"/>
          </a:ln>
        </p:spPr>
        <p:txBody>
          <a:bodyPr wrap="square" lIns="153712" tIns="128312" rIns="48404"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My bookings</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Wallet</a:t>
            </a:r>
            <a:r>
              <a:rPr lang="en-US" sz="1200" dirty="0">
                <a:solidFill>
                  <a:srgbClr val="3D4A5C"/>
                </a:solidFill>
                <a:latin typeface="DM Sans" pitchFamily="34" charset="0"/>
                <a:ea typeface="DM Sans" pitchFamily="34" charset="-122"/>
                <a:cs typeface="DM Sans" pitchFamily="34" charset="-120"/>
              </a:rPr>
              <a:t> sit just below: that’s where players cancel and top up.</a:t>
            </a:r>
            <a:endParaRPr lang="en-US" sz="1200" dirty="0"/>
          </a:p>
        </p:txBody>
      </p:sp>
      <p:sp>
        <p:nvSpPr>
          <p:cNvPr id="7" name="Shape 5"/>
          <p:cNvSpPr/>
          <p:nvPr/>
        </p:nvSpPr>
        <p:spPr>
          <a:xfrm>
            <a:off x="5003800" y="1612900"/>
            <a:ext cx="4445000" cy="2781300"/>
          </a:xfrm>
          <a:prstGeom prst="roundRect">
            <a:avLst>
              <a:gd name="adj" fmla="val 3653"/>
            </a:avLst>
          </a:prstGeom>
          <a:solidFill>
            <a:srgbClr val="FFFDF9"/>
          </a:solidFill>
          <a:ln/>
        </p:spPr>
      </p:sp>
      <p:pic>
        <p:nvPicPr>
          <p:cNvPr id="8" name="Image 0" descr="The club site with Book a session ringed in the Booking menu, showing upcoming sessions"/>
          <p:cNvPicPr>
            <a:picLocks noChangeAspect="1"/>
          </p:cNvPicPr>
          <p:nvPr/>
        </p:nvPicPr>
        <p:blipFill>
          <a:blip r:embed="rId3"/>
          <a:srcRect l="-115" r="-115"/>
          <a:stretch/>
        </p:blipFill>
        <p:spPr>
          <a:xfrm>
            <a:off x="5016500" y="1625600"/>
            <a:ext cx="4419600" cy="2755900"/>
          </a:xfrm>
          <a:prstGeom prst="roundRect">
            <a:avLst>
              <a:gd name="adj" fmla="val 3226"/>
            </a:avLst>
          </a:prstGeom>
        </p:spPr>
      </p:pic>
      <p:sp>
        <p:nvSpPr>
          <p:cNvPr id="9" name="Shape 6"/>
          <p:cNvSpPr/>
          <p:nvPr/>
        </p:nvSpPr>
        <p:spPr>
          <a:xfrm>
            <a:off x="5010150" y="1619250"/>
            <a:ext cx="4432300" cy="2768600"/>
          </a:xfrm>
          <a:prstGeom prst="roundRect">
            <a:avLst>
              <a:gd name="adj" fmla="val 3440"/>
            </a:avLst>
          </a:prstGeom>
          <a:noFill/>
          <a:ln w="12700">
            <a:solidFill>
              <a:srgbClr val="E4DED3"/>
            </a:solidFill>
            <a:prstDash val="solid"/>
          </a:ln>
        </p:spPr>
      </p:sp>
      <p:sp>
        <p:nvSpPr>
          <p:cNvPr id="10" name="Shape 7"/>
          <p:cNvSpPr/>
          <p:nvPr/>
        </p:nvSpPr>
        <p:spPr>
          <a:xfrm>
            <a:off x="9601200" y="1612900"/>
            <a:ext cx="1778000" cy="2692400"/>
          </a:xfrm>
          <a:prstGeom prst="roundRect">
            <a:avLst>
              <a:gd name="adj" fmla="val 5714"/>
            </a:avLst>
          </a:prstGeom>
          <a:solidFill>
            <a:srgbClr val="FFFDF9"/>
          </a:solidFill>
          <a:ln/>
        </p:spPr>
      </p:sp>
      <p:pic>
        <p:nvPicPr>
          <p:cNvPr id="11" name="Image 1" descr="A session in the booking app on a phone, with the Book button ringed"/>
          <p:cNvPicPr>
            <a:picLocks noChangeAspect="1"/>
          </p:cNvPicPr>
          <p:nvPr/>
        </p:nvPicPr>
        <p:blipFill>
          <a:blip r:embed="rId4"/>
          <a:srcRect t="-295" b="-295"/>
          <a:stretch/>
        </p:blipFill>
        <p:spPr>
          <a:xfrm>
            <a:off x="9613900" y="1625600"/>
            <a:ext cx="1752600" cy="2667000"/>
          </a:xfrm>
          <a:prstGeom prst="roundRect">
            <a:avLst>
              <a:gd name="adj" fmla="val 5072"/>
            </a:avLst>
          </a:prstGeom>
        </p:spPr>
      </p:pic>
      <p:sp>
        <p:nvSpPr>
          <p:cNvPr id="12" name="Shape 8"/>
          <p:cNvSpPr/>
          <p:nvPr/>
        </p:nvSpPr>
        <p:spPr>
          <a:xfrm>
            <a:off x="9607550" y="1619250"/>
            <a:ext cx="1765300" cy="2679700"/>
          </a:xfrm>
          <a:prstGeom prst="roundRect">
            <a:avLst>
              <a:gd name="adj" fmla="val 5396"/>
            </a:avLst>
          </a:prstGeom>
          <a:noFill/>
          <a:ln w="12700">
            <a:solidFill>
              <a:srgbClr val="E4DED3"/>
            </a:solidFill>
            <a:prstDash val="solid"/>
          </a:ln>
        </p:spPr>
      </p:sp>
      <p:sp>
        <p:nvSpPr>
          <p:cNvPr id="13" name="Text 9"/>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4" name="Image 2" descr="twoclear"/>
          <p:cNvPicPr>
            <a:picLocks noChangeAspect="1"/>
          </p:cNvPicPr>
          <p:nvPr/>
        </p:nvPicPr>
        <p:blipFill>
          <a:blip r:embed="rId5"/>
          <a:srcRect t="-149" b="-149"/>
          <a:stretch/>
        </p:blipFill>
        <p:spPr>
          <a:xfrm>
            <a:off x="10109200" y="6229350"/>
            <a:ext cx="1270000" cy="285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409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4 · RUNNING THE SESSION</a:t>
            </a:r>
            <a:endParaRPr lang="en-US" sz="1200" dirty="0"/>
          </a:p>
        </p:txBody>
      </p:sp>
      <p:sp>
        <p:nvSpPr>
          <p:cNvPr id="3" name="Text 1"/>
          <p:cNvSpPr/>
          <p:nvPr/>
        </p:nvSpPr>
        <p:spPr>
          <a:xfrm>
            <a:off x="3253740" y="609600"/>
            <a:ext cx="2693035" cy="264160"/>
          </a:xfrm>
          <a:custGeom>
            <a:avLst/>
            <a:gdLst/>
            <a:ahLst/>
            <a:cxnLst/>
            <a:rect l="l" t="t" r="r" b="b"/>
            <a:pathLst>
              <a:path w="2693035" h="264160">
                <a:moveTo>
                  <a:pt x="132080" y="0"/>
                </a:moveTo>
                <a:lnTo>
                  <a:pt x="2560955" y="0"/>
                </a:lnTo>
                <a:arcTo wR="132080" hR="132080" stAng="16200000" swAng="5400000"/>
                <a:lnTo>
                  <a:pt x="2693035"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waiting list</a:t>
            </a:r>
            <a:endParaRPr lang="en-US" sz="2800" dirty="0"/>
          </a:p>
        </p:txBody>
      </p:sp>
      <p:sp>
        <p:nvSpPr>
          <p:cNvPr id="5" name="Text 3"/>
          <p:cNvSpPr/>
          <p:nvPr/>
        </p:nvSpPr>
        <p:spPr>
          <a:xfrm>
            <a:off x="879157" y="1612900"/>
            <a:ext cx="3954971" cy="15443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When a session is full, </a:t>
            </a:r>
            <a:r>
              <a:rPr lang="en-US" sz="1400" b="1" dirty="0">
                <a:solidFill>
                  <a:srgbClr val="3D4A5C"/>
                </a:solidFill>
                <a:latin typeface="DM Sans" pitchFamily="34" charset="0"/>
                <a:ea typeface="DM Sans" pitchFamily="34" charset="-122"/>
                <a:cs typeface="DM Sans" pitchFamily="34" charset="-120"/>
              </a:rPr>
              <a:t>Waitlist</a:t>
            </a:r>
            <a:r>
              <a:rPr lang="en-US" sz="1400" dirty="0">
                <a:solidFill>
                  <a:srgbClr val="3D4A5C"/>
                </a:solidFill>
                <a:latin typeface="DM Sans" pitchFamily="34" charset="0"/>
                <a:ea typeface="DM Sans" pitchFamily="34" charset="-122"/>
                <a:cs typeface="DM Sans" pitchFamily="34" charset="-120"/>
              </a:rPr>
              <a:t> shows who’s waiting, first in line first.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A freed place goes to the first person with enough in their wallet, automatically.</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They’re booked, it’s paid from their wallet, and they get an email.</a:t>
            </a:r>
            <a:endParaRPr lang="en-US" sz="1400" dirty="0"/>
          </a:p>
        </p:txBody>
      </p:sp>
      <p:sp>
        <p:nvSpPr>
          <p:cNvPr id="6" name="Text 4"/>
          <p:cNvSpPr/>
          <p:nvPr/>
        </p:nvSpPr>
        <p:spPr>
          <a:xfrm>
            <a:off x="819150" y="32905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Nothing to do by hand.</a:t>
            </a:r>
            <a:r>
              <a:rPr lang="en-US" sz="1200" dirty="0">
                <a:solidFill>
                  <a:srgbClr val="3D4A5C"/>
                </a:solidFill>
                <a:latin typeface="DM Sans" pitchFamily="34" charset="0"/>
                <a:ea typeface="DM Sans" pitchFamily="34" charset="-122"/>
                <a:cs typeface="DM Sans" pitchFamily="34" charset="-120"/>
              </a:rPr>
              <a:t> It keeps moving until your club’s cut-off (</a:t>
            </a:r>
            <a:r>
              <a:rPr lang="en-US" sz="1200" b="1" dirty="0">
                <a:solidFill>
                  <a:srgbClr val="3D4A5C"/>
                </a:solidFill>
                <a:latin typeface="DM Sans" pitchFamily="34" charset="0"/>
                <a:ea typeface="DM Sans" pitchFamily="34" charset="-122"/>
                <a:cs typeface="DM Sans" pitchFamily="34" charset="-120"/>
              </a:rPr>
              <a:t>Club settings</a:t>
            </a:r>
            <a:r>
              <a:rPr lang="en-US" sz="1200" dirty="0">
                <a:solidFill>
                  <a:srgbClr val="3D4A5C"/>
                </a:solidFill>
                <a:latin typeface="DM Sans" pitchFamily="34" charset="0"/>
                <a:ea typeface="DM Sans" pitchFamily="34" charset="-122"/>
                <a:cs typeface="DM Sans" pitchFamily="34" charset="-120"/>
              </a:rPr>
              <a:t> →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full session's waiting list,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409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4 · RUNNING THE SESSION</a:t>
            </a:r>
            <a:endParaRPr lang="en-US" sz="1200" dirty="0"/>
          </a:p>
        </p:txBody>
      </p:sp>
      <p:sp>
        <p:nvSpPr>
          <p:cNvPr id="3" name="Text 1"/>
          <p:cNvSpPr/>
          <p:nvPr/>
        </p:nvSpPr>
        <p:spPr>
          <a:xfrm>
            <a:off x="3253740"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Adding someone yourself</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Book a member in</a:t>
            </a:r>
            <a:r>
              <a:rPr lang="en-US" sz="1400" dirty="0">
                <a:solidFill>
                  <a:srgbClr val="3D4A5C"/>
                </a:solidFill>
                <a:latin typeface="DM Sans" pitchFamily="34" charset="0"/>
                <a:ea typeface="DM Sans" pitchFamily="34" charset="-122"/>
                <a:cs typeface="DM Sans" pitchFamily="34" charset="-120"/>
              </a:rPr>
              <a:t>, type their name or email.</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Book in</a:t>
            </a:r>
            <a:r>
              <a:rPr lang="en-US" sz="1400" dirty="0">
                <a:solidFill>
                  <a:srgbClr val="3D4A5C"/>
                </a:solidFill>
                <a:latin typeface="DM Sans" pitchFamily="34" charset="0"/>
                <a:ea typeface="DM Sans" pitchFamily="34" charset="-122"/>
                <a:cs typeface="DM Sans" pitchFamily="34" charset="-120"/>
              </a:rPr>
              <a:t> next to them, then confirm.</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 cost comes out of their wallet, even after the lock.</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Ambassadors adding names on the day?</a:t>
            </a:r>
            <a:r>
              <a:rPr lang="en-US" sz="1200" dirty="0">
                <a:solidFill>
                  <a:srgbClr val="3D4A5C"/>
                </a:solidFill>
                <a:latin typeface="DM Sans" pitchFamily="34" charset="0"/>
                <a:ea typeface="DM Sans" pitchFamily="34" charset="-122"/>
                <a:cs typeface="DM Sans" pitchFamily="34" charset="-120"/>
              </a:rPr>
              <a:t> A Senior can switch this on for them in </a:t>
            </a:r>
            <a:r>
              <a:rPr lang="en-US" sz="1200" b="1" dirty="0">
                <a:solidFill>
                  <a:srgbClr val="3D4A5C"/>
                </a:solidFill>
                <a:latin typeface="DM Sans" pitchFamily="34" charset="0"/>
                <a:ea typeface="DM Sans" pitchFamily="34" charset="-122"/>
                <a:cs typeface="DM Sans" pitchFamily="34" charset="-120"/>
              </a:rPr>
              <a:t>Admins</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Book a member in, with the Book in button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409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4 · RUNNING THE SESSION</a:t>
            </a:r>
            <a:endParaRPr lang="en-US" sz="1200" dirty="0"/>
          </a:p>
        </p:txBody>
      </p:sp>
      <p:sp>
        <p:nvSpPr>
          <p:cNvPr id="3" name="Text 1"/>
          <p:cNvSpPr/>
          <p:nvPr/>
        </p:nvSpPr>
        <p:spPr>
          <a:xfrm>
            <a:off x="3253740" y="609600"/>
            <a:ext cx="1635998" cy="264160"/>
          </a:xfrm>
          <a:custGeom>
            <a:avLst/>
            <a:gdLst/>
            <a:ahLst/>
            <a:cxnLst/>
            <a:rect l="l" t="t" r="r" b="b"/>
            <a:pathLst>
              <a:path w="1635998" h="264160">
                <a:moveTo>
                  <a:pt x="132080" y="0"/>
                </a:moveTo>
                <a:lnTo>
                  <a:pt x="1503918" y="0"/>
                </a:lnTo>
                <a:arcTo wR="132080" hR="132080" stAng="16200000" swAng="5400000"/>
                <a:lnTo>
                  <a:pt x="1635998"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A free place for an admin</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find </a:t>
            </a:r>
            <a:r>
              <a:rPr lang="en-US" sz="1400" b="1" dirty="0">
                <a:solidFill>
                  <a:srgbClr val="3D4A5C"/>
                </a:solidFill>
                <a:latin typeface="DM Sans" pitchFamily="34" charset="0"/>
                <a:ea typeface="DM Sans" pitchFamily="34" charset="-122"/>
                <a:cs typeface="DM Sans" pitchFamily="34" charset="-120"/>
              </a:rPr>
              <a:t>Admin comps</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Next to yourself or another admin, click </a:t>
            </a:r>
            <a:r>
              <a:rPr lang="en-US" sz="1400" b="1" dirty="0">
                <a:solidFill>
                  <a:srgbClr val="3D4A5C"/>
                </a:solidFill>
                <a:latin typeface="DM Sans" pitchFamily="34" charset="0"/>
                <a:ea typeface="DM Sans" pitchFamily="34" charset="-122"/>
                <a:cs typeface="DM Sans" pitchFamily="34" charset="-120"/>
              </a:rPr>
              <a:t>Comp in free</a:t>
            </a:r>
            <a:r>
              <a:rPr lang="en-US" sz="1400" dirty="0">
                <a:solidFill>
                  <a:srgbClr val="3D4A5C"/>
                </a:solidFill>
                <a:latin typeface="DM Sans" pitchFamily="34" charset="0"/>
                <a:ea typeface="DM Sans" pitchFamily="34" charset="-122"/>
                <a:cs typeface="DM Sans" pitchFamily="34" charset="-120"/>
              </a:rPr>
              <a:t>. Their place costs nothing.</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Already paid? </a:t>
            </a:r>
            <a:r>
              <a:rPr lang="en-US" sz="1400" b="1" dirty="0">
                <a:solidFill>
                  <a:srgbClr val="3D4A5C"/>
                </a:solidFill>
                <a:latin typeface="DM Sans" pitchFamily="34" charset="0"/>
                <a:ea typeface="DM Sans" pitchFamily="34" charset="-122"/>
                <a:cs typeface="DM Sans" pitchFamily="34" charset="-120"/>
              </a:rPr>
              <a:t>Refund &amp; comp</a:t>
            </a:r>
            <a:r>
              <a:rPr lang="en-US" sz="1400" dirty="0">
                <a:solidFill>
                  <a:srgbClr val="3D4A5C"/>
                </a:solidFill>
                <a:latin typeface="DM Sans" pitchFamily="34" charset="0"/>
                <a:ea typeface="DM Sans" pitchFamily="34" charset="-122"/>
                <a:cs typeface="DM Sans" pitchFamily="34" charset="-120"/>
              </a:rPr>
              <a:t> gives the money back and keeps their place.</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Session full?</a:t>
            </a:r>
            <a:r>
              <a:rPr lang="en-US" sz="1200" dirty="0">
                <a:solidFill>
                  <a:srgbClr val="3D4A5C"/>
                </a:solidFill>
                <a:latin typeface="DM Sans" pitchFamily="34" charset="0"/>
                <a:ea typeface="DM Sans" pitchFamily="34" charset="-122"/>
                <a:cs typeface="DM Sans" pitchFamily="34" charset="-120"/>
              </a:rPr>
              <a:t> They join the waiting list for free and keep their place in the queue.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dmin comps on a session, listing the club's admins"/>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409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4 · RUNNING THE SESSION</a:t>
            </a:r>
            <a:endParaRPr lang="en-US" sz="1200" dirty="0"/>
          </a:p>
        </p:txBody>
      </p:sp>
      <p:sp>
        <p:nvSpPr>
          <p:cNvPr id="3" name="Text 1"/>
          <p:cNvSpPr/>
          <p:nvPr/>
        </p:nvSpPr>
        <p:spPr>
          <a:xfrm>
            <a:off x="3253740"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Cancelling a session</a:t>
            </a:r>
            <a:endParaRPr lang="en-US" sz="2800" dirty="0"/>
          </a:p>
        </p:txBody>
      </p:sp>
      <p:sp>
        <p:nvSpPr>
          <p:cNvPr id="5" name="Text 3"/>
          <p:cNvSpPr/>
          <p:nvPr/>
        </p:nvSpPr>
        <p:spPr>
          <a:xfrm>
            <a:off x="881777" y="1612900"/>
            <a:ext cx="3952351" cy="1021080"/>
          </a:xfrm>
          <a:prstGeom prst="rect">
            <a:avLst/>
          </a:prstGeom>
          <a:noFill/>
          <a:ln/>
        </p:spPr>
        <p:txBody>
          <a:bodyPr wrap="square" lIns="0" tIns="0" rIns="0" bIns="0" rtlCol="0" anchor="t">
            <a:normAutofit/>
          </a:bodyPr>
          <a:lstStyle/>
          <a:p>
            <a:pPr marL="185023" indent="-18502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click </a:t>
            </a:r>
            <a:r>
              <a:rPr lang="en-US" sz="1400" b="1" dirty="0">
                <a:solidFill>
                  <a:srgbClr val="3D4A5C"/>
                </a:solidFill>
                <a:latin typeface="DM Sans" pitchFamily="34" charset="0"/>
                <a:ea typeface="DM Sans" pitchFamily="34" charset="-122"/>
                <a:cs typeface="DM Sans" pitchFamily="34" charset="-120"/>
              </a:rPr>
              <a:t>Cancel session and refund everyone</a:t>
            </a:r>
            <a:r>
              <a:rPr lang="en-US" sz="1400" dirty="0">
                <a:solidFill>
                  <a:srgbClr val="3D4A5C"/>
                </a:solidFill>
                <a:latin typeface="DM Sans" pitchFamily="34" charset="0"/>
                <a:ea typeface="DM Sans" pitchFamily="34" charset="-122"/>
                <a:cs typeface="DM Sans" pitchFamily="34" charset="-120"/>
              </a:rPr>
              <a:t>.</a:t>
            </a:r>
            <a:endParaRPr lang="en-US" sz="1400" dirty="0"/>
          </a:p>
          <a:p>
            <a:pPr marL="185023" indent="-18502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Confirm. Everyone’s money goes back into their wallet.</a:t>
            </a:r>
            <a:endParaRPr lang="en-US" sz="1400" dirty="0"/>
          </a:p>
        </p:txBody>
      </p:sp>
      <p:sp>
        <p:nvSpPr>
          <p:cNvPr id="6" name="Text 4"/>
          <p:cNvSpPr/>
          <p:nvPr/>
        </p:nvSpPr>
        <p:spPr>
          <a:xfrm>
            <a:off x="819150" y="2767335"/>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It can’t be undone.</a:t>
            </a:r>
            <a:r>
              <a:rPr lang="en-US" sz="1200" dirty="0">
                <a:solidFill>
                  <a:srgbClr val="3D4A5C"/>
                </a:solidFill>
                <a:latin typeface="DM Sans" pitchFamily="34" charset="0"/>
                <a:ea typeface="DM Sans" pitchFamily="34" charset="-122"/>
                <a:cs typeface="DM Sans" pitchFamily="34" charset="-120"/>
              </a:rPr>
              <a:t> Everyone booked or waiting gets an email saying so.</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ancel session and refund everyone,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58"/>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5</a:t>
            </a:r>
            <a:endParaRPr lang="en-US" sz="6000" dirty="0"/>
          </a:p>
        </p:txBody>
      </p:sp>
      <p:sp>
        <p:nvSpPr>
          <p:cNvPr id="4" name="Text 2"/>
          <p:cNvSpPr>
            <a:spLocks noGrp="1"/>
          </p:cNvSpPr>
          <p:nvPr>
            <p:ph type="title"/>
          </p:nvPr>
        </p:nvSpPr>
        <p:spPr>
          <a:xfrm>
            <a:off x="812800" y="3070858"/>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Money and reports</a:t>
            </a:r>
            <a:endParaRPr lang="en-US" sz="4800" dirty="0"/>
          </a:p>
        </p:txBody>
      </p:sp>
      <p:sp>
        <p:nvSpPr>
          <p:cNvPr id="5" name="Text 3"/>
          <p:cNvSpPr/>
          <p:nvPr/>
        </p:nvSpPr>
        <p:spPr>
          <a:xfrm>
            <a:off x="812800" y="3914142"/>
            <a:ext cx="850265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Members’ wallets, adjusting a balance, and the money report for the treasurer.</a:t>
            </a:r>
            <a:endParaRPr lang="en-US" sz="1700" dirty="0"/>
          </a:p>
        </p:txBody>
      </p:sp>
      <p:sp>
        <p:nvSpPr>
          <p:cNvPr id="6" name="Text 4"/>
          <p:cNvSpPr/>
          <p:nvPr/>
        </p:nvSpPr>
        <p:spPr>
          <a:xfrm>
            <a:off x="812800" y="4419600"/>
            <a:ext cx="2194877"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Committee · Senior</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33259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5 · MONEY AND REPORTS</a:t>
            </a:r>
            <a:endParaRPr lang="en-US" sz="1200" dirty="0"/>
          </a:p>
        </p:txBody>
      </p:sp>
      <p:sp>
        <p:nvSpPr>
          <p:cNvPr id="3" name="Text 1"/>
          <p:cNvSpPr/>
          <p:nvPr/>
        </p:nvSpPr>
        <p:spPr>
          <a:xfrm>
            <a:off x="3145393"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Members’ wallets</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Players &amp; logins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Who can sign in</a:t>
            </a:r>
            <a:r>
              <a:rPr lang="en-US" sz="1400" dirty="0">
                <a:solidFill>
                  <a:srgbClr val="3D4A5C"/>
                </a:solidFill>
                <a:latin typeface="DM Sans" pitchFamily="34" charset="0"/>
                <a:ea typeface="DM Sans" pitchFamily="34" charset="-122"/>
                <a:cs typeface="DM Sans" pitchFamily="34" charset="-120"/>
              </a:rPr>
              <a:t> lists everyone with their balance.</a:t>
            </a:r>
            <a:endParaRPr lang="en-US" sz="1400" dirty="0"/>
          </a:p>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Adjust</a:t>
            </a:r>
            <a:r>
              <a:rPr lang="en-US" sz="1400" dirty="0">
                <a:solidFill>
                  <a:srgbClr val="3D4A5C"/>
                </a:solidFill>
                <a:latin typeface="DM Sans" pitchFamily="34" charset="0"/>
                <a:ea typeface="DM Sans" pitchFamily="34" charset="-122"/>
                <a:cs typeface="DM Sans" pitchFamily="34" charset="-120"/>
              </a:rPr>
              <a:t> adds or takes off credit: the amount, then the reason.</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Card top-ups arrive in wallets by themselves.</a:t>
            </a:r>
            <a:endParaRPr lang="en-US" sz="1400" dirty="0"/>
          </a:p>
        </p:txBody>
      </p:sp>
      <p:sp>
        <p:nvSpPr>
          <p:cNvPr id="6" name="Text 4"/>
          <p:cNvSpPr/>
          <p:nvPr/>
        </p:nvSpPr>
        <p:spPr>
          <a:xfrm>
            <a:off x="819150" y="3265177"/>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When to adjust:</a:t>
            </a:r>
            <a:r>
              <a:rPr lang="en-US" sz="1200" dirty="0">
                <a:solidFill>
                  <a:srgbClr val="3D4A5C"/>
                </a:solidFill>
                <a:latin typeface="DM Sans" pitchFamily="34" charset="0"/>
                <a:ea typeface="DM Sans" pitchFamily="34" charset="-122"/>
                <a:cs typeface="DM Sans" pitchFamily="34" charset="-120"/>
              </a:rPr>
              <a:t> a refund made outside Stripe, or putting a mistake right. The reason is saved with it.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Who can sign in, listing members with their wallet balances"/>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33259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5 · MONEY AND REPORTS</a:t>
            </a:r>
            <a:endParaRPr lang="en-US" sz="1200" dirty="0"/>
          </a:p>
        </p:txBody>
      </p:sp>
      <p:sp>
        <p:nvSpPr>
          <p:cNvPr id="3" name="Text 1"/>
          <p:cNvSpPr/>
          <p:nvPr/>
        </p:nvSpPr>
        <p:spPr>
          <a:xfrm>
            <a:off x="3145393" y="609600"/>
            <a:ext cx="1635998" cy="264160"/>
          </a:xfrm>
          <a:custGeom>
            <a:avLst/>
            <a:gdLst/>
            <a:ahLst/>
            <a:cxnLst/>
            <a:rect l="l" t="t" r="r" b="b"/>
            <a:pathLst>
              <a:path w="1635998" h="264160">
                <a:moveTo>
                  <a:pt x="132080" y="0"/>
                </a:moveTo>
                <a:lnTo>
                  <a:pt x="1503918" y="0"/>
                </a:lnTo>
                <a:arcTo wR="132080" hR="132080" stAng="16200000" swAng="5400000"/>
                <a:lnTo>
                  <a:pt x="1635998"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Committee · Senior</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money report</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Reports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Wallet &amp; money</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the dates (or </a:t>
            </a:r>
            <a:r>
              <a:rPr lang="en-US" sz="1400" b="1" dirty="0">
                <a:solidFill>
                  <a:srgbClr val="3D4A5C"/>
                </a:solidFill>
                <a:latin typeface="DM Sans" pitchFamily="34" charset="0"/>
                <a:ea typeface="DM Sans" pitchFamily="34" charset="-122"/>
                <a:cs typeface="DM Sans" pitchFamily="34" charset="-120"/>
              </a:rPr>
              <a:t>Last month</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Run report</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Totals in and out, and a line confirming it adds up.</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Download transactions (CSV)</a:t>
            </a:r>
            <a:r>
              <a:rPr lang="en-US" sz="1400" dirty="0">
                <a:solidFill>
                  <a:srgbClr val="3D4A5C"/>
                </a:solidFill>
                <a:latin typeface="DM Sans" pitchFamily="34" charset="0"/>
                <a:ea typeface="DM Sans" pitchFamily="34" charset="-122"/>
                <a:cs typeface="DM Sans" pitchFamily="34" charset="-120"/>
              </a:rPr>
              <a:t> for the treasurer.</a:t>
            </a:r>
            <a:endParaRPr lang="en-US" sz="1400" dirty="0"/>
          </a:p>
        </p:txBody>
      </p:sp>
      <p:sp>
        <p:nvSpPr>
          <p:cNvPr id="6" name="Text 4"/>
          <p:cNvSpPr/>
          <p:nvPr/>
        </p:nvSpPr>
        <p:spPr>
          <a:xfrm>
            <a:off x="819150" y="3514105"/>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Card payments</a:t>
            </a:r>
            <a:r>
              <a:rPr lang="en-US" sz="1200" dirty="0">
                <a:solidFill>
                  <a:srgbClr val="3D4A5C"/>
                </a:solidFill>
                <a:latin typeface="DM Sans" pitchFamily="34" charset="0"/>
                <a:ea typeface="DM Sans" pitchFamily="34" charset="-122"/>
                <a:cs typeface="DM Sans" pitchFamily="34" charset="-120"/>
              </a:rPr>
              <a:t> go straight to the club’s own Stripe account.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Wallet and money report with its totals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55"/>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6</a:t>
            </a:r>
            <a:endParaRPr lang="en-US" sz="6000" dirty="0"/>
          </a:p>
        </p:txBody>
      </p:sp>
      <p:sp>
        <p:nvSpPr>
          <p:cNvPr id="4" name="Text 2"/>
          <p:cNvSpPr>
            <a:spLocks noGrp="1"/>
          </p:cNvSpPr>
          <p:nvPr>
            <p:ph type="title"/>
          </p:nvPr>
        </p:nvSpPr>
        <p:spPr>
          <a:xfrm>
            <a:off x="812800" y="2919735"/>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Club settings</a:t>
            </a:r>
            <a:endParaRPr lang="en-US" sz="4800" dirty="0"/>
          </a:p>
        </p:txBody>
      </p:sp>
      <p:sp>
        <p:nvSpPr>
          <p:cNvPr id="5" name="Text 3"/>
          <p:cNvSpPr/>
          <p:nvPr/>
        </p:nvSpPr>
        <p:spPr>
          <a:xfrm>
            <a:off x="812800" y="3763020"/>
            <a:ext cx="850265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Booking rules, joining online, children, and emergency contacts for everyone who plays.</a:t>
            </a:r>
            <a:endParaRPr lang="en-US" sz="1700" dirty="0"/>
          </a:p>
        </p:txBody>
      </p:sp>
      <p:sp>
        <p:nvSpPr>
          <p:cNvPr id="6" name="Text 4"/>
          <p:cNvSpPr/>
          <p:nvPr/>
        </p:nvSpPr>
        <p:spPr>
          <a:xfrm>
            <a:off x="812800" y="4570735"/>
            <a:ext cx="1157208"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7891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6 · CLUB SETTINGS</a:t>
            </a:r>
            <a:endParaRPr lang="en-US" sz="1200" dirty="0"/>
          </a:p>
        </p:txBody>
      </p:sp>
      <p:sp>
        <p:nvSpPr>
          <p:cNvPr id="3" name="Text 1"/>
          <p:cNvSpPr/>
          <p:nvPr/>
        </p:nvSpPr>
        <p:spPr>
          <a:xfrm>
            <a:off x="2601992"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7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Finding a setting</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Admin</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Club settings</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Settings sit in seven groups. Click a group to open it.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Change what you need, then </a:t>
            </a:r>
            <a:r>
              <a:rPr lang="en-US" sz="1400" b="1" dirty="0">
                <a:solidFill>
                  <a:srgbClr val="3D4A5C"/>
                </a:solidFill>
                <a:latin typeface="DM Sans" pitchFamily="34" charset="0"/>
                <a:ea typeface="DM Sans" pitchFamily="34" charset="-122"/>
                <a:cs typeface="DM Sans" pitchFamily="34" charset="-120"/>
              </a:rPr>
              <a:t>Save club settings</a:t>
            </a:r>
            <a:r>
              <a:rPr lang="en-US" sz="1400" dirty="0">
                <a:solidFill>
                  <a:srgbClr val="3D4A5C"/>
                </a:solidFill>
                <a:latin typeface="DM Sans" pitchFamily="34" charset="0"/>
                <a:ea typeface="DM Sans" pitchFamily="34" charset="-122"/>
                <a:cs typeface="DM Sans" pitchFamily="34" charset="-120"/>
              </a:rPr>
              <a:t> at the bottom.</a:t>
            </a:r>
            <a:endParaRPr lang="en-US" sz="1400" dirty="0"/>
          </a:p>
        </p:txBody>
      </p:sp>
      <p:sp>
        <p:nvSpPr>
          <p:cNvPr id="6" name="Text 4"/>
          <p:cNvSpPr/>
          <p:nvPr/>
        </p:nvSpPr>
        <p:spPr>
          <a:xfrm>
            <a:off x="819150" y="3016250"/>
            <a:ext cx="3898900" cy="89391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The groups:</a:t>
            </a:r>
            <a:r>
              <a:rPr lang="en-US" sz="1200" dirty="0">
                <a:solidFill>
                  <a:srgbClr val="3D4A5C"/>
                </a:solidFill>
                <a:latin typeface="DM Sans" pitchFamily="34" charset="0"/>
                <a:ea typeface="DM Sans" pitchFamily="34" charset="-122"/>
                <a:cs typeface="DM Sans" pitchFamily="34" charset="-120"/>
              </a:rPr>
              <a:t> Your club · Venues · Leaderboard · Social page · Prices · Booking · Joining and members.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lub settings with its six groups closed, and Save club settings below"/>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55"/>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7891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6 · CLUB SETTINGS</a:t>
            </a:r>
            <a:endParaRPr lang="en-US" sz="1200" dirty="0"/>
          </a:p>
        </p:txBody>
      </p:sp>
      <p:sp>
        <p:nvSpPr>
          <p:cNvPr id="3" name="Text 1"/>
          <p:cNvSpPr/>
          <p:nvPr/>
        </p:nvSpPr>
        <p:spPr>
          <a:xfrm>
            <a:off x="2601992"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7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Booking rules</a:t>
            </a:r>
            <a:endParaRPr lang="en-US" sz="2800" dirty="0"/>
          </a:p>
        </p:txBody>
      </p:sp>
      <p:sp>
        <p:nvSpPr>
          <p:cNvPr id="5" name="Text 3"/>
          <p:cNvSpPr/>
          <p:nvPr/>
        </p:nvSpPr>
        <p:spPr>
          <a:xfrm>
            <a:off x="876300" y="1612900"/>
            <a:ext cx="3957828" cy="229870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Club settings</a:t>
            </a:r>
            <a:r>
              <a:rPr lang="en-US" sz="1400" dirty="0">
                <a:solidFill>
                  <a:srgbClr val="3D4A5C"/>
                </a:solidFill>
                <a:latin typeface="DM Sans" pitchFamily="34" charset="0"/>
                <a:ea typeface="DM Sans" pitchFamily="34" charset="-122"/>
                <a:cs typeface="DM Sans" pitchFamily="34" charset="-120"/>
              </a:rPr>
              <a:t> → open </a:t>
            </a:r>
            <a:r>
              <a:rPr lang="en-US" sz="1400" b="1" dirty="0">
                <a:solidFill>
                  <a:srgbClr val="3D4A5C"/>
                </a:solidFill>
                <a:latin typeface="DM Sans" pitchFamily="34" charset="0"/>
                <a:ea typeface="DM Sans" pitchFamily="34" charset="-122"/>
                <a:cs typeface="DM Sans" pitchFamily="34" charset="-120"/>
              </a:rPr>
              <a:t>Booking</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How many days before a session booking opens, and how long non-members wait.</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Lock sessions before the start</a:t>
            </a:r>
            <a:r>
              <a:rPr lang="en-US" sz="1400" dirty="0">
                <a:solidFill>
                  <a:srgbClr val="3D4A5C"/>
                </a:solidFill>
                <a:latin typeface="DM Sans" pitchFamily="34" charset="0"/>
                <a:ea typeface="DM Sans" pitchFamily="34" charset="-122"/>
                <a:cs typeface="DM Sans" pitchFamily="34" charset="-120"/>
              </a:rPr>
              <a:t>: when new bookings close, and until when the waiting list keeps moving up.</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Whether visitors can see who’s booked, and how many weeks of sessions members see before booking opens.</a:t>
            </a:r>
            <a:endParaRPr lang="en-US" sz="1400" dirty="0"/>
          </a:p>
        </p:txBody>
      </p:sp>
      <p:sp>
        <p:nvSpPr>
          <p:cNvPr id="6" name="Text 4"/>
          <p:cNvSpPr/>
          <p:nvPr/>
        </p:nvSpPr>
        <p:spPr>
          <a:xfrm>
            <a:off x="819150" y="4044945"/>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The usual price</a:t>
            </a:r>
            <a:r>
              <a:rPr lang="en-US" sz="1200" dirty="0">
                <a:solidFill>
                  <a:srgbClr val="3D4A5C"/>
                </a:solidFill>
                <a:latin typeface="DM Sans" pitchFamily="34" charset="0"/>
                <a:ea typeface="DM Sans" pitchFamily="34" charset="-122"/>
                <a:cs typeface="DM Sans" pitchFamily="34" charset="-120"/>
              </a:rPr>
              <a:t> a new session starts at is under </a:t>
            </a:r>
            <a:r>
              <a:rPr lang="en-US" sz="1200" b="1" dirty="0">
                <a:solidFill>
                  <a:srgbClr val="3D4A5C"/>
                </a:solidFill>
                <a:latin typeface="DM Sans" pitchFamily="34" charset="0"/>
                <a:ea typeface="DM Sans" pitchFamily="34" charset="-122"/>
                <a:cs typeface="DM Sans" pitchFamily="34" charset="-120"/>
              </a:rPr>
              <a:t>Prices</a:t>
            </a:r>
            <a:r>
              <a:rPr lang="en-US" sz="1200" dirty="0">
                <a:solidFill>
                  <a:srgbClr val="3D4A5C"/>
                </a:solidFill>
                <a:latin typeface="DM Sans" pitchFamily="34" charset="0"/>
                <a:ea typeface="DM Sans" pitchFamily="34" charset="-122"/>
                <a:cs typeface="DM Sans" pitchFamily="34" charset="-120"/>
              </a:rPr>
              <a:t>. </a:t>
            </a:r>
            <a:r>
              <a:rPr lang="en-US" sz="1200" b="1" dirty="0">
                <a:solidFill>
                  <a:srgbClr val="3D4A5C"/>
                </a:solidFill>
                <a:latin typeface="DM Sans" pitchFamily="34" charset="0"/>
                <a:ea typeface="DM Sans" pitchFamily="34" charset="-122"/>
                <a:cs typeface="DM Sans" pitchFamily="34" charset="-120"/>
              </a:rPr>
              <a:t>Save club settings</a:t>
            </a:r>
            <a:r>
              <a:rPr lang="en-US" sz="1200" dirty="0">
                <a:solidFill>
                  <a:srgbClr val="3D4A5C"/>
                </a:solidFill>
                <a:latin typeface="DM Sans" pitchFamily="34" charset="0"/>
                <a:ea typeface="DM Sans" pitchFamily="34" charset="-122"/>
                <a:cs typeface="DM Sans" pitchFamily="34" charset="-120"/>
              </a:rPr>
              <a:t> when you’ve finished.</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lub settings, Booking, with Show sessions up to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55"/>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7891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6 · CLUB SETTINGS</a:t>
            </a:r>
            <a:endParaRPr lang="en-US" sz="1200" dirty="0"/>
          </a:p>
        </p:txBody>
      </p:sp>
      <p:sp>
        <p:nvSpPr>
          <p:cNvPr id="3" name="Text 1"/>
          <p:cNvSpPr/>
          <p:nvPr/>
        </p:nvSpPr>
        <p:spPr>
          <a:xfrm>
            <a:off x="2601992"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7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Joining, children and emergency contacts</a:t>
            </a:r>
            <a:endParaRPr lang="en-US" sz="2800" dirty="0"/>
          </a:p>
        </p:txBody>
      </p:sp>
      <p:sp>
        <p:nvSpPr>
          <p:cNvPr id="5" name="Text 3"/>
          <p:cNvSpPr/>
          <p:nvPr/>
        </p:nvSpPr>
        <p:spPr>
          <a:xfrm>
            <a:off x="876300" y="1612900"/>
            <a:ext cx="3957828" cy="226568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Club settings</a:t>
            </a:r>
            <a:r>
              <a:rPr lang="en-US" sz="1400" dirty="0">
                <a:solidFill>
                  <a:srgbClr val="3D4A5C"/>
                </a:solidFill>
                <a:latin typeface="DM Sans" pitchFamily="34" charset="0"/>
                <a:ea typeface="DM Sans" pitchFamily="34" charset="-122"/>
                <a:cs typeface="DM Sans" pitchFamily="34" charset="-120"/>
              </a:rPr>
              <a:t> → open </a:t>
            </a:r>
            <a:r>
              <a:rPr lang="en-US" sz="1400" b="1" dirty="0">
                <a:solidFill>
                  <a:srgbClr val="3D4A5C"/>
                </a:solidFill>
                <a:latin typeface="DM Sans" pitchFamily="34" charset="0"/>
                <a:ea typeface="DM Sans" pitchFamily="34" charset="-122"/>
                <a:cs typeface="DM Sans" pitchFamily="34" charset="-120"/>
              </a:rPr>
              <a:t>Joining and members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Let new players join online</a:t>
            </a:r>
            <a:r>
              <a:rPr lang="en-US" sz="1400" dirty="0">
                <a:solidFill>
                  <a:srgbClr val="3D4A5C"/>
                </a:solidFill>
                <a:latin typeface="DM Sans" pitchFamily="34" charset="0"/>
                <a:ea typeface="DM Sans" pitchFamily="34" charset="-122"/>
                <a:cs typeface="DM Sans" pitchFamily="34" charset="-120"/>
              </a:rPr>
              <a:t> gives you a join link to share.</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Members can add people they look after</a:t>
            </a:r>
            <a:r>
              <a:rPr lang="en-US" sz="1400" dirty="0">
                <a:solidFill>
                  <a:srgbClr val="3D4A5C"/>
                </a:solidFill>
                <a:latin typeface="DM Sans" pitchFamily="34" charset="0"/>
                <a:ea typeface="DM Sans" pitchFamily="34" charset="-122"/>
                <a:cs typeface="DM Sans" pitchFamily="34" charset="-120"/>
              </a:rPr>
              <a:t>: switch off if the club doesn’t take children.</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Ask everyone who books for an emergency contact</a:t>
            </a:r>
            <a:r>
              <a:rPr lang="en-US" sz="1400" dirty="0">
                <a:solidFill>
                  <a:srgbClr val="3D4A5C"/>
                </a:solidFill>
                <a:latin typeface="DM Sans" pitchFamily="34" charset="0"/>
                <a:ea typeface="DM Sans" pitchFamily="34" charset="-122"/>
                <a:cs typeface="DM Sans" pitchFamily="34" charset="-120"/>
              </a:rPr>
              <a:t>: visitors too, before their first booking.</a:t>
            </a:r>
            <a:endParaRPr lang="en-US" sz="1400" dirty="0"/>
          </a:p>
        </p:txBody>
      </p:sp>
      <p:sp>
        <p:nvSpPr>
          <p:cNvPr id="6" name="Text 4"/>
          <p:cNvSpPr/>
          <p:nvPr/>
        </p:nvSpPr>
        <p:spPr>
          <a:xfrm>
            <a:off x="819150" y="4011935"/>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dirty="0">
                <a:solidFill>
                  <a:srgbClr val="3D4A5C"/>
                </a:solidFill>
                <a:latin typeface="DM Sans" pitchFamily="34" charset="0"/>
                <a:ea typeface="DM Sans" pitchFamily="34" charset="-122"/>
                <a:cs typeface="DM Sans" pitchFamily="34" charset="-120"/>
              </a:rPr>
              <a:t>Asking everyone for a contact? Add a line about it to the club’s privacy notice.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Joining and members group open in Club settings, with the emergency contact switch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55"/>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7</a:t>
            </a:r>
            <a:endParaRPr lang="en-US" sz="6000" dirty="0"/>
          </a:p>
        </p:txBody>
      </p:sp>
      <p:sp>
        <p:nvSpPr>
          <p:cNvPr id="4" name="Text 2"/>
          <p:cNvSpPr>
            <a:spLocks noGrp="1"/>
          </p:cNvSpPr>
          <p:nvPr>
            <p:ph type="title"/>
          </p:nvPr>
        </p:nvSpPr>
        <p:spPr>
          <a:xfrm>
            <a:off x="812800" y="2919735"/>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Members and logins</a:t>
            </a:r>
            <a:endParaRPr lang="en-US" sz="4800" dirty="0"/>
          </a:p>
        </p:txBody>
      </p:sp>
      <p:sp>
        <p:nvSpPr>
          <p:cNvPr id="5" name="Text 3"/>
          <p:cNvSpPr/>
          <p:nvPr/>
        </p:nvSpPr>
        <p:spPr>
          <a:xfrm>
            <a:off x="812800" y="3763020"/>
            <a:ext cx="850265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Member records and their details, bringing members in from a spreadsheet, and adding players.</a:t>
            </a:r>
            <a:endParaRPr lang="en-US" sz="1700" dirty="0"/>
          </a:p>
        </p:txBody>
      </p:sp>
      <p:sp>
        <p:nvSpPr>
          <p:cNvPr id="6" name="Text 4"/>
          <p:cNvSpPr/>
          <p:nvPr/>
        </p:nvSpPr>
        <p:spPr>
          <a:xfrm>
            <a:off x="812800" y="4570735"/>
            <a:ext cx="1157208"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0315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7 · MEMBERS AND LOGINS</a:t>
            </a:r>
            <a:endParaRPr lang="en-US" sz="1200" dirty="0"/>
          </a:p>
        </p:txBody>
      </p:sp>
      <p:sp>
        <p:nvSpPr>
          <p:cNvPr id="3" name="Text 1"/>
          <p:cNvSpPr/>
          <p:nvPr/>
        </p:nvSpPr>
        <p:spPr>
          <a:xfrm>
            <a:off x="3215958"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7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Member records</a:t>
            </a:r>
            <a:endParaRPr lang="en-US" sz="2800" dirty="0"/>
          </a:p>
        </p:txBody>
      </p:sp>
      <p:sp>
        <p:nvSpPr>
          <p:cNvPr id="5" name="Text 3"/>
          <p:cNvSpPr/>
          <p:nvPr/>
        </p:nvSpPr>
        <p:spPr>
          <a:xfrm>
            <a:off x="876300" y="1612900"/>
            <a:ext cx="3957828" cy="201676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Member records</a:t>
            </a:r>
            <a:r>
              <a:rPr lang="en-US" sz="1400" dirty="0">
                <a:solidFill>
                  <a:srgbClr val="3D4A5C"/>
                </a:solidFill>
                <a:latin typeface="DM Sans" pitchFamily="34" charset="0"/>
                <a:ea typeface="DM Sans" pitchFamily="34" charset="-122"/>
                <a:cs typeface="DM Sans" pitchFamily="34" charset="-120"/>
              </a:rPr>
              <a:t>: filters find, say, details missing or juniors.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a record: contact details, emergency contacts, agreements.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From a paper form</a:t>
            </a:r>
            <a:r>
              <a:rPr lang="en-US" sz="1400" dirty="0">
                <a:solidFill>
                  <a:srgbClr val="3D4A5C"/>
                </a:solidFill>
                <a:latin typeface="DM Sans" pitchFamily="34" charset="0"/>
                <a:ea typeface="DM Sans" pitchFamily="34" charset="-122"/>
                <a:cs typeface="DM Sans" pitchFamily="34" charset="-120"/>
              </a:rPr>
              <a:t>: type it in; tick only what they ticked.</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Show consent history</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Erase details…</a:t>
            </a:r>
            <a:r>
              <a:rPr lang="en-US" sz="1400" dirty="0">
                <a:solidFill>
                  <a:srgbClr val="3D4A5C"/>
                </a:solidFill>
                <a:latin typeface="DM Sans" pitchFamily="34" charset="0"/>
                <a:ea typeface="DM Sans" pitchFamily="34" charset="-122"/>
                <a:cs typeface="DM Sans" pitchFamily="34" charset="-120"/>
              </a:rPr>
              <a:t> when asked.</a:t>
            </a:r>
            <a:endParaRPr lang="en-US" sz="1400" dirty="0"/>
          </a:p>
        </p:txBody>
      </p:sp>
      <p:sp>
        <p:nvSpPr>
          <p:cNvPr id="6" name="Text 4"/>
          <p:cNvSpPr/>
          <p:nvPr/>
        </p:nvSpPr>
        <p:spPr>
          <a:xfrm>
            <a:off x="819150" y="376302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Personal data.</a:t>
            </a:r>
            <a:r>
              <a:rPr lang="en-US" sz="1200" dirty="0">
                <a:solidFill>
                  <a:srgbClr val="3D4A5C"/>
                </a:solidFill>
                <a:latin typeface="DM Sans" pitchFamily="34" charset="0"/>
                <a:ea typeface="DM Sans" pitchFamily="34" charset="-122"/>
                <a:cs typeface="DM Sans" pitchFamily="34" charset="-120"/>
              </a:rPr>
              <a:t> Every record you open is recorded.</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member's record showing contact details, emergency contacts and agreements"/>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55"/>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0315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7 · MEMBERS AND LOGINS</a:t>
            </a:r>
            <a:endParaRPr lang="en-US" sz="1200" dirty="0"/>
          </a:p>
        </p:txBody>
      </p:sp>
      <p:sp>
        <p:nvSpPr>
          <p:cNvPr id="3" name="Text 1"/>
          <p:cNvSpPr/>
          <p:nvPr/>
        </p:nvSpPr>
        <p:spPr>
          <a:xfrm>
            <a:off x="3215958"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7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Bringing members in from a spreadsheet</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Download template</a:t>
            </a:r>
            <a:r>
              <a:rPr lang="en-US" sz="1400" dirty="0">
                <a:solidFill>
                  <a:srgbClr val="3D4A5C"/>
                </a:solidFill>
                <a:latin typeface="DM Sans" pitchFamily="34" charset="0"/>
                <a:ea typeface="DM Sans" pitchFamily="34" charset="-122"/>
                <a:cs typeface="DM Sans" pitchFamily="34" charset="-120"/>
              </a:rPr>
              <a:t>, fill one row per person, save as CSV.</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Upload filled-in file</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Check the preview: who’s new, who’s updated, any problems.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Happy? Click </a:t>
            </a:r>
            <a:r>
              <a:rPr lang="en-US" sz="1400" b="1" dirty="0">
                <a:solidFill>
                  <a:srgbClr val="3D4A5C"/>
                </a:solidFill>
                <a:latin typeface="DM Sans" pitchFamily="34" charset="0"/>
                <a:ea typeface="DM Sans" pitchFamily="34" charset="-122"/>
                <a:cs typeface="DM Sans" pitchFamily="34" charset="-120"/>
              </a:rPr>
              <a:t>Import</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65"/>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Nothing is saved until you click Import.</a:t>
            </a:r>
            <a:r>
              <a:rPr lang="en-US" sz="1200" dirty="0">
                <a:solidFill>
                  <a:srgbClr val="3D4A5C"/>
                </a:solidFill>
                <a:latin typeface="DM Sans" pitchFamily="34" charset="0"/>
                <a:ea typeface="DM Sans" pitchFamily="34" charset="-122"/>
                <a:cs typeface="DM Sans" pitchFamily="34" charset="-120"/>
              </a:rPr>
              <a:t> A blank cell never wipes what’s already on file.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import preview listing new and updated people before anything is sav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55"/>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0315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7 · MEMBERS AND LOGINS</a:t>
            </a:r>
            <a:endParaRPr lang="en-US" sz="1200" dirty="0"/>
          </a:p>
        </p:txBody>
      </p:sp>
      <p:sp>
        <p:nvSpPr>
          <p:cNvPr id="3" name="Text 1"/>
          <p:cNvSpPr/>
          <p:nvPr/>
        </p:nvSpPr>
        <p:spPr>
          <a:xfrm>
            <a:off x="3215958" y="609600"/>
            <a:ext cx="678101" cy="264160"/>
          </a:xfrm>
          <a:custGeom>
            <a:avLst/>
            <a:gdLst/>
            <a:ahLst/>
            <a:cxnLst/>
            <a:rect l="l" t="t" r="r" b="b"/>
            <a:pathLst>
              <a:path w="678101" h="264160">
                <a:moveTo>
                  <a:pt x="132080" y="0"/>
                </a:moveTo>
                <a:lnTo>
                  <a:pt x="546021" y="0"/>
                </a:lnTo>
                <a:arcTo wR="132080" hR="132080" stAng="16200000" swAng="5400000"/>
                <a:lnTo>
                  <a:pt x="678101"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a:spLocks noGrp="1"/>
          </p:cNvSpPr>
          <p:nvPr>
            <p:ph type="title"/>
          </p:nvPr>
        </p:nvSpPr>
        <p:spPr>
          <a:xfrm>
            <a:off x="812800" y="94997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Adding players and logins</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Players &amp; logins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Add a player</a:t>
            </a:r>
            <a:r>
              <a:rPr lang="en-US" sz="1400" dirty="0">
                <a:solidFill>
                  <a:srgbClr val="3D4A5C"/>
                </a:solidFill>
                <a:latin typeface="DM Sans" pitchFamily="34" charset="0"/>
                <a:ea typeface="DM Sans" pitchFamily="34" charset="-122"/>
                <a:cs typeface="DM Sans" pitchFamily="34" charset="-120"/>
              </a:rPr>
              <a:t>: name, gender, email and a starting rating.</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 Add</a:t>
            </a:r>
            <a:r>
              <a:rPr lang="en-US" sz="1400" dirty="0">
                <a:solidFill>
                  <a:srgbClr val="3D4A5C"/>
                </a:solidFill>
                <a:latin typeface="DM Sans" pitchFamily="34" charset="0"/>
                <a:ea typeface="DM Sans" pitchFamily="34" charset="-122"/>
                <a:cs typeface="DM Sans" pitchFamily="34" charset="-120"/>
              </a:rPr>
              <a:t>. With an email, they can sign in and book straight away.</a:t>
            </a:r>
            <a:endParaRPr lang="en-US" sz="1400" dirty="0"/>
          </a:p>
          <a:p>
            <a:pPr marL="187643" indent="-187643"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Can log in</a:t>
            </a:r>
            <a:r>
              <a:rPr lang="en-US" sz="1400" dirty="0">
                <a:solidFill>
                  <a:srgbClr val="3D4A5C"/>
                </a:solidFill>
                <a:latin typeface="DM Sans" pitchFamily="34" charset="0"/>
                <a:ea typeface="DM Sans" pitchFamily="34" charset="-122"/>
                <a:cs typeface="DM Sans" pitchFamily="34" charset="-120"/>
              </a:rPr>
              <a:t> shows who can sign in to book.</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Already listed, no login?</a:t>
            </a:r>
            <a:r>
              <a:rPr lang="en-US" sz="1200" dirty="0">
                <a:solidFill>
                  <a:srgbClr val="3D4A5C"/>
                </a:solidFill>
                <a:latin typeface="DM Sans" pitchFamily="34" charset="0"/>
                <a:ea typeface="DM Sans" pitchFamily="34" charset="-122"/>
                <a:cs typeface="DM Sans" pitchFamily="34" charset="-120"/>
              </a:rPr>
              <a:t> Add their email, then </a:t>
            </a:r>
            <a:r>
              <a:rPr lang="en-US" sz="1200" b="1" dirty="0">
                <a:solidFill>
                  <a:srgbClr val="3D4A5C"/>
                </a:solidFill>
                <a:latin typeface="DM Sans" pitchFamily="34" charset="0"/>
                <a:ea typeface="DM Sans" pitchFamily="34" charset="-122"/>
                <a:cs typeface="DM Sans" pitchFamily="34" charset="-120"/>
              </a:rPr>
              <a:t>Give them access to booking</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Add a player form in Players and logins"/>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55"/>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a:spLocks noGrp="1"/>
          </p:cNvSpPr>
          <p:nvPr>
            <p:ph type="title"/>
          </p:nvPr>
        </p:nvSpPr>
        <p:spPr>
          <a:xfrm>
            <a:off x="812800" y="1788170"/>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Help when you need it</a:t>
            </a:r>
            <a:endParaRPr lang="en-US" sz="4800" dirty="0"/>
          </a:p>
        </p:txBody>
      </p:sp>
      <p:sp>
        <p:nvSpPr>
          <p:cNvPr id="4" name="Shape 2"/>
          <p:cNvSpPr/>
          <p:nvPr/>
        </p:nvSpPr>
        <p:spPr>
          <a:xfrm>
            <a:off x="812800" y="2733055"/>
            <a:ext cx="3386614" cy="2336800"/>
          </a:xfrm>
          <a:prstGeom prst="roundRect">
            <a:avLst>
              <a:gd name="adj" fmla="val 5435"/>
            </a:avLst>
          </a:prstGeom>
          <a:solidFill>
            <a:srgbClr val="1D2939"/>
          </a:solidFill>
          <a:ln/>
        </p:spPr>
      </p:sp>
      <p:pic>
        <p:nvPicPr>
          <p:cNvPr id="5" name="Image 0" descr="Book"/>
          <p:cNvPicPr>
            <a:picLocks noChangeAspect="1"/>
          </p:cNvPicPr>
          <p:nvPr/>
        </p:nvPicPr>
        <p:blipFill>
          <a:blip r:embed="rId3"/>
          <a:srcRect/>
          <a:stretch/>
        </p:blipFill>
        <p:spPr>
          <a:xfrm>
            <a:off x="1066800" y="2987055"/>
            <a:ext cx="355600" cy="355600"/>
          </a:xfrm>
          <a:prstGeom prst="rect">
            <a:avLst/>
          </a:prstGeom>
        </p:spPr>
      </p:pic>
      <p:sp>
        <p:nvSpPr>
          <p:cNvPr id="6" name="Text 3"/>
          <p:cNvSpPr/>
          <p:nvPr/>
        </p:nvSpPr>
        <p:spPr>
          <a:xfrm>
            <a:off x="1066800" y="3444255"/>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Help &amp; guides</a:t>
            </a:r>
            <a:endParaRPr lang="en-US" sz="1800" dirty="0"/>
          </a:p>
        </p:txBody>
      </p:sp>
      <p:sp>
        <p:nvSpPr>
          <p:cNvPr id="7" name="Text 4"/>
          <p:cNvSpPr/>
          <p:nvPr/>
        </p:nvSpPr>
        <p:spPr>
          <a:xfrm>
            <a:off x="1066800" y="3820170"/>
            <a:ext cx="296497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Bottom of the menu. Every job step by step, with pictures. You only see the guides for what you can do.</a:t>
            </a:r>
            <a:endParaRPr lang="en-US" sz="1400" dirty="0"/>
          </a:p>
        </p:txBody>
      </p:sp>
      <p:sp>
        <p:nvSpPr>
          <p:cNvPr id="8" name="Shape 5"/>
          <p:cNvSpPr/>
          <p:nvPr/>
        </p:nvSpPr>
        <p:spPr>
          <a:xfrm>
            <a:off x="4402614" y="2733055"/>
            <a:ext cx="3386693" cy="2336800"/>
          </a:xfrm>
          <a:prstGeom prst="roundRect">
            <a:avLst>
              <a:gd name="adj" fmla="val 5435"/>
            </a:avLst>
          </a:prstGeom>
          <a:solidFill>
            <a:srgbClr val="1D2939"/>
          </a:solidFill>
          <a:ln/>
        </p:spPr>
      </p:sp>
      <p:pic>
        <p:nvPicPr>
          <p:cNvPr id="9" name="Image 1" descr="Users"/>
          <p:cNvPicPr>
            <a:picLocks noChangeAspect="1"/>
          </p:cNvPicPr>
          <p:nvPr/>
        </p:nvPicPr>
        <p:blipFill>
          <a:blip r:embed="rId4"/>
          <a:srcRect/>
          <a:stretch/>
        </p:blipFill>
        <p:spPr>
          <a:xfrm>
            <a:off x="4656614" y="2987055"/>
            <a:ext cx="355600" cy="355600"/>
          </a:xfrm>
          <a:prstGeom prst="rect">
            <a:avLst/>
          </a:prstGeom>
        </p:spPr>
      </p:pic>
      <p:sp>
        <p:nvSpPr>
          <p:cNvPr id="10" name="Text 6"/>
          <p:cNvSpPr/>
          <p:nvPr/>
        </p:nvSpPr>
        <p:spPr>
          <a:xfrm>
            <a:off x="4656614" y="3444255"/>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Your club’s Seniors</a:t>
            </a:r>
            <a:endParaRPr lang="en-US" sz="1800" dirty="0"/>
          </a:p>
        </p:txBody>
      </p:sp>
      <p:sp>
        <p:nvSpPr>
          <p:cNvPr id="11" name="Text 7"/>
          <p:cNvSpPr/>
          <p:nvPr/>
        </p:nvSpPr>
        <p:spPr>
          <a:xfrm>
            <a:off x="4656614" y="3820170"/>
            <a:ext cx="296505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For changing what your level can do, or adding a new admin: [name and contact].</a:t>
            </a:r>
            <a:endParaRPr lang="en-US" sz="1400" dirty="0"/>
          </a:p>
        </p:txBody>
      </p:sp>
      <p:sp>
        <p:nvSpPr>
          <p:cNvPr id="12" name="Shape 8"/>
          <p:cNvSpPr/>
          <p:nvPr/>
        </p:nvSpPr>
        <p:spPr>
          <a:xfrm>
            <a:off x="7992507" y="2733055"/>
            <a:ext cx="3386693" cy="2336800"/>
          </a:xfrm>
          <a:prstGeom prst="roundRect">
            <a:avLst>
              <a:gd name="adj" fmla="val 5435"/>
            </a:avLst>
          </a:prstGeom>
          <a:solidFill>
            <a:srgbClr val="1D2939"/>
          </a:solidFill>
          <a:ln/>
        </p:spPr>
      </p:sp>
      <p:pic>
        <p:nvPicPr>
          <p:cNvPr id="13" name="Image 2" descr="Chat"/>
          <p:cNvPicPr>
            <a:picLocks noChangeAspect="1"/>
          </p:cNvPicPr>
          <p:nvPr/>
        </p:nvPicPr>
        <p:blipFill>
          <a:blip r:embed="rId5"/>
          <a:srcRect/>
          <a:stretch/>
        </p:blipFill>
        <p:spPr>
          <a:xfrm>
            <a:off x="8246507" y="2987055"/>
            <a:ext cx="355600" cy="355600"/>
          </a:xfrm>
          <a:prstGeom prst="rect">
            <a:avLst/>
          </a:prstGeom>
        </p:spPr>
      </p:pic>
      <p:sp>
        <p:nvSpPr>
          <p:cNvPr id="14" name="Text 9"/>
          <p:cNvSpPr/>
          <p:nvPr/>
        </p:nvSpPr>
        <p:spPr>
          <a:xfrm>
            <a:off x="8246507" y="3444255"/>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twoclear</a:t>
            </a:r>
            <a:endParaRPr lang="en-US" sz="1800" dirty="0"/>
          </a:p>
        </p:txBody>
      </p:sp>
      <p:sp>
        <p:nvSpPr>
          <p:cNvPr id="15" name="Text 10"/>
          <p:cNvSpPr/>
          <p:nvPr/>
        </p:nvSpPr>
        <p:spPr>
          <a:xfrm>
            <a:off x="8246507" y="3820170"/>
            <a:ext cx="296505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Something not working as it should? hello@twoclear.co.uk</a:t>
            </a:r>
            <a:endParaRPr lang="en-US" sz="1400" dirty="0"/>
          </a:p>
        </p:txBody>
      </p:sp>
      <p:pic>
        <p:nvPicPr>
          <p:cNvPr id="16" name="Image 3" descr="twoclear"/>
          <p:cNvPicPr>
            <a:picLocks noChangeAspect="1"/>
          </p:cNvPicPr>
          <p:nvPr/>
        </p:nvPicPr>
        <p:blipFill>
          <a:blip r:embed="rId6"/>
          <a:srcRect l="-224" r="-224"/>
          <a:stretch/>
        </p:blipFill>
        <p:spPr>
          <a:xfrm>
            <a:off x="9474200" y="5822950"/>
            <a:ext cx="1905000" cy="425450"/>
          </a:xfrm>
          <a:prstGeom prst="rect">
            <a:avLst/>
          </a:prstGeom>
        </p:spPr>
      </p:pic>
    </p:spTree>
  </p:cSld>
  <p:clrMapOvr>
    <a:masterClrMapping/>
  </p:clrMapOvr>
</p:sld>
</file>

<file path=ppt/theme/theme1.xml><?xml version="1.0" encoding="utf-8"?>
<a:theme xmlns:a="http://schemas.openxmlformats.org/drawingml/2006/main" name="Running your club (no memberships)">
  <a:themeElements>
    <a:clrScheme name="Running your club (no memberships)">
      <a:dk1>
        <a:srgbClr val="3D4A5C"/>
      </a:dk1>
      <a:lt1>
        <a:srgbClr val="F6F4EF"/>
      </a:lt1>
      <a:dk2>
        <a:srgbClr val="6B7581"/>
      </a:dk2>
      <a:lt2>
        <a:srgbClr val="E4E3E0"/>
      </a:lt2>
      <a:accent1>
        <a:srgbClr val="C2410C"/>
      </a:accent1>
      <a:accent2>
        <a:srgbClr val="F97316"/>
      </a:accent2>
      <a:accent3>
        <a:srgbClr val="101828"/>
      </a:accent3>
      <a:accent4>
        <a:srgbClr val="6B7686"/>
      </a:accent4>
      <a:accent5>
        <a:srgbClr val="C9D2E0"/>
      </a:accent5>
      <a:accent6>
        <a:srgbClr val="1D2939"/>
      </a:accent6>
      <a:hlink>
        <a:srgbClr val="0563C1"/>
      </a:hlink>
      <a:folHlink>
        <a:srgbClr val="954F72"/>
      </a:folHlink>
    </a:clrScheme>
    <a:fontScheme name="Running your club (no memberships)">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4886</Words>
  <Application>Microsoft Office PowerPoint</Application>
  <PresentationFormat>Widescreen</PresentationFormat>
  <Paragraphs>445</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DM Sans</vt:lpstr>
      <vt:lpstr>Poppins</vt:lpstr>
      <vt:lpstr>Running your club (no memberships)</vt:lpstr>
      <vt:lpstr>Running your club on twoclear</vt:lpstr>
      <vt:lpstr>Which sections you need</vt:lpstr>
      <vt:lpstr>Getting started</vt:lpstr>
      <vt:lpstr>Signing in as an admin</vt:lpstr>
      <vt:lpstr>The Admin menu</vt:lpstr>
      <vt:lpstr>Setting up sessions</vt:lpstr>
      <vt:lpstr>Creating a session</vt:lpstr>
      <vt:lpstr>Letting members see and book it</vt:lpstr>
      <vt:lpstr>Repeating every week</vt:lpstr>
      <vt:lpstr>Building the courts</vt:lpstr>
      <vt:lpstr>Choosing a format</vt:lpstr>
      <vt:lpstr>What each format does to the courts</vt:lpstr>
      <vt:lpstr>Setting up a round-robin</vt:lpstr>
      <vt:lpstr>Who goes on which court (round-robin)</vt:lpstr>
      <vt:lpstr>The courts it builds (round-robin)</vt:lpstr>
      <vt:lpstr>Keeping a pair together (round-robin)</vt:lpstr>
      <vt:lpstr>Setting up a Social mixer</vt:lpstr>
      <vt:lpstr>Pairs in a Social mixer</vt:lpstr>
      <vt:lpstr>Splitting courts into groups</vt:lpstr>
      <vt:lpstr>Setting up a Custom session</vt:lpstr>
      <vt:lpstr>Custom: just booking the courts</vt:lpstr>
      <vt:lpstr>Running the session</vt:lpstr>
      <vt:lpstr>Opening the session</vt:lpstr>
      <vt:lpstr>Where players book</vt:lpstr>
      <vt:lpstr>The waiting list</vt:lpstr>
      <vt:lpstr>Adding someone yourself</vt:lpstr>
      <vt:lpstr>A free place for an admin</vt:lpstr>
      <vt:lpstr>Cancelling a session</vt:lpstr>
      <vt:lpstr>Money and reports</vt:lpstr>
      <vt:lpstr>Members’ wallets</vt:lpstr>
      <vt:lpstr>The money report</vt:lpstr>
      <vt:lpstr>Club settings</vt:lpstr>
      <vt:lpstr>Finding a setting</vt:lpstr>
      <vt:lpstr>Booking rules</vt:lpstr>
      <vt:lpstr>Joining, children and emergency contacts</vt:lpstr>
      <vt:lpstr>Members and logins</vt:lpstr>
      <vt:lpstr>Member records</vt:lpstr>
      <vt:lpstr>Bringing members in from a spreadsheet</vt:lpstr>
      <vt:lpstr>Adding players and logins</vt:lpstr>
      <vt:lpstr>Help when you need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your club (no memberships)</dc:title>
  <dc:subject/>
  <dc:creator/>
  <cp:lastModifiedBy>Paul Berry</cp:lastModifiedBy>
  <cp:revision>3</cp:revision>
  <dcterms:created xsi:type="dcterms:W3CDTF">2026-10-13T11:12:10Z</dcterms:created>
  <dcterms:modified xsi:type="dcterms:W3CDTF">2026-10-25T17:03:46Z</dcterms:modified>
</cp:coreProperties>
</file>