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Berry" userId="300b6ad9-5d93-43cf-b78d-9a01b9be4ada" providerId="ADAL" clId="{C911423E-AA36-4D89-83A6-948E4BA73ACC}"/>
    <pc:docChg chg="custSel modSld">
      <pc:chgData name="Paul Berry" userId="300b6ad9-5d93-43cf-b78d-9a01b9be4ada" providerId="ADAL" clId="{C911423E-AA36-4D89-83A6-948E4BA73ACC}" dt="2026-10-14T17:32:01.458" v="19"/>
      <pc:docMkLst>
        <pc:docMk/>
      </pc:docMkLst>
      <pc:sldChg chg="modSp mod">
        <pc:chgData name="Paul Berry" userId="300b6ad9-5d93-43cf-b78d-9a01b9be4ada" providerId="ADAL" clId="{C911423E-AA36-4D89-83A6-948E4BA73ACC}" dt="2026-10-14T17:32:01.222" v="3"/>
        <pc:sldMkLst>
          <pc:docMk/>
          <pc:sldMk cId="0" sldId="262"/>
        </pc:sldMkLst>
        <pc:spChg chg="mod">
          <ac:chgData name="Paul Berry" userId="300b6ad9-5d93-43cf-b78d-9a01b9be4ada" providerId="ADAL" clId="{C911423E-AA36-4D89-83A6-948E4BA73ACC}" dt="2026-10-14T17:32:01.222" v="3"/>
          <ac:spMkLst>
            <pc:docMk/>
            <pc:sldMk cId="0" sldId="262"/>
            <ac:spMk id="4" creationId="{00000000-0000-0000-0000-000000000000}"/>
          </ac:spMkLst>
        </pc:spChg>
        <pc:spChg chg="mod">
          <ac:chgData name="Paul Berry" userId="300b6ad9-5d93-43cf-b78d-9a01b9be4ada" providerId="ADAL" clId="{C911423E-AA36-4D89-83A6-948E4BA73ACC}" dt="2026-10-14T17:32:01.210" v="1"/>
          <ac:spMkLst>
            <pc:docMk/>
            <pc:sldMk cId="0" sldId="262"/>
            <ac:spMk id="5" creationId="{00000000-0000-0000-0000-000000000000}"/>
          </ac:spMkLst>
        </pc:spChg>
      </pc:sldChg>
      <pc:sldChg chg="modSp mod">
        <pc:chgData name="Paul Berry" userId="300b6ad9-5d93-43cf-b78d-9a01b9be4ada" providerId="ADAL" clId="{C911423E-AA36-4D89-83A6-948E4BA73ACC}" dt="2026-10-14T17:32:01.273" v="7"/>
        <pc:sldMkLst>
          <pc:docMk/>
          <pc:sldMk cId="0" sldId="264"/>
        </pc:sldMkLst>
        <pc:spChg chg="mod">
          <ac:chgData name="Paul Berry" userId="300b6ad9-5d93-43cf-b78d-9a01b9be4ada" providerId="ADAL" clId="{C911423E-AA36-4D89-83A6-948E4BA73ACC}" dt="2026-10-14T17:32:01.273" v="7"/>
          <ac:spMkLst>
            <pc:docMk/>
            <pc:sldMk cId="0" sldId="264"/>
            <ac:spMk id="4" creationId="{00000000-0000-0000-0000-000000000000}"/>
          </ac:spMkLst>
        </pc:spChg>
        <pc:spChg chg="mod">
          <ac:chgData name="Paul Berry" userId="300b6ad9-5d93-43cf-b78d-9a01b9be4ada" providerId="ADAL" clId="{C911423E-AA36-4D89-83A6-948E4BA73ACC}" dt="2026-10-14T17:32:01.265" v="5"/>
          <ac:spMkLst>
            <pc:docMk/>
            <pc:sldMk cId="0" sldId="264"/>
            <ac:spMk id="5" creationId="{00000000-0000-0000-0000-000000000000}"/>
          </ac:spMkLst>
        </pc:spChg>
      </pc:sldChg>
      <pc:sldChg chg="modSp mod">
        <pc:chgData name="Paul Berry" userId="300b6ad9-5d93-43cf-b78d-9a01b9be4ada" providerId="ADAL" clId="{C911423E-AA36-4D89-83A6-948E4BA73ACC}" dt="2026-10-14T17:32:01.371" v="11"/>
        <pc:sldMkLst>
          <pc:docMk/>
          <pc:sldMk cId="0" sldId="268"/>
        </pc:sldMkLst>
        <pc:spChg chg="mod">
          <ac:chgData name="Paul Berry" userId="300b6ad9-5d93-43cf-b78d-9a01b9be4ada" providerId="ADAL" clId="{C911423E-AA36-4D89-83A6-948E4BA73ACC}" dt="2026-10-14T17:32:01.371" v="11"/>
          <ac:spMkLst>
            <pc:docMk/>
            <pc:sldMk cId="0" sldId="268"/>
            <ac:spMk id="4" creationId="{00000000-0000-0000-0000-000000000000}"/>
          </ac:spMkLst>
        </pc:spChg>
        <pc:spChg chg="mod">
          <ac:chgData name="Paul Berry" userId="300b6ad9-5d93-43cf-b78d-9a01b9be4ada" providerId="ADAL" clId="{C911423E-AA36-4D89-83A6-948E4BA73ACC}" dt="2026-10-14T17:32:01.365" v="9"/>
          <ac:spMkLst>
            <pc:docMk/>
            <pc:sldMk cId="0" sldId="268"/>
            <ac:spMk id="5" creationId="{00000000-0000-0000-0000-000000000000}"/>
          </ac:spMkLst>
        </pc:spChg>
      </pc:sldChg>
      <pc:sldChg chg="modSp mod">
        <pc:chgData name="Paul Berry" userId="300b6ad9-5d93-43cf-b78d-9a01b9be4ada" providerId="ADAL" clId="{C911423E-AA36-4D89-83A6-948E4BA73ACC}" dt="2026-10-14T17:32:01.413" v="15"/>
        <pc:sldMkLst>
          <pc:docMk/>
          <pc:sldMk cId="0" sldId="271"/>
        </pc:sldMkLst>
        <pc:spChg chg="mod">
          <ac:chgData name="Paul Berry" userId="300b6ad9-5d93-43cf-b78d-9a01b9be4ada" providerId="ADAL" clId="{C911423E-AA36-4D89-83A6-948E4BA73ACC}" dt="2026-10-14T17:32:01.413" v="15"/>
          <ac:spMkLst>
            <pc:docMk/>
            <pc:sldMk cId="0" sldId="271"/>
            <ac:spMk id="4" creationId="{00000000-0000-0000-0000-000000000000}"/>
          </ac:spMkLst>
        </pc:spChg>
        <pc:spChg chg="mod">
          <ac:chgData name="Paul Berry" userId="300b6ad9-5d93-43cf-b78d-9a01b9be4ada" providerId="ADAL" clId="{C911423E-AA36-4D89-83A6-948E4BA73ACC}" dt="2026-10-14T17:32:01.406" v="13"/>
          <ac:spMkLst>
            <pc:docMk/>
            <pc:sldMk cId="0" sldId="271"/>
            <ac:spMk id="5" creationId="{00000000-0000-0000-0000-000000000000}"/>
          </ac:spMkLst>
        </pc:spChg>
      </pc:sldChg>
      <pc:sldChg chg="modSp mod">
        <pc:chgData name="Paul Berry" userId="300b6ad9-5d93-43cf-b78d-9a01b9be4ada" providerId="ADAL" clId="{C911423E-AA36-4D89-83A6-948E4BA73ACC}" dt="2026-10-14T17:32:01.458" v="19"/>
        <pc:sldMkLst>
          <pc:docMk/>
          <pc:sldMk cId="0" sldId="276"/>
        </pc:sldMkLst>
        <pc:spChg chg="mod">
          <ac:chgData name="Paul Berry" userId="300b6ad9-5d93-43cf-b78d-9a01b9be4ada" providerId="ADAL" clId="{C911423E-AA36-4D89-83A6-948E4BA73ACC}" dt="2026-10-14T17:32:01.458" v="19"/>
          <ac:spMkLst>
            <pc:docMk/>
            <pc:sldMk cId="0" sldId="276"/>
            <ac:spMk id="4" creationId="{00000000-0000-0000-0000-000000000000}"/>
          </ac:spMkLst>
        </pc:spChg>
        <pc:spChg chg="mod">
          <ac:chgData name="Paul Berry" userId="300b6ad9-5d93-43cf-b78d-9a01b9be4ada" providerId="ADAL" clId="{C911423E-AA36-4D89-83A6-948E4BA73ACC}" dt="2026-10-14T17:32:01.449" v="17"/>
          <ac:spMkLst>
            <pc:docMk/>
            <pc:sldMk cId="0" sldId="27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9623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something a Club Ambassador can do at Swindon today. Committee Admins and Seniors have their own packs.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Swindon’s levels today. If a Senior gives Ambassadors more (adding names at the last minute, say), update this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the same way. What appears in the Admin menu depends on each person's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code arriving? Check spam or junk, and use the newest code, because they expire quickly. Someone who can't sign in at all probably hasn't been set up as an admin with that email: a Senior adds admins.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only shows what each admin can use, so different people in the room will see different menus. Graded sessions appears too, at clubs that run graded play.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Seniors pick the format when they create a session; you can change it with Edit. The courts are built on the session, from the people booked.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Seniors pick the first format when they create the session. Changing it never touches bookings, but players aren’t told, so mention it if it changes their day. Edit session details is also where the venue changes: Location is a list of the club’s venues, kept by Seniors in Club settings → Venues. A venue missing? Ask a Senior to add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King of the court needs players in multiples of 4. Mexicano and Ladder courts are 4 players each; anyone over sits out a round in turn.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book as normal. The next slides cover putting players in order, the courts it builds, and keeping a pair together.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the next two slides assume a session set up with the Round-robin format. Court grouping only appears on round-robin sessions. Changing the grouping doesn't reorder the list; it's applied when you press Generate courts.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five on a court, one sits out each game in turn, so everyone plays the same number of games.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Round-robin. Social mixer pairs are on the next slide; in a Custom session, linked pairs are kept together on the court plan. Both players need to be in the line-up before they can be linked.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rounds are drawn up at once, so you can print them before play starts. Pairs and court groups are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"every round" to keep them together all session. Linked pairs always land in the same court group.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when courts 1–2 are one standard and 3–4 another, or the courts are in two halls. The group courts must add up to the session's courts, with at least 4 players in each group. Mix everyone together undoes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the court plan, with optional groups and linked pairs.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 count you set on the session is saved with it. Groups fill from the top of the list, and linked pairs stay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places for admins are for Committee and Seniors. Adding someone and cancelling a session are for Seniors.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updates the booked list if people are booking as you watch. Remove takes a booking off (Ambassadors can do this).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look at the sessions; players sign in with an emailed code to book. The players' handout covers it step by step. If the club shows sessions before booking opens (Club settings → Booking, set by Seniors), members also see the next few weeks of sessions there as view-only, with when booking opens; they can book each one once it opens.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without enough money in their wallet are skipped, not removed, so remind waiting players to keep topped up. The cut-off is “Waiting list moves up until” in Club settings, Booking.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club contact before presenting. Players have their own two-page handout: putting the club on their phone, and booking a session.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9916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12901"/>
            <a:ext cx="10566400" cy="4432299"/>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99161"/>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01828"/>
                </a:solidFill>
                <a:latin typeface="Poppins" pitchFamily="34" charset="0"/>
                <a:ea typeface="Poppins" pitchFamily="34" charset="-122"/>
                <a:cs typeface="Poppi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612901"/>
            <a:ext cx="10566400" cy="4432299"/>
          </a:xfrm>
          <a:prstGeom prst="rect">
            <a:avLst/>
          </a:prstGeom>
          <a:noFill/>
          <a:ln/>
        </p:spPr>
        <p:txBody>
          <a:bodyPr wrap="square" lIns="0" tIns="0" rIns="0" bIns="0" rtlCol="0" anchor="t"/>
          <a:lstStyle>
            <a:lvl1pPr marL="0" indent="0" algn="l">
              <a:lnSpc>
                <a:spcPct val="140000"/>
              </a:lnSpc>
              <a:buNone/>
              <a:defRPr lang="en-US" sz="1600" dirty="0">
                <a:solidFill>
                  <a:srgbClr val="3D4A5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ebp"/><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webp"/><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8.webp"/><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9.web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0.webp"/><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1.webp"/><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2.webp"/><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3.webp"/><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5.webp"/><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webp"/></Relationships>
</file>

<file path=ppt/slides/_rels/slide21.xml.rels><?xml version="1.0" encoding="UTF-8" standalone="yes"?>
<Relationships xmlns="http://schemas.openxmlformats.org/package/2006/relationships"><Relationship Id="rId3" Type="http://schemas.openxmlformats.org/officeDocument/2006/relationships/image" Target="../media/image17.webp"/><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97316"/>
                </a:solidFill>
                <a:latin typeface="DM Sans" pitchFamily="34" charset="0"/>
                <a:ea typeface="DM Sans" pitchFamily="34" charset="-122"/>
                <a:cs typeface="DM Sans" pitchFamily="34" charset="-120"/>
              </a:rPr>
              <a:t>ADMIN TRAINING · SWINDON PICKLEBALL CLUB</a:t>
            </a:r>
            <a:endParaRPr lang="en-US" sz="1400" dirty="0"/>
          </a:p>
        </p:txBody>
      </p:sp>
      <p:sp>
        <p:nvSpPr>
          <p:cNvPr id="4" name="Text 2"/>
          <p:cNvSpPr>
            <a:spLocks noGrp="1"/>
          </p:cNvSpPr>
          <p:nvPr>
            <p:ph type="title"/>
          </p:nvPr>
        </p:nvSpPr>
        <p:spPr>
          <a:xfrm>
            <a:off x="812800" y="2127250"/>
            <a:ext cx="10883392" cy="1803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F6F4EF"/>
                </a:solidFill>
                <a:latin typeface="Poppins" pitchFamily="34" charset="0"/>
                <a:ea typeface="Poppins" pitchFamily="34" charset="-122"/>
                <a:cs typeface="Poppins" pitchFamily="34" charset="-120"/>
              </a:rPr>
              <a:t>Running sessions</a:t>
            </a:r>
            <a:endParaRPr lang="en-US" sz="7000" dirty="0"/>
          </a:p>
          <a:p>
            <a:pPr marL="0" indent="0" algn="l">
              <a:lnSpc>
                <a:spcPts val="7000"/>
              </a:lnSpc>
              <a:buNone/>
            </a:pPr>
            <a:r>
              <a:rPr lang="en-US" sz="7000" b="1" i="0" dirty="0">
                <a:solidFill>
                  <a:srgbClr val="F6F4EF"/>
                </a:solidFill>
                <a:latin typeface="Poppins" pitchFamily="34" charset="0"/>
                <a:ea typeface="Poppins" pitchFamily="34" charset="-122"/>
                <a:cs typeface="Poppins" pitchFamily="34" charset="-120"/>
              </a:rPr>
              <a:t>on twoclear</a:t>
            </a:r>
            <a:endParaRPr lang="en-US" sz="7000" dirty="0"/>
          </a:p>
        </p:txBody>
      </p:sp>
      <p:sp>
        <p:nvSpPr>
          <p:cNvPr id="5" name="Text 3"/>
          <p:cNvSpPr/>
          <p:nvPr/>
        </p:nvSpPr>
        <p:spPr>
          <a:xfrm>
            <a:off x="812800" y="4108450"/>
            <a:ext cx="78486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2E0"/>
                </a:solidFill>
                <a:latin typeface="DM Sans" pitchFamily="34" charset="0"/>
                <a:ea typeface="DM Sans" pitchFamily="34" charset="-122"/>
                <a:cs typeface="DM Sans" pitchFamily="34" charset="-120"/>
              </a:rPr>
              <a:t>For Club Ambassadors: opening sessions, building the courts and running the session.</a:t>
            </a:r>
            <a:endParaRPr lang="en-US" sz="1800" dirty="0"/>
          </a:p>
        </p:txBody>
      </p:sp>
      <p:sp>
        <p:nvSpPr>
          <p:cNvPr id="6" name="Text 4"/>
          <p:cNvSpPr/>
          <p:nvPr/>
        </p:nvSpPr>
        <p:spPr>
          <a:xfrm>
            <a:off x="812800" y="581406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2E0"/>
                </a:solidFill>
                <a:latin typeface="DM Sans" pitchFamily="34" charset="0"/>
                <a:ea typeface="DM Sans" pitchFamily="34" charset="-122"/>
                <a:cs typeface="DM Sans" pitchFamily="34" charset="-120"/>
              </a:rPr>
              <a:t>Pictures are from the demo club. You’ll see your own club’s name, sessions and members.</a:t>
            </a:r>
            <a:endParaRPr lang="en-US" sz="1300" dirty="0"/>
          </a:p>
        </p:txBody>
      </p:sp>
      <p:pic>
        <p:nvPicPr>
          <p:cNvPr id="7" name="Image 0" descr="twoclear"/>
          <p:cNvPicPr>
            <a:picLocks noChangeAspect="1"/>
          </p:cNvPicPr>
          <p:nvPr/>
        </p:nvPicPr>
        <p:blipFill>
          <a:blip r:embed="rId3"/>
          <a:srcRect t="-149" b="-149"/>
          <a:stretch/>
        </p:blipFill>
        <p:spPr>
          <a:xfrm>
            <a:off x="9093200" y="660400"/>
            <a:ext cx="2286000" cy="51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BEFORE WE START</a:t>
            </a:r>
            <a:endParaRPr lang="en-US" sz="1200" dirty="0"/>
          </a:p>
        </p:txBody>
      </p:sp>
      <p:sp>
        <p:nvSpPr>
          <p:cNvPr id="3" name="Text 1"/>
          <p:cNvSpPr>
            <a:spLocks noGrp="1"/>
          </p:cNvSpPr>
          <p:nvPr>
            <p:ph type="title"/>
          </p:nvPr>
        </p:nvSpPr>
        <p:spPr>
          <a:xfrm>
            <a:off x="812800" y="89916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What you can do</a:t>
            </a:r>
            <a:endParaRPr lang="en-US" sz="2800" dirty="0"/>
          </a:p>
        </p:txBody>
      </p:sp>
      <p:sp>
        <p:nvSpPr>
          <p:cNvPr id="4" name="Shape 2"/>
          <p:cNvSpPr/>
          <p:nvPr/>
        </p:nvSpPr>
        <p:spPr>
          <a:xfrm>
            <a:off x="819150" y="1568450"/>
            <a:ext cx="5118100" cy="2089150"/>
          </a:xfrm>
          <a:prstGeom prst="roundRect">
            <a:avLst>
              <a:gd name="adj" fmla="val 4559"/>
            </a:avLst>
          </a:prstGeom>
          <a:solidFill>
            <a:srgbClr val="FFFDF9"/>
          </a:solidFill>
          <a:ln w="12700">
            <a:solidFill>
              <a:srgbClr val="E4DED3"/>
            </a:solidFill>
            <a:prstDash val="solid"/>
          </a:ln>
        </p:spPr>
      </p:sp>
      <p:sp>
        <p:nvSpPr>
          <p:cNvPr id="5" name="Text 3"/>
          <p:cNvSpPr/>
          <p:nvPr/>
        </p:nvSpPr>
        <p:spPr>
          <a:xfrm>
            <a:off x="1076960" y="1775460"/>
            <a:ext cx="474055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8"/>
                </a:solidFill>
                <a:latin typeface="Poppins" pitchFamily="34" charset="0"/>
                <a:ea typeface="Poppins" pitchFamily="34" charset="-122"/>
                <a:cs typeface="Poppins" pitchFamily="34" charset="-120"/>
              </a:rPr>
              <a:t>As a Club Ambassador</a:t>
            </a:r>
            <a:endParaRPr lang="en-US" sz="1600" dirty="0"/>
          </a:p>
        </p:txBody>
      </p:sp>
      <p:sp>
        <p:nvSpPr>
          <p:cNvPr id="6" name="Text 4"/>
          <p:cNvSpPr/>
          <p:nvPr/>
        </p:nvSpPr>
        <p:spPr>
          <a:xfrm>
            <a:off x="1120902" y="2161540"/>
            <a:ext cx="4690212" cy="131445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Open a session, show it to members, open and close booking</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Edit a session’s details and change its format</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Build the courts and print court slips</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Remove someone from a session</a:t>
            </a:r>
            <a:endParaRPr lang="en-US" sz="1400" dirty="0"/>
          </a:p>
        </p:txBody>
      </p:sp>
      <p:sp>
        <p:nvSpPr>
          <p:cNvPr id="7" name="Shape 5"/>
          <p:cNvSpPr/>
          <p:nvPr/>
        </p:nvSpPr>
        <p:spPr>
          <a:xfrm>
            <a:off x="6254750" y="1568450"/>
            <a:ext cx="5118100" cy="2089150"/>
          </a:xfrm>
          <a:prstGeom prst="roundRect">
            <a:avLst>
              <a:gd name="adj" fmla="val 4559"/>
            </a:avLst>
          </a:prstGeom>
          <a:noFill/>
          <a:ln w="12700">
            <a:solidFill>
              <a:srgbClr val="E4DED3"/>
            </a:solidFill>
            <a:prstDash val="solid"/>
          </a:ln>
        </p:spPr>
      </p:sp>
      <p:sp>
        <p:nvSpPr>
          <p:cNvPr id="8" name="Text 6"/>
          <p:cNvSpPr/>
          <p:nvPr/>
        </p:nvSpPr>
        <p:spPr>
          <a:xfrm>
            <a:off x="6512560" y="1775460"/>
            <a:ext cx="474055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828"/>
                </a:solidFill>
                <a:latin typeface="Poppins" pitchFamily="34" charset="0"/>
                <a:ea typeface="Poppins" pitchFamily="34" charset="-122"/>
                <a:cs typeface="Poppins" pitchFamily="34" charset="-120"/>
              </a:rPr>
              <a:t>Ask a Committee or Senior admin</a:t>
            </a:r>
            <a:endParaRPr lang="en-US" sz="1600" dirty="0"/>
          </a:p>
        </p:txBody>
      </p:sp>
      <p:sp>
        <p:nvSpPr>
          <p:cNvPr id="9" name="Text 7"/>
          <p:cNvSpPr/>
          <p:nvPr/>
        </p:nvSpPr>
        <p:spPr>
          <a:xfrm>
            <a:off x="6556502" y="2161540"/>
            <a:ext cx="4690212" cy="131445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Free places for admins and free tasters</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Guardian contacts for junior members</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Results and marking a session complete</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Reports</a:t>
            </a:r>
            <a:endParaRPr lang="en-US" sz="1400" dirty="0"/>
          </a:p>
          <a:p>
            <a:pPr marL="169418" indent="-169418" algn="l">
              <a:lnSpc>
                <a:spcPts val="2030"/>
              </a:lnSpc>
              <a:buSzPct val="100000"/>
              <a:buChar char="•"/>
            </a:pPr>
            <a:r>
              <a:rPr lang="en-US" sz="1400" dirty="0">
                <a:solidFill>
                  <a:srgbClr val="3D4A5C"/>
                </a:solidFill>
                <a:latin typeface="DM Sans" pitchFamily="34" charset="0"/>
                <a:ea typeface="DM Sans" pitchFamily="34" charset="-122"/>
                <a:cs typeface="DM Sans" pitchFamily="34" charset="-120"/>
              </a:rPr>
              <a:t>Creating or cancelling a session, booking someone in</a:t>
            </a:r>
            <a:endParaRPr lang="en-US" sz="1400" dirty="0"/>
          </a:p>
        </p:txBody>
      </p:sp>
      <p:sp>
        <p:nvSpPr>
          <p:cNvPr id="10" name="Text 8"/>
          <p:cNvSpPr/>
          <p:nvPr/>
        </p:nvSpPr>
        <p:spPr>
          <a:xfrm>
            <a:off x="812800" y="3917950"/>
            <a:ext cx="981075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Seniors can change what each level can do, in </a:t>
            </a:r>
            <a:r>
              <a:rPr lang="en-US" sz="1300" b="1" dirty="0">
                <a:solidFill>
                  <a:srgbClr val="3D4A5C"/>
                </a:solidFill>
                <a:latin typeface="DM Sans" pitchFamily="34" charset="0"/>
                <a:ea typeface="DM Sans" pitchFamily="34" charset="-122"/>
                <a:cs typeface="DM Sans" pitchFamily="34" charset="-120"/>
              </a:rPr>
              <a:t>Admins</a:t>
            </a:r>
            <a:r>
              <a:rPr lang="en-US" sz="1300" dirty="0">
                <a:solidFill>
                  <a:srgbClr val="3D4A5C"/>
                </a:solidFill>
                <a:latin typeface="DM Sans" pitchFamily="34" charset="0"/>
                <a:ea typeface="DM Sans" pitchFamily="34" charset="-122"/>
                <a:cs typeface="DM Sans" pitchFamily="34" charset="-120"/>
              </a:rPr>
              <a:t>. Your Admin menu only shows what you can use.</a:t>
            </a:r>
            <a:endParaRPr lang="en-US" sz="1300" dirty="0"/>
          </a:p>
        </p:txBody>
      </p:sp>
      <p:sp>
        <p:nvSpPr>
          <p:cNvPr id="11" name="Text 9"/>
          <p:cNvSpPr/>
          <p:nvPr/>
        </p:nvSpPr>
        <p:spPr>
          <a:xfrm>
            <a:off x="812800" y="6238241"/>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What each admin can do is set by the club’s Seniors</a:t>
            </a:r>
            <a:endParaRPr lang="en-US" sz="1200" dirty="0"/>
          </a:p>
        </p:txBody>
      </p:sp>
      <p:pic>
        <p:nvPicPr>
          <p:cNvPr id="12"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61"/>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1</a:t>
            </a:r>
            <a:endParaRPr lang="en-US" sz="6000" dirty="0"/>
          </a:p>
        </p:txBody>
      </p:sp>
      <p:sp>
        <p:nvSpPr>
          <p:cNvPr id="4" name="Text 2"/>
          <p:cNvSpPr>
            <a:spLocks noGrp="1"/>
          </p:cNvSpPr>
          <p:nvPr>
            <p:ph type="title"/>
          </p:nvPr>
        </p:nvSpPr>
        <p:spPr>
          <a:xfrm>
            <a:off x="812800" y="3070861"/>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Getting started</a:t>
            </a:r>
            <a:endParaRPr lang="en-US" sz="4800" dirty="0"/>
          </a:p>
        </p:txBody>
      </p:sp>
      <p:sp>
        <p:nvSpPr>
          <p:cNvPr id="5" name="Text 3"/>
          <p:cNvSpPr/>
          <p:nvPr/>
        </p:nvSpPr>
        <p:spPr>
          <a:xfrm>
            <a:off x="812800" y="3914141"/>
            <a:ext cx="850265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Signing in, and finding your way round the Admin menu.</a:t>
            </a:r>
            <a:endParaRPr lang="en-US" sz="1700" dirty="0"/>
          </a:p>
        </p:txBody>
      </p:sp>
      <p:sp>
        <p:nvSpPr>
          <p:cNvPr id="6" name="Text 4"/>
          <p:cNvSpPr/>
          <p:nvPr/>
        </p:nvSpPr>
        <p:spPr>
          <a:xfrm>
            <a:off x="812800" y="4419600"/>
            <a:ext cx="1390015"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everyone</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26399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a:spLocks noGrp="1"/>
          </p:cNvSpPr>
          <p:nvPr>
            <p:ph type="title"/>
          </p:nvPr>
        </p:nvSpPr>
        <p:spPr>
          <a:xfrm>
            <a:off x="812800" y="8991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Signing in as an admin</a:t>
            </a:r>
            <a:endParaRPr lang="en-US" sz="2800" dirty="0"/>
          </a:p>
        </p:txBody>
      </p:sp>
      <p:sp>
        <p:nvSpPr>
          <p:cNvPr id="4" name="Text 2"/>
          <p:cNvSpPr/>
          <p:nvPr/>
        </p:nvSpPr>
        <p:spPr>
          <a:xfrm>
            <a:off x="879157" y="1562100"/>
            <a:ext cx="3954971"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club site, click </a:t>
            </a:r>
            <a:r>
              <a:rPr lang="en-US" sz="1400" b="1" dirty="0">
                <a:solidFill>
                  <a:srgbClr val="3D4A5C"/>
                </a:solidFill>
                <a:latin typeface="DM Sans" pitchFamily="34" charset="0"/>
                <a:ea typeface="DM Sans" pitchFamily="34" charset="-122"/>
                <a:cs typeface="DM Sans" pitchFamily="34" charset="-120"/>
              </a:rPr>
              <a:t>Club admin sign in</a:t>
            </a:r>
            <a:r>
              <a:rPr lang="en-US" sz="1400" dirty="0">
                <a:solidFill>
                  <a:srgbClr val="3D4A5C"/>
                </a:solidFill>
                <a:latin typeface="DM Sans" pitchFamily="34" charset="0"/>
                <a:ea typeface="DM Sans" pitchFamily="34" charset="-122"/>
                <a:cs typeface="DM Sans" pitchFamily="34" charset="-120"/>
              </a:rPr>
              <a:t> at the bottom of the menu.</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Enter the email the club set you up with, then </a:t>
            </a:r>
            <a:r>
              <a:rPr lang="en-US" sz="1400" b="1" dirty="0">
                <a:solidFill>
                  <a:srgbClr val="3D4A5C"/>
                </a:solidFill>
                <a:latin typeface="DM Sans" pitchFamily="34" charset="0"/>
                <a:ea typeface="DM Sans" pitchFamily="34" charset="-122"/>
                <a:cs typeface="DM Sans" pitchFamily="34" charset="-120"/>
              </a:rPr>
              <a:t>Email me a sign-in code</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Type the code from the email and click </a:t>
            </a:r>
            <a:r>
              <a:rPr lang="en-US" sz="1400" b="1" dirty="0">
                <a:solidFill>
                  <a:srgbClr val="3D4A5C"/>
                </a:solidFill>
                <a:latin typeface="DM Sans" pitchFamily="34" charset="0"/>
                <a:ea typeface="DM Sans" pitchFamily="34" charset="-122"/>
                <a:cs typeface="DM Sans" pitchFamily="34" charset="-120"/>
              </a:rPr>
              <a:t>Verify &amp; sign in</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9150" y="321437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 password.</a:t>
            </a:r>
            <a:r>
              <a:rPr lang="en-US" sz="1200" dirty="0">
                <a:solidFill>
                  <a:srgbClr val="3D4A5C"/>
                </a:solidFill>
                <a:latin typeface="DM Sans" pitchFamily="34" charset="0"/>
                <a:ea typeface="DM Sans" pitchFamily="34" charset="-122"/>
                <a:cs typeface="DM Sans" pitchFamily="34" charset="-120"/>
              </a:rPr>
              <a:t> The Admin section then appears in the menu, showing only what you can do.</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The club site with Club admin sign in ringed at the bottom of the menu"/>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26399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1 · GETTING STARTED</a:t>
            </a:r>
            <a:endParaRPr lang="en-US" sz="1200" dirty="0"/>
          </a:p>
        </p:txBody>
      </p:sp>
      <p:sp>
        <p:nvSpPr>
          <p:cNvPr id="3" name="Text 1"/>
          <p:cNvSpPr>
            <a:spLocks noGrp="1"/>
          </p:cNvSpPr>
          <p:nvPr>
            <p:ph type="title"/>
          </p:nvPr>
        </p:nvSpPr>
        <p:spPr>
          <a:xfrm>
            <a:off x="812800" y="8991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Admin menu</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72260"/>
          <a:ext cx="10556240" cy="2498090"/>
        </p:xfrm>
        <a:graphic>
          <a:graphicData uri="http://schemas.openxmlformats.org/drawingml/2006/table">
            <a:tbl>
              <a:tblPr/>
              <a:tblGrid>
                <a:gridCol w="2533498">
                  <a:extLst>
                    <a:ext uri="{9D8B030D-6E8A-4147-A177-3AD203B41FA5}">
                      <a16:colId xmlns:a16="http://schemas.microsoft.com/office/drawing/2014/main" val="20000"/>
                    </a:ext>
                  </a:extLst>
                </a:gridCol>
                <a:gridCol w="5489245">
                  <a:extLst>
                    <a:ext uri="{9D8B030D-6E8A-4147-A177-3AD203B41FA5}">
                      <a16:colId xmlns:a16="http://schemas.microsoft.com/office/drawing/2014/main" val="20001"/>
                    </a:ext>
                  </a:extLst>
                </a:gridCol>
                <a:gridCol w="253349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Menu item</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What it’s for</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Who uses it</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Social sessions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Open, run and publish sessions; create new ones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Everyone (creating: 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Calendar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 session by date: open or change one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Everyone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Players &amp; logins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Players, sign-in access and wallet balances</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Reports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Wallet &amp; money, attendance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Committee, Senior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Club settings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Prices, booking rules, joining, the club’s look</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Member records</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Members’ details and agreements, importing</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Senior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Something missing from your menu? Your level doesn’t include it</a:t>
            </a:r>
            <a:endParaRPr lang="en-US" sz="1200" dirty="0"/>
          </a:p>
        </p:txBody>
      </p:sp>
      <p:pic>
        <p:nvPicPr>
          <p:cNvPr id="6"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1954532"/>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2</a:t>
            </a:r>
            <a:endParaRPr lang="en-US" sz="6000" dirty="0"/>
          </a:p>
        </p:txBody>
      </p:sp>
      <p:sp>
        <p:nvSpPr>
          <p:cNvPr id="4" name="Text 2"/>
          <p:cNvSpPr>
            <a:spLocks noGrp="1"/>
          </p:cNvSpPr>
          <p:nvPr>
            <p:ph type="title"/>
          </p:nvPr>
        </p:nvSpPr>
        <p:spPr>
          <a:xfrm>
            <a:off x="812800" y="2919732"/>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Building the courts</a:t>
            </a:r>
            <a:endParaRPr lang="en-US" sz="4800" dirty="0"/>
          </a:p>
        </p:txBody>
      </p:sp>
      <p:sp>
        <p:nvSpPr>
          <p:cNvPr id="5" name="Text 3"/>
          <p:cNvSpPr/>
          <p:nvPr/>
        </p:nvSpPr>
        <p:spPr>
          <a:xfrm>
            <a:off x="812800" y="3763011"/>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Choosing a format, the order players go on court, linking partners, splitting courts into groups, and Custom sessions.</a:t>
            </a:r>
            <a:endParaRPr lang="en-US" sz="1700" dirty="0"/>
          </a:p>
        </p:txBody>
      </p:sp>
      <p:sp>
        <p:nvSpPr>
          <p:cNvPr id="6" name="Text 4"/>
          <p:cNvSpPr/>
          <p:nvPr/>
        </p:nvSpPr>
        <p:spPr>
          <a:xfrm>
            <a:off x="812800" y="4570732"/>
            <a:ext cx="2170589"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Club Ambassadors</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Changing the format</a:t>
            </a:r>
            <a:endParaRPr lang="en-US" sz="2800" dirty="0"/>
          </a:p>
        </p:txBody>
      </p:sp>
      <p:sp>
        <p:nvSpPr>
          <p:cNvPr id="4" name="Text 2"/>
          <p:cNvSpPr/>
          <p:nvPr/>
        </p:nvSpPr>
        <p:spPr>
          <a:xfrm>
            <a:off x="876300" y="1562100"/>
            <a:ext cx="3957828" cy="20472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the session and click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Pick the </a:t>
            </a:r>
            <a:r>
              <a:rPr lang="en-US" sz="1400" b="1" dirty="0">
                <a:solidFill>
                  <a:srgbClr val="3D4A5C"/>
                </a:solidFill>
                <a:latin typeface="DM Sans" pitchFamily="34" charset="0"/>
                <a:ea typeface="DM Sans" pitchFamily="34" charset="-122"/>
                <a:cs typeface="DM Sans" pitchFamily="34" charset="-120"/>
              </a:rPr>
              <a:t>Format</a:t>
            </a:r>
            <a:r>
              <a:rPr lang="en-US" sz="1400" dirty="0">
                <a:solidFill>
                  <a:srgbClr val="3D4A5C"/>
                </a:solidFill>
                <a:latin typeface="DM Sans" pitchFamily="34" charset="0"/>
                <a:ea typeface="DM Sans" pitchFamily="34" charset="-122"/>
                <a:cs typeface="DM Sans" pitchFamily="34" charset="-120"/>
              </a:rPr>
              <a:t>. Tap the </a:t>
            </a:r>
            <a:r>
              <a:rPr lang="en-US" sz="1400" b="1" dirty="0">
                <a:solidFill>
                  <a:srgbClr val="3D4A5C"/>
                </a:solidFill>
                <a:latin typeface="DM Sans" pitchFamily="34" charset="0"/>
                <a:ea typeface="DM Sans" pitchFamily="34" charset="-122"/>
                <a:cs typeface="DM Sans" pitchFamily="34" charset="-120"/>
              </a:rPr>
              <a:t>i</a:t>
            </a:r>
            <a:r>
              <a:rPr lang="en-US" sz="1400" dirty="0">
                <a:solidFill>
                  <a:srgbClr val="3D4A5C"/>
                </a:solidFill>
                <a:latin typeface="DM Sans" pitchFamily="34" charset="0"/>
                <a:ea typeface="DM Sans" pitchFamily="34" charset="-122"/>
                <a:cs typeface="DM Sans" pitchFamily="34" charset="-120"/>
              </a:rPr>
              <a:t> beside it for a reminder of each one.</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King of the court, Ladder and Mexicano need scores, so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switches on by itself.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has no games or scores.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9150" y="3742689"/>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Any time before the courts are built</a:t>
            </a:r>
            <a:r>
              <a:rPr lang="en-US" sz="1200" dirty="0">
                <a:solidFill>
                  <a:srgbClr val="3D4A5C"/>
                </a:solidFill>
                <a:latin typeface="DM Sans" pitchFamily="34" charset="0"/>
                <a:ea typeface="DM Sans" pitchFamily="34" charset="-122"/>
                <a:cs typeface="DM Sans" pitchFamily="34" charset="-120"/>
              </a:rPr>
              <a:t> or round 1 starts. After that the format is locked.</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The Format choices on a session, with the explanation of each format open"/>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39"/>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1"/>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What each format does to the courts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72260"/>
          <a:ext cx="10556240" cy="3191510"/>
        </p:xfrm>
        <a:graphic>
          <a:graphicData uri="http://schemas.openxmlformats.org/drawingml/2006/table">
            <a:tbl>
              <a:tblPr/>
              <a:tblGrid>
                <a:gridCol w="2111248">
                  <a:extLst>
                    <a:ext uri="{9D8B030D-6E8A-4147-A177-3AD203B41FA5}">
                      <a16:colId xmlns:a16="http://schemas.microsoft.com/office/drawing/2014/main" val="20000"/>
                    </a:ext>
                  </a:extLst>
                </a:gridCol>
                <a:gridCol w="6333744">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Format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How the courts are built</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marL="0" indent="0">
                        <a:lnSpc>
                          <a:spcPts val="1820"/>
                        </a:lnSpc>
                        <a:buNone/>
                      </a:pPr>
                      <a:r>
                        <a:rPr lang="en-US" sz="1300" b="1" dirty="0">
                          <a:solidFill>
                            <a:srgbClr val="F6F4EF"/>
                          </a:solidFill>
                          <a:latin typeface="DM Sans" pitchFamily="34" charset="0"/>
                          <a:ea typeface="DM Sans" pitchFamily="34" charset="-122"/>
                          <a:cs typeface="DM Sans" pitchFamily="34" charset="-120"/>
                        </a:rPr>
                        <a:t>Scores</a:t>
                      </a:r>
                      <a:endParaRPr lang="en-US" sz="1300" dirty="0">
                        <a:latin typeface="DM Sans" charset="0"/>
                        <a:ea typeface="DM Sans" charset="0"/>
                        <a:cs typeface="DM Sans" charset="0"/>
                      </a:endParaRPr>
                    </a:p>
                  </a:txBody>
                  <a:tcPr marL="57785" marR="57785" marT="57785" marB="57785">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Round-robin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Same court all session. Everyone on it partners and plays everyone on it. All built at once.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Your choice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Social mixer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New courts every round, so people meet as many others as possible. All rounds built at once.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Your choice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King of the court</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Winners move up a court, losers move down.</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Ladder</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Players climb or slide as they win or lose.</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Mexicano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One round at a time. Re-paired by running points so games stay close.</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Needed</a:t>
                      </a:r>
                      <a:endParaRPr lang="en-US" sz="1300" dirty="0">
                        <a:latin typeface="DM Sans" charset="0"/>
                        <a:ea typeface="DM Sans" charset="0"/>
                        <a:cs typeface="DM Sans" charset="0"/>
                      </a:endParaRPr>
                    </a:p>
                  </a:txBody>
                  <a:tcPr marL="57785" marR="57785" marT="57785" marB="5778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extLst>
                  <a:ext uri="{0D108BD9-81ED-4DB2-BD59-A6C34878D82A}">
                    <a16:rowId xmlns:a16="http://schemas.microsoft.com/office/drawing/2014/main" val="10005"/>
                  </a:ext>
                </a:extLst>
              </a:tr>
              <a:tr h="588010">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Custom</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 games drawn up: it just books the courts. Optional groups and pairs on a printed court plan.</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01828"/>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5017771"/>
            <a:ext cx="981075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DM Sans" pitchFamily="34" charset="0"/>
                <a:ea typeface="DM Sans" pitchFamily="34" charset="-122"/>
                <a:cs typeface="DM Sans" pitchFamily="34" charset="-120"/>
              </a:rPr>
              <a:t>Round-robin and Social mixer: </a:t>
            </a:r>
            <a:r>
              <a:rPr lang="en-US" sz="1300" b="1" dirty="0">
                <a:solidFill>
                  <a:srgbClr val="3D4A5C"/>
                </a:solidFill>
                <a:latin typeface="DM Sans" pitchFamily="34" charset="0"/>
                <a:ea typeface="DM Sans" pitchFamily="34" charset="-122"/>
                <a:cs typeface="DM Sans" pitchFamily="34" charset="-120"/>
              </a:rPr>
              <a:t>Generate</a:t>
            </a:r>
            <a:r>
              <a:rPr lang="en-US" sz="1300" dirty="0">
                <a:solidFill>
                  <a:srgbClr val="3D4A5C"/>
                </a:solidFill>
                <a:latin typeface="DM Sans" pitchFamily="34" charset="0"/>
                <a:ea typeface="DM Sans" pitchFamily="34" charset="-122"/>
                <a:cs typeface="DM Sans" pitchFamily="34" charset="-120"/>
              </a:rPr>
              <a:t> builds the whole session. King, Ladder and Mexicano: </a:t>
            </a:r>
            <a:r>
              <a:rPr lang="en-US" sz="1300" b="1" dirty="0">
                <a:solidFill>
                  <a:srgbClr val="3D4A5C"/>
                </a:solidFill>
                <a:latin typeface="DM Sans" pitchFamily="34" charset="0"/>
                <a:ea typeface="DM Sans" pitchFamily="34" charset="-122"/>
                <a:cs typeface="DM Sans" pitchFamily="34" charset="-120"/>
              </a:rPr>
              <a:t>Start round 1</a:t>
            </a:r>
            <a:r>
              <a:rPr lang="en-US" sz="1300" dirty="0">
                <a:solidFill>
                  <a:srgbClr val="3D4A5C"/>
                </a:solidFill>
                <a:latin typeface="DM Sans" pitchFamily="34" charset="0"/>
                <a:ea typeface="DM Sans" pitchFamily="34" charset="-122"/>
                <a:cs typeface="DM Sans" pitchFamily="34" charset="-120"/>
              </a:rPr>
              <a:t>, enter the scores, then generate the next. Custom: nothing to generate.</a:t>
            </a:r>
            <a:endParaRPr lang="en-US" sz="1300" dirty="0"/>
          </a:p>
        </p:txBody>
      </p:sp>
      <p:sp>
        <p:nvSpPr>
          <p:cNvPr id="6" name="Text 3"/>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7" name="Image 0" descr="twoclear"/>
          <p:cNvPicPr>
            <a:picLocks noChangeAspect="1"/>
          </p:cNvPicPr>
          <p:nvPr/>
        </p:nvPicPr>
        <p:blipFill>
          <a:blip r:embed="rId3"/>
          <a:srcRect t="-149" b="-149"/>
          <a:stretch/>
        </p:blipFill>
        <p:spPr>
          <a:xfrm>
            <a:off x="10109200" y="6229350"/>
            <a:ext cx="1270000" cy="285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Running a round-robin</a:t>
            </a:r>
            <a:endParaRPr lang="en-US" sz="2800" dirty="0"/>
          </a:p>
        </p:txBody>
      </p:sp>
      <p:sp>
        <p:nvSpPr>
          <p:cNvPr id="4" name="Text 2"/>
          <p:cNvSpPr/>
          <p:nvPr/>
        </p:nvSpPr>
        <p:spPr>
          <a:xfrm>
            <a:off x="876300" y="1562100"/>
            <a:ext cx="3957828" cy="20472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Not a round-robin yet?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Round-robin</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choose the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Whether to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is in Edit session details.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a:t>
            </a:r>
            <a:r>
              <a:rPr lang="en-US" sz="1400" b="1" dirty="0">
                <a:solidFill>
                  <a:srgbClr val="3D4A5C"/>
                </a:solidFill>
                <a:latin typeface="DM Sans" pitchFamily="34" charset="0"/>
                <a:ea typeface="DM Sans" pitchFamily="34" charset="-122"/>
                <a:cs typeface="DM Sans" pitchFamily="34" charset="-120"/>
              </a:rPr>
              <a:t>Games per court</a:t>
            </a:r>
            <a:r>
              <a:rPr lang="en-US" sz="1400" dirty="0">
                <a:solidFill>
                  <a:srgbClr val="3D4A5C"/>
                </a:solidFill>
                <a:latin typeface="DM Sans" pitchFamily="34" charset="0"/>
                <a:ea typeface="DM Sans" pitchFamily="34" charset="-122"/>
                <a:cs typeface="DM Sans" pitchFamily="34" charset="-120"/>
              </a:rPr>
              <a:t>, then </a:t>
            </a: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9150" y="37426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Use my order</a:t>
            </a:r>
            <a:r>
              <a:rPr lang="en-US" sz="1200" dirty="0">
                <a:solidFill>
                  <a:srgbClr val="3D4A5C"/>
                </a:solidFill>
                <a:latin typeface="DM Sans" pitchFamily="34" charset="0"/>
                <a:ea typeface="DM Sans" pitchFamily="34" charset="-122"/>
                <a:cs typeface="DM Sans" pitchFamily="34" charset="-120"/>
              </a:rPr>
              <a:t> lets you place players yourself. The next slides show how.</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The session form with Round-robin chosen under Format, ringed, and Court grouping below"/>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Who goes on which court (round-robin)</a:t>
            </a:r>
            <a:endParaRPr lang="en-US" sz="2800" dirty="0"/>
          </a:p>
        </p:txBody>
      </p:sp>
      <p:sp>
        <p:nvSpPr>
          <p:cNvPr id="4" name="Text 2"/>
          <p:cNvSpPr/>
          <p:nvPr/>
        </p:nvSpPr>
        <p:spPr>
          <a:xfrm>
            <a:off x="876300" y="1562100"/>
            <a:ext cx="3957828" cy="201676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your </a:t>
            </a:r>
            <a:r>
              <a:rPr lang="en-US" sz="1400" b="1" dirty="0">
                <a:solidFill>
                  <a:srgbClr val="3D4A5C"/>
                </a:solidFill>
                <a:latin typeface="DM Sans" pitchFamily="34" charset="0"/>
                <a:ea typeface="DM Sans" pitchFamily="34" charset="-122"/>
                <a:cs typeface="DM Sans" pitchFamily="34" charset="-120"/>
              </a:rPr>
              <a:t>round-robin</a:t>
            </a:r>
            <a:r>
              <a:rPr lang="en-US" sz="1400" dirty="0">
                <a:solidFill>
                  <a:srgbClr val="3D4A5C"/>
                </a:solidFill>
                <a:latin typeface="DM Sans" pitchFamily="34" charset="0"/>
                <a:ea typeface="DM Sans" pitchFamily="34" charset="-122"/>
                <a:cs typeface="DM Sans" pitchFamily="34" charset="-120"/>
              </a:rPr>
              <a:t> session. Under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choose </a:t>
            </a:r>
            <a:r>
              <a:rPr lang="en-US" sz="1400" b="1" dirty="0">
                <a:solidFill>
                  <a:srgbClr val="3D4A5C"/>
                </a:solidFill>
                <a:latin typeface="DM Sans" pitchFamily="34" charset="0"/>
                <a:ea typeface="DM Sans" pitchFamily="34" charset="-122"/>
                <a:cs typeface="DM Sans" pitchFamily="34" charset="-120"/>
              </a:rPr>
              <a:t>Use my order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 </a:t>
            </a:r>
            <a:r>
              <a:rPr lang="en-US" sz="1400" b="1" dirty="0">
                <a:solidFill>
                  <a:srgbClr val="3D4A5C"/>
                </a:solidFill>
                <a:latin typeface="DM Sans" pitchFamily="34" charset="0"/>
                <a:ea typeface="DM Sans" pitchFamily="34" charset="-122"/>
                <a:cs typeface="DM Sans" pitchFamily="34" charset="-120"/>
              </a:rPr>
              <a:t>Seed order</a:t>
            </a:r>
            <a:r>
              <a:rPr lang="en-US" sz="1400" dirty="0">
                <a:solidFill>
                  <a:srgbClr val="3D4A5C"/>
                </a:solidFill>
                <a:latin typeface="DM Sans" pitchFamily="34" charset="0"/>
                <a:ea typeface="DM Sans" pitchFamily="34" charset="-122"/>
                <a:cs typeface="DM Sans" pitchFamily="34" charset="-120"/>
              </a:rPr>
              <a:t> list is the order players are placed: the top four on Court 1, the next four on Court 2, and so 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Move people with </a:t>
            </a:r>
            <a:r>
              <a:rPr lang="en-US" sz="1400" b="1" dirty="0">
                <a:solidFill>
                  <a:srgbClr val="3D4A5C"/>
                </a:solidFill>
                <a:latin typeface="DM Sans" pitchFamily="34" charset="0"/>
                <a:ea typeface="DM Sans" pitchFamily="34" charset="-122"/>
                <a:cs typeface="DM Sans" pitchFamily="34" charset="-120"/>
              </a:rPr>
              <a:t>▲▼</a:t>
            </a:r>
            <a:r>
              <a:rPr lang="en-US" sz="1400" dirty="0">
                <a:solidFill>
                  <a:srgbClr val="3D4A5C"/>
                </a:solidFill>
                <a:latin typeface="DM Sans" pitchFamily="34" charset="0"/>
                <a:ea typeface="DM Sans" pitchFamily="34" charset="-122"/>
                <a:cs typeface="DM Sans" pitchFamily="34" charset="-120"/>
              </a:rPr>
              <a:t> or drag them. </a:t>
            </a:r>
            <a:r>
              <a:rPr lang="en-US" sz="1400" b="1" dirty="0">
                <a:solidFill>
                  <a:srgbClr val="3D4A5C"/>
                </a:solidFill>
                <a:latin typeface="DM Sans" pitchFamily="34" charset="0"/>
                <a:ea typeface="DM Sans" pitchFamily="34" charset="-122"/>
                <a:cs typeface="DM Sans" pitchFamily="34" charset="-120"/>
              </a:rPr>
              <a:t>✨ Auto-seed</a:t>
            </a:r>
            <a:r>
              <a:rPr lang="en-US" sz="1400" dirty="0">
                <a:solidFill>
                  <a:srgbClr val="3D4A5C"/>
                </a:solidFill>
                <a:latin typeface="DM Sans" pitchFamily="34" charset="0"/>
                <a:ea typeface="DM Sans" pitchFamily="34" charset="-122"/>
                <a:cs typeface="DM Sans" pitchFamily="34" charset="-120"/>
              </a:rPr>
              <a:t> puts the strongest first.</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9150" y="3712214"/>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Let it decide instead:</a:t>
            </a:r>
            <a:r>
              <a:rPr lang="en-US" sz="1200" dirty="0">
                <a:solidFill>
                  <a:srgbClr val="3D4A5C"/>
                </a:solidFill>
                <a:latin typeface="DM Sans" pitchFamily="34" charset="0"/>
                <a:ea typeface="DM Sans" pitchFamily="34" charset="-122"/>
                <a:cs typeface="DM Sans" pitchFamily="34" charset="-120"/>
              </a:rPr>
              <a:t> Balanced, Mixed doubles, Protect newcomers and Random draw arrange the courts for you when you generate.</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Court grouping on a round-robin session, with Use my order ringed"/>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courts it builds (round-robin)</a:t>
            </a:r>
            <a:endParaRPr lang="en-US" sz="2800" dirty="0"/>
          </a:p>
        </p:txBody>
      </p:sp>
      <p:sp>
        <p:nvSpPr>
          <p:cNvPr id="4" name="Text 2"/>
          <p:cNvSpPr/>
          <p:nvPr/>
        </p:nvSpPr>
        <p:spPr>
          <a:xfrm>
            <a:off x="879157" y="15621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Court 1 takes the first four in the list, Court 2 the next four.</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Each court shows its games in order, with who sits out.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Changed the list? Generate again.</a:t>
            </a:r>
            <a:endParaRPr lang="en-US" sz="1400" dirty="0"/>
          </a:p>
        </p:txBody>
      </p:sp>
      <p:sp>
        <p:nvSpPr>
          <p:cNvPr id="5" name="Text 3"/>
          <p:cNvSpPr/>
          <p:nvPr/>
        </p:nvSpPr>
        <p:spPr>
          <a:xfrm>
            <a:off x="819150" y="2965450"/>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Print</a:t>
            </a:r>
            <a:r>
              <a:rPr lang="en-US" sz="1200" dirty="0">
                <a:solidFill>
                  <a:srgbClr val="3D4A5C"/>
                </a:solidFill>
                <a:latin typeface="DM Sans" pitchFamily="34" charset="0"/>
                <a:ea typeface="DM Sans" pitchFamily="34" charset="-122"/>
                <a:cs typeface="DM Sans" pitchFamily="34" charset="-120"/>
              </a:rPr>
              <a:t> the court slips for the session, or enter scores as games finish.</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Generated round-robin courts, with Court 1 ringed"/>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Keeping a pair together (round-robin)</a:t>
            </a:r>
            <a:endParaRPr lang="en-US" sz="2800" dirty="0"/>
          </a:p>
        </p:txBody>
      </p:sp>
      <p:sp>
        <p:nvSpPr>
          <p:cNvPr id="4" name="Text 2"/>
          <p:cNvSpPr/>
          <p:nvPr/>
        </p:nvSpPr>
        <p:spPr>
          <a:xfrm>
            <a:off x="876300" y="1562100"/>
            <a:ext cx="3957828" cy="151892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Court grouping</a:t>
            </a:r>
            <a:r>
              <a:rPr lang="en-US" sz="1400" dirty="0">
                <a:solidFill>
                  <a:srgbClr val="3D4A5C"/>
                </a:solidFill>
                <a:latin typeface="DM Sans" pitchFamily="34" charset="0"/>
                <a:ea typeface="DM Sans" pitchFamily="34" charset="-122"/>
                <a:cs typeface="DM Sans" pitchFamily="34" charset="-120"/>
              </a:rPr>
              <a:t>, choose </a:t>
            </a:r>
            <a:r>
              <a:rPr lang="en-US" sz="1400" b="1" dirty="0">
                <a:solidFill>
                  <a:srgbClr val="3D4A5C"/>
                </a:solidFill>
                <a:latin typeface="DM Sans" pitchFamily="34" charset="0"/>
                <a:ea typeface="DM Sans" pitchFamily="34" charset="-122"/>
                <a:cs typeface="DM Sans" pitchFamily="34" charset="-120"/>
              </a:rPr>
              <a:t>Keep pairs together</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Locked pairs</a:t>
            </a:r>
            <a:r>
              <a:rPr lang="en-US" sz="1400" dirty="0">
                <a:solidFill>
                  <a:srgbClr val="3D4A5C"/>
                </a:solidFill>
                <a:latin typeface="DM Sans" pitchFamily="34" charset="0"/>
                <a:ea typeface="DM Sans" pitchFamily="34" charset="-122"/>
                <a:cs typeface="DM Sans" pitchFamily="34" charset="-120"/>
              </a:rPr>
              <a:t>, pick a player and their partner.</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Click </a:t>
            </a:r>
            <a:r>
              <a:rPr lang="en-US" sz="1400" b="1" dirty="0">
                <a:solidFill>
                  <a:srgbClr val="3D4A5C"/>
                </a:solidFill>
                <a:latin typeface="DM Sans" pitchFamily="34" charset="0"/>
                <a:ea typeface="DM Sans" pitchFamily="34" charset="-122"/>
                <a:cs typeface="DM Sans" pitchFamily="34" charset="-120"/>
              </a:rPr>
              <a:t>Link</a:t>
            </a:r>
            <a:r>
              <a:rPr lang="en-US" sz="1400" dirty="0">
                <a:solidFill>
                  <a:srgbClr val="3D4A5C"/>
                </a:solidFill>
                <a:latin typeface="DM Sans" pitchFamily="34" charset="0"/>
                <a:ea typeface="DM Sans" pitchFamily="34" charset="-122"/>
                <a:cs typeface="DM Sans" pitchFamily="34" charset="-120"/>
              </a:rPr>
              <a:t>. Add as many pairs as you need.</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Generate courts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9150" y="32143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Linked pairs</a:t>
            </a:r>
            <a:r>
              <a:rPr lang="en-US" sz="1200" dirty="0">
                <a:solidFill>
                  <a:srgbClr val="3D4A5C"/>
                </a:solidFill>
                <a:latin typeface="DM Sans" pitchFamily="34" charset="0"/>
                <a:ea typeface="DM Sans" pitchFamily="34" charset="-122"/>
                <a:cs typeface="DM Sans" pitchFamily="34" charset="-120"/>
              </a:rPr>
              <a:t> always play as a team and stay on the same court all session. Click the × on a pair to unlink it.</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Locked pairs: a player and their partner chosen, with Link ringed"/>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Running a Social mixer</a:t>
            </a:r>
            <a:endParaRPr lang="en-US" sz="2800" dirty="0"/>
          </a:p>
        </p:txBody>
      </p:sp>
      <p:sp>
        <p:nvSpPr>
          <p:cNvPr id="4" name="Text 2"/>
          <p:cNvSpPr/>
          <p:nvPr/>
        </p:nvSpPr>
        <p:spPr>
          <a:xfrm>
            <a:off x="876300" y="1562100"/>
            <a:ext cx="3957828" cy="179832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Not a mixer yet?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Social mixer</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 </a:t>
            </a:r>
            <a:r>
              <a:rPr lang="en-US" sz="1400" b="1" dirty="0">
                <a:solidFill>
                  <a:srgbClr val="3D4A5C"/>
                </a:solidFill>
                <a:latin typeface="DM Sans" pitchFamily="34" charset="0"/>
                <a:ea typeface="DM Sans" pitchFamily="34" charset="-122"/>
                <a:cs typeface="DM Sans" pitchFamily="34" charset="-120"/>
              </a:rPr>
              <a:t>Record scores</a:t>
            </a:r>
            <a:r>
              <a:rPr lang="en-US" sz="1400" dirty="0">
                <a:solidFill>
                  <a:srgbClr val="3D4A5C"/>
                </a:solidFill>
                <a:latin typeface="DM Sans" pitchFamily="34" charset="0"/>
                <a:ea typeface="DM Sans" pitchFamily="34" charset="-122"/>
                <a:cs typeface="DM Sans" pitchFamily="34" charset="-120"/>
              </a:rPr>
              <a:t> is up to you.</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the number of </a:t>
            </a:r>
            <a:r>
              <a:rPr lang="en-US" sz="1400" b="1" dirty="0">
                <a:solidFill>
                  <a:srgbClr val="3D4A5C"/>
                </a:solidFill>
                <a:latin typeface="DM Sans" pitchFamily="34" charset="0"/>
                <a:ea typeface="DM Sans" pitchFamily="34" charset="-122"/>
                <a:cs typeface="DM Sans" pitchFamily="34" charset="-120"/>
              </a:rPr>
              <a:t>Rounds</a:t>
            </a:r>
            <a:r>
              <a:rPr lang="en-US" sz="1400" dirty="0">
                <a:solidFill>
                  <a:srgbClr val="3D4A5C"/>
                </a:solidFill>
                <a:latin typeface="DM Sans" pitchFamily="34" charset="0"/>
                <a:ea typeface="DM Sans" pitchFamily="34" charset="-122"/>
                <a:cs typeface="DM Sans" pitchFamily="34" charset="-120"/>
              </a:rPr>
              <a:t> (up to 8).</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Link pairs or split into groups if you want, then </a:t>
            </a:r>
            <a:r>
              <a:rPr lang="en-US" sz="1400" b="1" dirty="0">
                <a:solidFill>
                  <a:srgbClr val="3D4A5C"/>
                </a:solidFill>
                <a:latin typeface="DM Sans" pitchFamily="34" charset="0"/>
                <a:ea typeface="DM Sans" pitchFamily="34" charset="-122"/>
                <a:cs typeface="DM Sans" pitchFamily="34" charset="-120"/>
              </a:rPr>
              <a:t>Generate mixer rounds</a:t>
            </a:r>
            <a:r>
              <a:rPr lang="en-US" sz="1400" dirty="0">
                <a:solidFill>
                  <a:srgbClr val="3D4A5C"/>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9150" y="3493771"/>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Everyone rotates:</a:t>
            </a:r>
            <a:r>
              <a:rPr lang="en-US" sz="1200" dirty="0">
                <a:solidFill>
                  <a:srgbClr val="3D4A5C"/>
                </a:solidFill>
                <a:latin typeface="DM Sans" pitchFamily="34" charset="0"/>
                <a:ea typeface="DM Sans" pitchFamily="34" charset="-122"/>
                <a:cs typeface="DM Sans" pitchFamily="34" charset="-120"/>
              </a:rPr>
              <a:t> new partners and opponents each round. </a:t>
            </a:r>
            <a:r>
              <a:rPr lang="en-US" sz="1200" b="1" dirty="0">
                <a:solidFill>
                  <a:srgbClr val="3D4A5C"/>
                </a:solidFill>
                <a:latin typeface="DM Sans" pitchFamily="34" charset="0"/>
                <a:ea typeface="DM Sans" pitchFamily="34" charset="-122"/>
                <a:cs typeface="DM Sans" pitchFamily="34" charset="-120"/>
              </a:rPr>
              <a:t>Re-shuffle</a:t>
            </a:r>
            <a:r>
              <a:rPr lang="en-US" sz="1200" dirty="0">
                <a:solidFill>
                  <a:srgbClr val="3D4A5C"/>
                </a:solidFill>
                <a:latin typeface="DM Sans" pitchFamily="34" charset="0"/>
                <a:ea typeface="DM Sans" pitchFamily="34" charset="-122"/>
                <a:cs typeface="DM Sans" pitchFamily="34" charset="-120"/>
              </a:rPr>
              <a:t> draws all the rounds again.</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The session form with Social mixer chosen under Format, ringed, and Record scores below"/>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Pairs in a Social mixer</a:t>
            </a:r>
            <a:endParaRPr lang="en-US" sz="2800" dirty="0"/>
          </a:p>
        </p:txBody>
      </p:sp>
      <p:sp>
        <p:nvSpPr>
          <p:cNvPr id="4" name="Text 2"/>
          <p:cNvSpPr/>
          <p:nvPr/>
        </p:nvSpPr>
        <p:spPr>
          <a:xfrm>
            <a:off x="879157" y="1562100"/>
            <a:ext cx="3954971" cy="127000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Under </a:t>
            </a:r>
            <a:r>
              <a:rPr lang="en-US" sz="1400" b="1" dirty="0">
                <a:solidFill>
                  <a:srgbClr val="3D4A5C"/>
                </a:solidFill>
                <a:latin typeface="DM Sans" pitchFamily="34" charset="0"/>
                <a:ea typeface="DM Sans" pitchFamily="34" charset="-122"/>
                <a:cs typeface="DM Sans" pitchFamily="34" charset="-120"/>
              </a:rPr>
              <a:t>Linked pairs</a:t>
            </a:r>
            <a:r>
              <a:rPr lang="en-US" sz="1400" dirty="0">
                <a:solidFill>
                  <a:srgbClr val="3D4A5C"/>
                </a:solidFill>
                <a:latin typeface="DM Sans" pitchFamily="34" charset="0"/>
                <a:ea typeface="DM Sans" pitchFamily="34" charset="-122"/>
                <a:cs typeface="DM Sans" pitchFamily="34" charset="-120"/>
              </a:rPr>
              <a:t>, pick a player and their partner, then click </a:t>
            </a:r>
            <a:r>
              <a:rPr lang="en-US" sz="1400" b="1" dirty="0">
                <a:solidFill>
                  <a:srgbClr val="3D4A5C"/>
                </a:solidFill>
                <a:latin typeface="DM Sans" pitchFamily="34" charset="0"/>
                <a:ea typeface="DM Sans" pitchFamily="34" charset="-122"/>
                <a:cs typeface="DM Sans" pitchFamily="34" charset="-120"/>
              </a:rPr>
              <a:t>Link</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Choose how long they stay partners: </a:t>
            </a:r>
            <a:r>
              <a:rPr lang="en-US" sz="1400" b="1" dirty="0">
                <a:solidFill>
                  <a:srgbClr val="3D4A5C"/>
                </a:solidFill>
                <a:latin typeface="DM Sans" pitchFamily="34" charset="0"/>
                <a:ea typeface="DM Sans" pitchFamily="34" charset="-122"/>
                <a:cs typeface="DM Sans" pitchFamily="34" charset="-120"/>
              </a:rPr>
              <a:t>Partners for the first 2 rounds</a:t>
            </a:r>
            <a:r>
              <a:rPr lang="en-US" sz="1400" dirty="0">
                <a:solidFill>
                  <a:srgbClr val="3D4A5C"/>
                </a:solidFill>
                <a:latin typeface="DM Sans" pitchFamily="34" charset="0"/>
                <a:ea typeface="DM Sans" pitchFamily="34" charset="-122"/>
                <a:cs typeface="DM Sans" pitchFamily="34" charset="-120"/>
              </a:rPr>
              <a:t>, for example.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Generate the rounds.</a:t>
            </a:r>
            <a:endParaRPr lang="en-US" sz="1400" dirty="0"/>
          </a:p>
        </p:txBody>
      </p:sp>
      <p:sp>
        <p:nvSpPr>
          <p:cNvPr id="5" name="Text 3"/>
          <p:cNvSpPr/>
          <p:nvPr/>
        </p:nvSpPr>
        <p:spPr>
          <a:xfrm>
            <a:off x="819150" y="2965450"/>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While they’re partners</a:t>
            </a:r>
            <a:r>
              <a:rPr lang="en-US" sz="1200" dirty="0">
                <a:solidFill>
                  <a:srgbClr val="3D4A5C"/>
                </a:solidFill>
                <a:latin typeface="DM Sans" pitchFamily="34" charset="0"/>
                <a:ea typeface="DM Sans" pitchFamily="34" charset="-122"/>
                <a:cs typeface="DM Sans" pitchFamily="34" charset="-120"/>
              </a:rPr>
              <a:t> they play as a team and sit out together. After that they mix in with everyone, on new partners.</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Linked pairs on a Social mixer, with Partners for the first 2 rounds ringed"/>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Splitting courts into groups</a:t>
            </a:r>
            <a:endParaRPr lang="en-US" sz="2800" dirty="0"/>
          </a:p>
        </p:txBody>
      </p:sp>
      <p:sp>
        <p:nvSpPr>
          <p:cNvPr id="4" name="Text 2"/>
          <p:cNvSpPr/>
          <p:nvPr/>
        </p:nvSpPr>
        <p:spPr>
          <a:xfrm>
            <a:off x="876300" y="15621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Social mixer or Custom. Under </a:t>
            </a:r>
            <a:r>
              <a:rPr lang="en-US" sz="1400" b="1" dirty="0">
                <a:solidFill>
                  <a:srgbClr val="3D4A5C"/>
                </a:solidFill>
                <a:latin typeface="DM Sans" pitchFamily="34" charset="0"/>
                <a:ea typeface="DM Sans" pitchFamily="34" charset="-122"/>
                <a:cs typeface="DM Sans" pitchFamily="34" charset="-120"/>
              </a:rPr>
              <a:t>Court groups</a:t>
            </a:r>
            <a:r>
              <a:rPr lang="en-US" sz="1400" dirty="0">
                <a:solidFill>
                  <a:srgbClr val="3D4A5C"/>
                </a:solidFill>
                <a:latin typeface="DM Sans" pitchFamily="34" charset="0"/>
                <a:ea typeface="DM Sans" pitchFamily="34" charset="-122"/>
                <a:cs typeface="DM Sans" pitchFamily="34" charset="-120"/>
              </a:rPr>
              <a:t>, click </a:t>
            </a:r>
            <a:r>
              <a:rPr lang="en-US" sz="1400" b="1" dirty="0">
                <a:solidFill>
                  <a:srgbClr val="3D4A5C"/>
                </a:solidFill>
                <a:latin typeface="DM Sans" pitchFamily="34" charset="0"/>
                <a:ea typeface="DM Sans" pitchFamily="34" charset="-122"/>
                <a:cs typeface="DM Sans" pitchFamily="34" charset="-120"/>
              </a:rPr>
              <a:t>Split into groups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Name each group and say how many courts it has.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 Add another group</a:t>
            </a:r>
            <a:r>
              <a:rPr lang="en-US" sz="1400" dirty="0">
                <a:solidFill>
                  <a:srgbClr val="3D4A5C"/>
                </a:solidFill>
                <a:latin typeface="DM Sans" pitchFamily="34" charset="0"/>
                <a:ea typeface="DM Sans" pitchFamily="34" charset="-122"/>
                <a:cs typeface="DM Sans" pitchFamily="34" charset="-120"/>
              </a:rPr>
              <a:t> if you need more.</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Mixer: generate the rounds. Custom: the court plan updates.</a:t>
            </a:r>
            <a:endParaRPr lang="en-US" sz="1400" dirty="0"/>
          </a:p>
        </p:txBody>
      </p:sp>
      <p:sp>
        <p:nvSpPr>
          <p:cNvPr id="5" name="Text 3"/>
          <p:cNvSpPr/>
          <p:nvPr/>
        </p:nvSpPr>
        <p:spPr>
          <a:xfrm>
            <a:off x="819150" y="3463292"/>
            <a:ext cx="3898900" cy="1165860"/>
          </a:xfrm>
          <a:prstGeom prst="roundRect">
            <a:avLst>
              <a:gd name="adj" fmla="val 817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Players only rotate within their group.</a:t>
            </a:r>
            <a:r>
              <a:rPr lang="en-US" sz="1200" dirty="0">
                <a:solidFill>
                  <a:srgbClr val="3D4A5C"/>
                </a:solidFill>
                <a:latin typeface="DM Sans" pitchFamily="34" charset="0"/>
                <a:ea typeface="DM Sans" pitchFamily="34" charset="-122"/>
                <a:cs typeface="DM Sans" pitchFamily="34" charset="-120"/>
              </a:rPr>
              <a:t> Groups fill from the top of the seed order, so the first group takes the top of the list. Linked pairs stay in the same group.</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Court groups: two named groups with their courts and players"/>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64"/>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Running a Custom session</a:t>
            </a:r>
            <a:endParaRPr lang="en-US" sz="2800" dirty="0"/>
          </a:p>
        </p:txBody>
      </p:sp>
      <p:sp>
        <p:nvSpPr>
          <p:cNvPr id="4" name="Text 2"/>
          <p:cNvSpPr/>
          <p:nvPr/>
        </p:nvSpPr>
        <p:spPr>
          <a:xfrm>
            <a:off x="876300" y="1562100"/>
            <a:ext cx="3957828" cy="17932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Not Custom yet? </a:t>
            </a:r>
            <a:r>
              <a:rPr lang="en-US" sz="1400" b="1" dirty="0">
                <a:solidFill>
                  <a:srgbClr val="3D4A5C"/>
                </a:solidFill>
                <a:latin typeface="DM Sans" pitchFamily="34" charset="0"/>
                <a:ea typeface="DM Sans" pitchFamily="34" charset="-122"/>
                <a:cs typeface="DM Sans" pitchFamily="34" charset="-120"/>
              </a:rPr>
              <a:t>Edit session details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Save changes</a:t>
            </a:r>
            <a:r>
              <a:rPr lang="en-US" sz="1400" dirty="0">
                <a:solidFill>
                  <a:srgbClr val="3D4A5C"/>
                </a:solidFill>
                <a:latin typeface="DM Sans" pitchFamily="34" charset="0"/>
                <a:ea typeface="DM Sans" pitchFamily="34" charset="-122"/>
                <a:cs typeface="DM Sans" pitchFamily="34" charset="-120"/>
              </a:rPr>
              <a:t>.</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No score or timer settings: Custom just books the courts.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Set the </a:t>
            </a:r>
            <a:r>
              <a:rPr lang="en-US" sz="1400" b="1" dirty="0">
                <a:solidFill>
                  <a:srgbClr val="3D4A5C"/>
                </a:solidFill>
                <a:latin typeface="DM Sans" pitchFamily="34" charset="0"/>
                <a:ea typeface="DM Sans" pitchFamily="34" charset="-122"/>
                <a:cs typeface="DM Sans" pitchFamily="34" charset="-120"/>
              </a:rPr>
              <a:t>Courts booked</a:t>
            </a:r>
            <a:r>
              <a:rPr lang="en-US" sz="1400" dirty="0">
                <a:solidFill>
                  <a:srgbClr val="3D4A5C"/>
                </a:solidFill>
                <a:latin typeface="DM Sans" pitchFamily="34" charset="0"/>
                <a:ea typeface="DM Sans" pitchFamily="34" charset="-122"/>
                <a:cs typeface="DM Sans" pitchFamily="34" charset="-120"/>
              </a:rPr>
              <a:t> and print a court plan.</a:t>
            </a:r>
            <a:endParaRPr lang="en-US" sz="1400" dirty="0"/>
          </a:p>
        </p:txBody>
      </p:sp>
      <p:sp>
        <p:nvSpPr>
          <p:cNvPr id="5" name="Text 3"/>
          <p:cNvSpPr/>
          <p:nvPr/>
        </p:nvSpPr>
        <p:spPr>
          <a:xfrm>
            <a:off x="819150" y="3488692"/>
            <a:ext cx="3898900" cy="952500"/>
          </a:xfrm>
          <a:prstGeom prst="roundRect">
            <a:avLst>
              <a:gd name="adj" fmla="val 10000"/>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Custom</a:t>
            </a:r>
            <a:r>
              <a:rPr lang="en-US" sz="1200" dirty="0">
                <a:solidFill>
                  <a:srgbClr val="3D4A5C"/>
                </a:solidFill>
                <a:latin typeface="DM Sans" pitchFamily="34" charset="0"/>
                <a:ea typeface="DM Sans" pitchFamily="34" charset="-122"/>
                <a:cs typeface="DM Sans" pitchFamily="34" charset="-120"/>
              </a:rPr>
              <a:t> is for when you run the play yourself: drills, coaching, a league night, or a format we don’t draw up.</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The session form with Custom chosen under Format, ringed, and the explanation of Custom below"/>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81967"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2 · BUILDING THE COURTS</a:t>
            </a:r>
            <a:endParaRPr lang="en-US" sz="1200" dirty="0"/>
          </a:p>
        </p:txBody>
      </p:sp>
      <p:sp>
        <p:nvSpPr>
          <p:cNvPr id="3" name="Text 1"/>
          <p:cNvSpPr>
            <a:spLocks noGrp="1"/>
          </p:cNvSpPr>
          <p:nvPr>
            <p:ph type="title"/>
          </p:nvPr>
        </p:nvSpPr>
        <p:spPr>
          <a:xfrm>
            <a:off x="812800" y="8991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Custom: just booking the courts</a:t>
            </a:r>
            <a:endParaRPr lang="en-US" sz="2800" dirty="0"/>
          </a:p>
        </p:txBody>
      </p:sp>
      <p:sp>
        <p:nvSpPr>
          <p:cNvPr id="4" name="Text 2"/>
          <p:cNvSpPr/>
          <p:nvPr/>
        </p:nvSpPr>
        <p:spPr>
          <a:xfrm>
            <a:off x="876300" y="15621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Open the </a:t>
            </a:r>
            <a:r>
              <a:rPr lang="en-US" sz="1400" b="1" dirty="0">
                <a:solidFill>
                  <a:srgbClr val="3D4A5C"/>
                </a:solidFill>
                <a:latin typeface="DM Sans" pitchFamily="34" charset="0"/>
                <a:ea typeface="DM Sans" pitchFamily="34" charset="-122"/>
                <a:cs typeface="DM Sans" pitchFamily="34" charset="-120"/>
              </a:rPr>
              <a:t>Custom</a:t>
            </a:r>
            <a:r>
              <a:rPr lang="en-US" sz="1400" dirty="0">
                <a:solidFill>
                  <a:srgbClr val="3D4A5C"/>
                </a:solidFill>
                <a:latin typeface="DM Sans" pitchFamily="34" charset="0"/>
                <a:ea typeface="DM Sans" pitchFamily="34" charset="-122"/>
                <a:cs typeface="DM Sans" pitchFamily="34" charset="-120"/>
              </a:rPr>
              <a:t> session. No games are drawn up and there are no scores.</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session, set the courts you’ve booked and check who’s playing.</a:t>
            </a:r>
            <a:endParaRPr lang="en-US" sz="1400" dirty="0"/>
          </a:p>
          <a:p>
            <a:pPr marL="190500" indent="-190500"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If you want, split the courts into groups and link pairs.</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Print court plan</a:t>
            </a:r>
            <a:r>
              <a:rPr lang="en-US" sz="1400" dirty="0">
                <a:solidFill>
                  <a:srgbClr val="3D4A5C"/>
                </a:solidFill>
                <a:latin typeface="DM Sans" pitchFamily="34" charset="0"/>
                <a:ea typeface="DM Sans" pitchFamily="34" charset="-122"/>
                <a:cs typeface="DM Sans" pitchFamily="34" charset="-120"/>
              </a:rPr>
              <a:t> for the day.</a:t>
            </a:r>
            <a:endParaRPr lang="en-US" sz="1400" dirty="0"/>
          </a:p>
        </p:txBody>
      </p:sp>
      <p:sp>
        <p:nvSpPr>
          <p:cNvPr id="5" name="Text 3"/>
          <p:cNvSpPr/>
          <p:nvPr/>
        </p:nvSpPr>
        <p:spPr>
          <a:xfrm>
            <a:off x="819150" y="34632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Players book a Custom session like any other.</a:t>
            </a:r>
            <a:r>
              <a:rPr lang="en-US" sz="1200" dirty="0">
                <a:solidFill>
                  <a:srgbClr val="3D4A5C"/>
                </a:solidFill>
                <a:latin typeface="DM Sans" pitchFamily="34" charset="0"/>
                <a:ea typeface="DM Sans" pitchFamily="34" charset="-122"/>
                <a:cs typeface="DM Sans" pitchFamily="34" charset="-120"/>
              </a:rPr>
              <a:t> The court plan is for you and your helpers.</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The court plan for a Custom session: two groups with their courts and players, and Print court plan"/>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p:nvPr/>
        </p:nvSpPr>
        <p:spPr>
          <a:xfrm>
            <a:off x="812800" y="2105658"/>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97316"/>
                </a:solidFill>
                <a:latin typeface="Poppins" pitchFamily="34" charset="0"/>
                <a:ea typeface="Poppins" pitchFamily="34" charset="-122"/>
                <a:cs typeface="Poppins" pitchFamily="34" charset="-120"/>
              </a:rPr>
              <a:t>3</a:t>
            </a:r>
            <a:endParaRPr lang="en-US" sz="6000" dirty="0"/>
          </a:p>
        </p:txBody>
      </p:sp>
      <p:sp>
        <p:nvSpPr>
          <p:cNvPr id="4" name="Text 2"/>
          <p:cNvSpPr>
            <a:spLocks noGrp="1"/>
          </p:cNvSpPr>
          <p:nvPr>
            <p:ph type="title"/>
          </p:nvPr>
        </p:nvSpPr>
        <p:spPr>
          <a:xfrm>
            <a:off x="812800" y="3070858"/>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Running the session</a:t>
            </a:r>
            <a:endParaRPr lang="en-US" sz="4800" dirty="0"/>
          </a:p>
        </p:txBody>
      </p:sp>
      <p:sp>
        <p:nvSpPr>
          <p:cNvPr id="5" name="Text 3"/>
          <p:cNvSpPr/>
          <p:nvPr/>
        </p:nvSpPr>
        <p:spPr>
          <a:xfrm>
            <a:off x="812800" y="3914142"/>
            <a:ext cx="850265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2E0"/>
                </a:solidFill>
                <a:latin typeface="DM Sans" pitchFamily="34" charset="0"/>
                <a:ea typeface="DM Sans" pitchFamily="34" charset="-122"/>
                <a:cs typeface="DM Sans" pitchFamily="34" charset="-120"/>
              </a:rPr>
              <a:t>Opening a session, where players book and the waiting list.</a:t>
            </a:r>
            <a:endParaRPr lang="en-US" sz="1700" dirty="0"/>
          </a:p>
        </p:txBody>
      </p:sp>
      <p:sp>
        <p:nvSpPr>
          <p:cNvPr id="6" name="Text 4"/>
          <p:cNvSpPr/>
          <p:nvPr/>
        </p:nvSpPr>
        <p:spPr>
          <a:xfrm>
            <a:off x="812800" y="4419600"/>
            <a:ext cx="2170589" cy="332740"/>
          </a:xfrm>
          <a:prstGeom prst="roundRect">
            <a:avLst>
              <a:gd name="adj" fmla="val 50000"/>
            </a:avLst>
          </a:prstGeom>
          <a:solidFill>
            <a:srgbClr val="F97316"/>
          </a:solidFill>
          <a:ln/>
        </p:spPr>
        <p:txBody>
          <a:bodyPr wrap="none" lIns="0" tIns="0" rIns="0" bIns="0" rtlCol="0" anchor="ctr">
            <a:normAutofit/>
          </a:bodyPr>
          <a:lstStyle/>
          <a:p>
            <a:pPr marL="0" indent="0" algn="ctr">
              <a:lnSpc>
                <a:spcPts val="1820"/>
              </a:lnSpc>
              <a:buNone/>
            </a:pPr>
            <a:r>
              <a:rPr lang="en-US" sz="1300" b="1" dirty="0">
                <a:solidFill>
                  <a:srgbClr val="101828"/>
                </a:solidFill>
                <a:latin typeface="DM Sans" pitchFamily="34" charset="0"/>
                <a:ea typeface="DM Sans" pitchFamily="34" charset="-122"/>
                <a:cs typeface="DM Sans" pitchFamily="34" charset="-120"/>
              </a:rPr>
              <a:t>For: Club Ambassadors</a:t>
            </a:r>
            <a:endParaRPr lang="en-US" sz="1300" dirty="0"/>
          </a:p>
        </p:txBody>
      </p:sp>
      <p:pic>
        <p:nvPicPr>
          <p:cNvPr id="7" name="Image 0" descr="twoclear"/>
          <p:cNvPicPr>
            <a:picLocks noChangeAspect="1"/>
          </p:cNvPicPr>
          <p:nvPr/>
        </p:nvPicPr>
        <p:blipFill>
          <a:blip r:embed="rId3"/>
          <a:srcRect l="-224" r="-224"/>
          <a:stretch/>
        </p:blipFill>
        <p:spPr>
          <a:xfrm>
            <a:off x="9474200" y="5822950"/>
            <a:ext cx="1905000" cy="4254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9863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a:spLocks noGrp="1"/>
          </p:cNvSpPr>
          <p:nvPr>
            <p:ph type="title"/>
          </p:nvPr>
        </p:nvSpPr>
        <p:spPr>
          <a:xfrm>
            <a:off x="812800" y="8991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Opening the session</a:t>
            </a:r>
            <a:endParaRPr lang="en-US" sz="2800" dirty="0"/>
          </a:p>
        </p:txBody>
      </p:sp>
      <p:sp>
        <p:nvSpPr>
          <p:cNvPr id="4" name="Text 2"/>
          <p:cNvSpPr/>
          <p:nvPr/>
        </p:nvSpPr>
        <p:spPr>
          <a:xfrm>
            <a:off x="876300" y="1562100"/>
            <a:ext cx="3957828" cy="1767840"/>
          </a:xfrm>
          <a:prstGeom prst="rect">
            <a:avLst/>
          </a:prstGeom>
          <a:noFill/>
          <a:ln/>
        </p:spPr>
        <p:txBody>
          <a:bodyPr wrap="square" lIns="0" tIns="0" rIns="0" bIns="0" rtlCol="0" anchor="t">
            <a:normAutofit/>
          </a:bodyPr>
          <a:lstStyle/>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Social sessions</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Open</a:t>
            </a:r>
            <a:r>
              <a:rPr lang="en-US" sz="1400" dirty="0">
                <a:solidFill>
                  <a:srgbClr val="3D4A5C"/>
                </a:solidFill>
                <a:latin typeface="DM Sans" pitchFamily="34" charset="0"/>
                <a:ea typeface="DM Sans" pitchFamily="34" charset="-122"/>
                <a:cs typeface="DM Sans" pitchFamily="34" charset="-120"/>
              </a:rPr>
              <a:t> on the session.</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Show members this session</a:t>
            </a:r>
            <a:r>
              <a:rPr lang="en-US" sz="1400" dirty="0">
                <a:solidFill>
                  <a:srgbClr val="3D4A5C"/>
                </a:solidFill>
                <a:latin typeface="DM Sans" pitchFamily="34" charset="0"/>
                <a:ea typeface="DM Sans" pitchFamily="34" charset="-122"/>
                <a:cs typeface="DM Sans" pitchFamily="34" charset="-120"/>
              </a:rPr>
              <a:t> puts it on the Social page.</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Open for booking</a:t>
            </a:r>
            <a:r>
              <a:rPr lang="en-US" sz="1400" dirty="0">
                <a:solidFill>
                  <a:srgbClr val="3D4A5C"/>
                </a:solidFill>
                <a:latin typeface="DM Sans" pitchFamily="34" charset="0"/>
                <a:ea typeface="DM Sans" pitchFamily="34" charset="-122"/>
                <a:cs typeface="DM Sans" pitchFamily="34" charset="-120"/>
              </a:rPr>
              <a:t> lets members book in the app.</a:t>
            </a:r>
            <a:endParaRPr lang="en-US" sz="1400" dirty="0"/>
          </a:p>
          <a:p>
            <a:pPr marL="190500" indent="-190500" algn="l">
              <a:lnSpc>
                <a:spcPts val="1960"/>
              </a:lnSpc>
              <a:buSzPct val="100000"/>
              <a:buFontTx/>
              <a:buAutoNum type="arabicPeriod"/>
            </a:pPr>
            <a:r>
              <a:rPr lang="en-US" sz="1400" b="1" dirty="0">
                <a:solidFill>
                  <a:srgbClr val="3D4A5C"/>
                </a:solidFill>
                <a:latin typeface="DM Sans" pitchFamily="34" charset="0"/>
                <a:ea typeface="DM Sans" pitchFamily="34" charset="-122"/>
                <a:cs typeface="DM Sans" pitchFamily="34" charset="-120"/>
              </a:rPr>
              <a:t>Booked so far</a:t>
            </a:r>
            <a:r>
              <a:rPr lang="en-US" sz="1400" dirty="0">
                <a:solidFill>
                  <a:srgbClr val="3D4A5C"/>
                </a:solidFill>
                <a:latin typeface="DM Sans" pitchFamily="34" charset="0"/>
                <a:ea typeface="DM Sans" pitchFamily="34" charset="-122"/>
                <a:cs typeface="DM Sans" pitchFamily="34" charset="-120"/>
              </a:rPr>
              <a:t> shows who’s coming and how many places are taken.</a:t>
            </a:r>
            <a:endParaRPr lang="en-US" sz="1400" dirty="0"/>
          </a:p>
        </p:txBody>
      </p:sp>
      <p:sp>
        <p:nvSpPr>
          <p:cNvPr id="5" name="Text 3"/>
          <p:cNvSpPr/>
          <p:nvPr/>
        </p:nvSpPr>
        <p:spPr>
          <a:xfrm>
            <a:off x="819150" y="3463292"/>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Showing</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 are separate: you can open booking before the line-up is public.</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A session with Show members, Open for booking and Booked so far, the booked list ringed"/>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9863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a:spLocks noGrp="1"/>
          </p:cNvSpPr>
          <p:nvPr>
            <p:ph type="title"/>
          </p:nvPr>
        </p:nvSpPr>
        <p:spPr>
          <a:xfrm>
            <a:off x="812800" y="8991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Where players book</a:t>
            </a:r>
            <a:endParaRPr lang="en-US" sz="2800" dirty="0"/>
          </a:p>
        </p:txBody>
      </p:sp>
      <p:sp>
        <p:nvSpPr>
          <p:cNvPr id="4" name="Text 2"/>
          <p:cNvSpPr/>
          <p:nvPr/>
        </p:nvSpPr>
        <p:spPr>
          <a:xfrm>
            <a:off x="879157" y="1562100"/>
            <a:ext cx="3928809" cy="15189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the club site: </a:t>
            </a:r>
            <a:r>
              <a:rPr lang="en-US" sz="1400" b="1" dirty="0">
                <a:solidFill>
                  <a:srgbClr val="3D4A5C"/>
                </a:solidFill>
                <a:latin typeface="DM Sans" pitchFamily="34" charset="0"/>
                <a:ea typeface="DM Sans" pitchFamily="34" charset="-122"/>
                <a:cs typeface="DM Sans" pitchFamily="34" charset="-120"/>
              </a:rPr>
              <a:t>Booking</a:t>
            </a:r>
            <a:r>
              <a:rPr lang="en-US" sz="1400" dirty="0">
                <a:solidFill>
                  <a:srgbClr val="3D4A5C"/>
                </a:solidFill>
                <a:latin typeface="DM Sans" pitchFamily="34" charset="0"/>
                <a:ea typeface="DM Sans" pitchFamily="34" charset="-122"/>
                <a:cs typeface="DM Sans" pitchFamily="34" charset="-120"/>
              </a:rPr>
              <a:t> → </a:t>
            </a:r>
            <a:r>
              <a:rPr lang="en-US" sz="1400" b="1" dirty="0">
                <a:solidFill>
                  <a:srgbClr val="3D4A5C"/>
                </a:solidFill>
                <a:latin typeface="DM Sans" pitchFamily="34" charset="0"/>
                <a:ea typeface="DM Sans" pitchFamily="34" charset="-122"/>
                <a:cs typeface="DM Sans" pitchFamily="34" charset="-120"/>
              </a:rPr>
              <a:t>Book a session</a:t>
            </a:r>
            <a:r>
              <a:rPr lang="en-US" sz="1400" dirty="0">
                <a:solidFill>
                  <a:srgbClr val="3D4A5C"/>
                </a:solidFill>
                <a:latin typeface="DM Sans" pitchFamily="34" charset="0"/>
                <a:ea typeface="DM Sans" pitchFamily="34" charset="-122"/>
                <a:cs typeface="DM Sans" pitchFamily="34" charset="-120"/>
              </a:rPr>
              <a: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On a phone, the club’s app on the home screen opens the same page.</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They tap a session, then </a:t>
            </a:r>
            <a:r>
              <a:rPr lang="en-US" sz="1400" b="1" dirty="0">
                <a:solidFill>
                  <a:srgbClr val="3D4A5C"/>
                </a:solidFill>
                <a:latin typeface="DM Sans" pitchFamily="34" charset="0"/>
                <a:ea typeface="DM Sans" pitchFamily="34" charset="-122"/>
                <a:cs typeface="DM Sans" pitchFamily="34" charset="-120"/>
              </a:rPr>
              <a:t>Book</a:t>
            </a:r>
            <a:r>
              <a:rPr lang="en-US" sz="1400" dirty="0">
                <a:solidFill>
                  <a:srgbClr val="3D4A5C"/>
                </a:solidFill>
                <a:latin typeface="DM Sans" pitchFamily="34" charset="0"/>
                <a:ea typeface="DM Sans" pitchFamily="34" charset="-122"/>
                <a:cs typeface="DM Sans" pitchFamily="34" charset="-120"/>
              </a:rPr>
              <a:t>. It’s paid from their wallet.</a:t>
            </a:r>
            <a:endParaRPr lang="en-US" sz="1400" dirty="0"/>
          </a:p>
        </p:txBody>
      </p:sp>
      <p:sp>
        <p:nvSpPr>
          <p:cNvPr id="5" name="Text 3"/>
          <p:cNvSpPr/>
          <p:nvPr/>
        </p:nvSpPr>
        <p:spPr>
          <a:xfrm>
            <a:off x="819150" y="3214377"/>
            <a:ext cx="3873500" cy="739140"/>
          </a:xfrm>
          <a:prstGeom prst="roundRect">
            <a:avLst>
              <a:gd name="adj" fmla="val 12887"/>
            </a:avLst>
          </a:prstGeom>
          <a:solidFill>
            <a:srgbClr val="FFFDF9"/>
          </a:solidFill>
          <a:ln w="12700">
            <a:solidFill>
              <a:srgbClr val="E4DED3"/>
            </a:solidFill>
            <a:prstDash val="solid"/>
          </a:ln>
        </p:spPr>
        <p:txBody>
          <a:bodyPr wrap="square" lIns="153712" tIns="128312" rIns="48404"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My bookings</a:t>
            </a:r>
            <a:r>
              <a:rPr lang="en-US" sz="1200" dirty="0">
                <a:solidFill>
                  <a:srgbClr val="3D4A5C"/>
                </a:solidFill>
                <a:latin typeface="DM Sans" pitchFamily="34" charset="0"/>
                <a:ea typeface="DM Sans" pitchFamily="34" charset="-122"/>
                <a:cs typeface="DM Sans" pitchFamily="34" charset="-120"/>
              </a:rPr>
              <a:t> and </a:t>
            </a:r>
            <a:r>
              <a:rPr lang="en-US" sz="1200" b="1" dirty="0">
                <a:solidFill>
                  <a:srgbClr val="3D4A5C"/>
                </a:solidFill>
                <a:latin typeface="DM Sans" pitchFamily="34" charset="0"/>
                <a:ea typeface="DM Sans" pitchFamily="34" charset="-122"/>
                <a:cs typeface="DM Sans" pitchFamily="34" charset="-120"/>
              </a:rPr>
              <a:t>Wallet</a:t>
            </a:r>
            <a:r>
              <a:rPr lang="en-US" sz="1200" dirty="0">
                <a:solidFill>
                  <a:srgbClr val="3D4A5C"/>
                </a:solidFill>
                <a:latin typeface="DM Sans" pitchFamily="34" charset="0"/>
                <a:ea typeface="DM Sans" pitchFamily="34" charset="-122"/>
                <a:cs typeface="DM Sans" pitchFamily="34" charset="-120"/>
              </a:rPr>
              <a:t> sit just below: that’s where players cancel and top up.</a:t>
            </a:r>
            <a:endParaRPr lang="en-US" sz="1200" dirty="0"/>
          </a:p>
        </p:txBody>
      </p:sp>
      <p:sp>
        <p:nvSpPr>
          <p:cNvPr id="6" name="Shape 4"/>
          <p:cNvSpPr/>
          <p:nvPr/>
        </p:nvSpPr>
        <p:spPr>
          <a:xfrm>
            <a:off x="5003800" y="1562100"/>
            <a:ext cx="4445000" cy="2781300"/>
          </a:xfrm>
          <a:prstGeom prst="roundRect">
            <a:avLst>
              <a:gd name="adj" fmla="val 3653"/>
            </a:avLst>
          </a:prstGeom>
          <a:solidFill>
            <a:srgbClr val="FFFDF9"/>
          </a:solidFill>
          <a:ln/>
        </p:spPr>
      </p:sp>
      <p:pic>
        <p:nvPicPr>
          <p:cNvPr id="7" name="Image 0" descr="The club site with Book a session ringed in the Booking menu, showing upcoming sessions"/>
          <p:cNvPicPr>
            <a:picLocks noChangeAspect="1"/>
          </p:cNvPicPr>
          <p:nvPr/>
        </p:nvPicPr>
        <p:blipFill>
          <a:blip r:embed="rId3"/>
          <a:srcRect l="-115" r="-115"/>
          <a:stretch/>
        </p:blipFill>
        <p:spPr>
          <a:xfrm>
            <a:off x="5016500" y="1574800"/>
            <a:ext cx="4419600" cy="2755900"/>
          </a:xfrm>
          <a:prstGeom prst="roundRect">
            <a:avLst>
              <a:gd name="adj" fmla="val 3226"/>
            </a:avLst>
          </a:prstGeom>
        </p:spPr>
      </p:pic>
      <p:sp>
        <p:nvSpPr>
          <p:cNvPr id="8" name="Shape 5"/>
          <p:cNvSpPr/>
          <p:nvPr/>
        </p:nvSpPr>
        <p:spPr>
          <a:xfrm>
            <a:off x="5010150" y="1568450"/>
            <a:ext cx="4432300" cy="2768600"/>
          </a:xfrm>
          <a:prstGeom prst="roundRect">
            <a:avLst>
              <a:gd name="adj" fmla="val 3440"/>
            </a:avLst>
          </a:prstGeom>
          <a:noFill/>
          <a:ln w="12700">
            <a:solidFill>
              <a:srgbClr val="E4DED3"/>
            </a:solidFill>
            <a:prstDash val="solid"/>
          </a:ln>
        </p:spPr>
      </p:sp>
      <p:sp>
        <p:nvSpPr>
          <p:cNvPr id="9" name="Shape 6"/>
          <p:cNvSpPr/>
          <p:nvPr/>
        </p:nvSpPr>
        <p:spPr>
          <a:xfrm>
            <a:off x="9601200" y="1562100"/>
            <a:ext cx="1778000" cy="2692400"/>
          </a:xfrm>
          <a:prstGeom prst="roundRect">
            <a:avLst>
              <a:gd name="adj" fmla="val 5714"/>
            </a:avLst>
          </a:prstGeom>
          <a:solidFill>
            <a:srgbClr val="FFFDF9"/>
          </a:solidFill>
          <a:ln/>
        </p:spPr>
      </p:sp>
      <p:pic>
        <p:nvPicPr>
          <p:cNvPr id="10" name="Image 1" descr="A session in the booking app on a phone, with the Book button ringed"/>
          <p:cNvPicPr>
            <a:picLocks noChangeAspect="1"/>
          </p:cNvPicPr>
          <p:nvPr/>
        </p:nvPicPr>
        <p:blipFill>
          <a:blip r:embed="rId4"/>
          <a:srcRect t="-295" b="-295"/>
          <a:stretch/>
        </p:blipFill>
        <p:spPr>
          <a:xfrm>
            <a:off x="9613900" y="1574800"/>
            <a:ext cx="1752600" cy="2667000"/>
          </a:xfrm>
          <a:prstGeom prst="roundRect">
            <a:avLst>
              <a:gd name="adj" fmla="val 5072"/>
            </a:avLst>
          </a:prstGeom>
        </p:spPr>
      </p:pic>
      <p:sp>
        <p:nvSpPr>
          <p:cNvPr id="11" name="Shape 7"/>
          <p:cNvSpPr/>
          <p:nvPr/>
        </p:nvSpPr>
        <p:spPr>
          <a:xfrm>
            <a:off x="9607550" y="1568450"/>
            <a:ext cx="1765300" cy="2679700"/>
          </a:xfrm>
          <a:prstGeom prst="roundRect">
            <a:avLst>
              <a:gd name="adj" fmla="val 5396"/>
            </a:avLst>
          </a:prstGeom>
          <a:noFill/>
          <a:ln w="12700">
            <a:solidFill>
              <a:srgbClr val="E4DED3"/>
            </a:solidFill>
            <a:prstDash val="solid"/>
          </a:ln>
        </p:spPr>
      </p:sp>
      <p:sp>
        <p:nvSpPr>
          <p:cNvPr id="12" name="Text 8"/>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3" name="Image 2" descr="twoclear"/>
          <p:cNvPicPr>
            <a:picLocks noChangeAspect="1"/>
          </p:cNvPicPr>
          <p:nvPr/>
        </p:nvPicPr>
        <p:blipFill>
          <a:blip r:embed="rId5"/>
          <a:srcRect t="-149" b="-149"/>
          <a:stretch/>
        </p:blipFill>
        <p:spPr>
          <a:xfrm>
            <a:off x="10109200" y="6229350"/>
            <a:ext cx="1270000" cy="2857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09600"/>
            <a:ext cx="279863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3 · RUNNING THE SESSION</a:t>
            </a:r>
            <a:endParaRPr lang="en-US" sz="1200" dirty="0"/>
          </a:p>
        </p:txBody>
      </p:sp>
      <p:sp>
        <p:nvSpPr>
          <p:cNvPr id="3" name="Text 1"/>
          <p:cNvSpPr>
            <a:spLocks noGrp="1"/>
          </p:cNvSpPr>
          <p:nvPr>
            <p:ph type="title"/>
          </p:nvPr>
        </p:nvSpPr>
        <p:spPr>
          <a:xfrm>
            <a:off x="812800" y="899158"/>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01828"/>
                </a:solidFill>
                <a:latin typeface="Poppins" pitchFamily="34" charset="0"/>
                <a:ea typeface="Poppins" pitchFamily="34" charset="-122"/>
                <a:cs typeface="Poppins" pitchFamily="34" charset="-120"/>
              </a:rPr>
              <a:t>The waiting list</a:t>
            </a:r>
            <a:endParaRPr lang="en-US" sz="2800" dirty="0"/>
          </a:p>
        </p:txBody>
      </p:sp>
      <p:sp>
        <p:nvSpPr>
          <p:cNvPr id="4" name="Text 2"/>
          <p:cNvSpPr/>
          <p:nvPr/>
        </p:nvSpPr>
        <p:spPr>
          <a:xfrm>
            <a:off x="879157" y="1562100"/>
            <a:ext cx="3954971" cy="1544320"/>
          </a:xfrm>
          <a:prstGeom prst="rect">
            <a:avLst/>
          </a:prstGeom>
          <a:noFill/>
          <a:ln/>
        </p:spPr>
        <p:txBody>
          <a:bodyPr wrap="square" lIns="0" tIns="0" rIns="0" bIns="0" rtlCol="0" anchor="t">
            <a:normAutofit/>
          </a:bodyPr>
          <a:lstStyle/>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When a session is full, </a:t>
            </a:r>
            <a:r>
              <a:rPr lang="en-US" sz="1400" b="1" dirty="0">
                <a:solidFill>
                  <a:srgbClr val="3D4A5C"/>
                </a:solidFill>
                <a:latin typeface="DM Sans" pitchFamily="34" charset="0"/>
                <a:ea typeface="DM Sans" pitchFamily="34" charset="-122"/>
                <a:cs typeface="DM Sans" pitchFamily="34" charset="-120"/>
              </a:rPr>
              <a:t>Waitlist</a:t>
            </a:r>
            <a:r>
              <a:rPr lang="en-US" sz="1400" dirty="0">
                <a:solidFill>
                  <a:srgbClr val="3D4A5C"/>
                </a:solidFill>
                <a:latin typeface="DM Sans" pitchFamily="34" charset="0"/>
                <a:ea typeface="DM Sans" pitchFamily="34" charset="-122"/>
                <a:cs typeface="DM Sans" pitchFamily="34" charset="-120"/>
              </a:rPr>
              <a:t> shows who’s waiting, first in line first.</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A freed place goes to the first person with enough in their wallet, automatically.</a:t>
            </a:r>
            <a:endParaRPr lang="en-US" sz="1400" dirty="0"/>
          </a:p>
          <a:p>
            <a:pPr marL="187643" indent="-187643" algn="l">
              <a:lnSpc>
                <a:spcPts val="1960"/>
              </a:lnSpc>
              <a:buSzPct val="100000"/>
              <a:buFontTx/>
              <a:buAutoNum type="arabicPeriod"/>
            </a:pPr>
            <a:r>
              <a:rPr lang="en-US" sz="1400" dirty="0">
                <a:solidFill>
                  <a:srgbClr val="3D4A5C"/>
                </a:solidFill>
                <a:latin typeface="DM Sans" pitchFamily="34" charset="0"/>
                <a:ea typeface="DM Sans" pitchFamily="34" charset="-122"/>
                <a:cs typeface="DM Sans" pitchFamily="34" charset="-120"/>
              </a:rPr>
              <a:t>They’re booked, it’s paid from their wallet, and they get an email.</a:t>
            </a:r>
            <a:endParaRPr lang="en-US" sz="1400" dirty="0"/>
          </a:p>
        </p:txBody>
      </p:sp>
      <p:sp>
        <p:nvSpPr>
          <p:cNvPr id="5" name="Text 3"/>
          <p:cNvSpPr/>
          <p:nvPr/>
        </p:nvSpPr>
        <p:spPr>
          <a:xfrm>
            <a:off x="819150" y="3239777"/>
            <a:ext cx="3898900" cy="739140"/>
          </a:xfrm>
          <a:prstGeom prst="roundRect">
            <a:avLst>
              <a:gd name="adj" fmla="val 12887"/>
            </a:avLst>
          </a:prstGeom>
          <a:solidFill>
            <a:srgbClr val="FFFDF9"/>
          </a:solidFill>
          <a:ln w="12700">
            <a:solidFill>
              <a:srgbClr val="E4DED3"/>
            </a:solidFill>
            <a:prstDash val="solid"/>
          </a:ln>
        </p:spPr>
        <p:txBody>
          <a:bodyPr wrap="square" lIns="153712" tIns="128312" rIns="47642" bIns="102912" rtlCol="0" anchor="t">
            <a:normAutofit/>
          </a:bodyPr>
          <a:lstStyle/>
          <a:p>
            <a:pPr marL="0" indent="0" algn="l">
              <a:lnSpc>
                <a:spcPts val="1680"/>
              </a:lnSpc>
              <a:buNone/>
            </a:pPr>
            <a:r>
              <a:rPr lang="en-US" sz="1200" b="1" dirty="0">
                <a:solidFill>
                  <a:srgbClr val="3D4A5C"/>
                </a:solidFill>
                <a:latin typeface="DM Sans" pitchFamily="34" charset="0"/>
                <a:ea typeface="DM Sans" pitchFamily="34" charset="-122"/>
                <a:cs typeface="DM Sans" pitchFamily="34" charset="-120"/>
              </a:rPr>
              <a:t>Nothing to do by hand.</a:t>
            </a:r>
            <a:r>
              <a:rPr lang="en-US" sz="1200" dirty="0">
                <a:solidFill>
                  <a:srgbClr val="3D4A5C"/>
                </a:solidFill>
                <a:latin typeface="DM Sans" pitchFamily="34" charset="0"/>
                <a:ea typeface="DM Sans" pitchFamily="34" charset="-122"/>
                <a:cs typeface="DM Sans" pitchFamily="34" charset="-120"/>
              </a:rPr>
              <a:t> It keeps moving until your club’s cut-off (</a:t>
            </a:r>
            <a:r>
              <a:rPr lang="en-US" sz="1200" b="1" dirty="0">
                <a:solidFill>
                  <a:srgbClr val="3D4A5C"/>
                </a:solidFill>
                <a:latin typeface="DM Sans" pitchFamily="34" charset="0"/>
                <a:ea typeface="DM Sans" pitchFamily="34" charset="-122"/>
                <a:cs typeface="DM Sans" pitchFamily="34" charset="-120"/>
              </a:rPr>
              <a:t>Club settings</a:t>
            </a:r>
            <a:r>
              <a:rPr lang="en-US" sz="1200" dirty="0">
                <a:solidFill>
                  <a:srgbClr val="3D4A5C"/>
                </a:solidFill>
                <a:latin typeface="DM Sans" pitchFamily="34" charset="0"/>
                <a:ea typeface="DM Sans" pitchFamily="34" charset="-122"/>
                <a:cs typeface="DM Sans" pitchFamily="34" charset="-120"/>
              </a:rPr>
              <a:t> → </a:t>
            </a:r>
            <a:r>
              <a:rPr lang="en-US" sz="1200" b="1" dirty="0">
                <a:solidFill>
                  <a:srgbClr val="3D4A5C"/>
                </a:solidFill>
                <a:latin typeface="DM Sans" pitchFamily="34" charset="0"/>
                <a:ea typeface="DM Sans" pitchFamily="34" charset="-122"/>
                <a:cs typeface="DM Sans" pitchFamily="34" charset="-120"/>
              </a:rPr>
              <a:t>Booking</a:t>
            </a:r>
            <a:r>
              <a:rPr lang="en-US" sz="1200" dirty="0">
                <a:solidFill>
                  <a:srgbClr val="3D4A5C"/>
                </a:solidFill>
                <a:latin typeface="DM Sans" pitchFamily="34" charset="0"/>
                <a:ea typeface="DM Sans" pitchFamily="34" charset="-122"/>
                <a:cs typeface="DM Sans" pitchFamily="34" charset="-120"/>
              </a:rPr>
              <a:t>).</a:t>
            </a:r>
            <a:endParaRPr lang="en-US" sz="1200" dirty="0"/>
          </a:p>
        </p:txBody>
      </p:sp>
      <p:sp>
        <p:nvSpPr>
          <p:cNvPr id="6" name="Shape 4"/>
          <p:cNvSpPr/>
          <p:nvPr/>
        </p:nvSpPr>
        <p:spPr>
          <a:xfrm>
            <a:off x="5029200" y="1562100"/>
            <a:ext cx="6350000" cy="3968750"/>
          </a:xfrm>
          <a:prstGeom prst="roundRect">
            <a:avLst>
              <a:gd name="adj" fmla="val 2560"/>
            </a:avLst>
          </a:prstGeom>
          <a:solidFill>
            <a:srgbClr val="FFFDF9"/>
          </a:solidFill>
          <a:ln/>
        </p:spPr>
      </p:sp>
      <p:pic>
        <p:nvPicPr>
          <p:cNvPr id="7" name="Image 0" descr="A full session's waiting list, ringed"/>
          <p:cNvPicPr>
            <a:picLocks noChangeAspect="1"/>
          </p:cNvPicPr>
          <p:nvPr/>
        </p:nvPicPr>
        <p:blipFill>
          <a:blip r:embed="rId3"/>
          <a:srcRect l="-121" r="-121"/>
          <a:stretch/>
        </p:blipFill>
        <p:spPr>
          <a:xfrm>
            <a:off x="5041900" y="1574800"/>
            <a:ext cx="6324600" cy="3943350"/>
          </a:xfrm>
          <a:prstGeom prst="roundRect">
            <a:avLst>
              <a:gd name="adj" fmla="val 2254"/>
            </a:avLst>
          </a:prstGeom>
        </p:spPr>
      </p:pic>
      <p:sp>
        <p:nvSpPr>
          <p:cNvPr id="8" name="Shape 5"/>
          <p:cNvSpPr/>
          <p:nvPr/>
        </p:nvSpPr>
        <p:spPr>
          <a:xfrm>
            <a:off x="5035550" y="1568450"/>
            <a:ext cx="6337300" cy="3956050"/>
          </a:xfrm>
          <a:prstGeom prst="roundRect">
            <a:avLst>
              <a:gd name="adj" fmla="val 2408"/>
            </a:avLst>
          </a:prstGeom>
          <a:noFill/>
          <a:ln w="12700">
            <a:solidFill>
              <a:srgbClr val="E4DED3"/>
            </a:solidFill>
            <a:prstDash val="solid"/>
          </a:ln>
        </p:spPr>
      </p:sp>
      <p:sp>
        <p:nvSpPr>
          <p:cNvPr id="9" name="Text 6"/>
          <p:cNvSpPr/>
          <p:nvPr/>
        </p:nvSpPr>
        <p:spPr>
          <a:xfrm>
            <a:off x="812800" y="6238242"/>
            <a:ext cx="90258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DM Sans" pitchFamily="34" charset="0"/>
                <a:ea typeface="DM Sans" pitchFamily="34" charset="-122"/>
                <a:cs typeface="DM Sans" pitchFamily="34" charset="-120"/>
              </a:rPr>
              <a:t>twoclear admin training · Full guides with pictures: Help &amp; guides → For club admins</a:t>
            </a:r>
            <a:endParaRPr lang="en-US" sz="1200" dirty="0"/>
          </a:p>
        </p:txBody>
      </p:sp>
      <p:pic>
        <p:nvPicPr>
          <p:cNvPr id="10" name="Image 1" descr="twoclear"/>
          <p:cNvPicPr>
            <a:picLocks noChangeAspect="1"/>
          </p:cNvPicPr>
          <p:nvPr/>
        </p:nvPicPr>
        <p:blipFill>
          <a:blip r:embed="rId4"/>
          <a:srcRect t="-149" b="-149"/>
          <a:stretch/>
        </p:blipFill>
        <p:spPr>
          <a:xfrm>
            <a:off x="10109200" y="6229350"/>
            <a:ext cx="1270000" cy="2857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82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97316"/>
          </a:solidFill>
          <a:ln/>
        </p:spPr>
      </p:sp>
      <p:sp>
        <p:nvSpPr>
          <p:cNvPr id="3" name="Text 1"/>
          <p:cNvSpPr>
            <a:spLocks noGrp="1"/>
          </p:cNvSpPr>
          <p:nvPr>
            <p:ph type="title"/>
          </p:nvPr>
        </p:nvSpPr>
        <p:spPr>
          <a:xfrm>
            <a:off x="812800" y="1788158"/>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F"/>
                </a:solidFill>
                <a:latin typeface="Poppins" pitchFamily="34" charset="0"/>
                <a:ea typeface="Poppins" pitchFamily="34" charset="-122"/>
                <a:cs typeface="Poppins" pitchFamily="34" charset="-120"/>
              </a:rPr>
              <a:t>Help when you need it</a:t>
            </a:r>
            <a:endParaRPr lang="en-US" sz="4800" dirty="0"/>
          </a:p>
        </p:txBody>
      </p:sp>
      <p:sp>
        <p:nvSpPr>
          <p:cNvPr id="4" name="Shape 2"/>
          <p:cNvSpPr/>
          <p:nvPr/>
        </p:nvSpPr>
        <p:spPr>
          <a:xfrm>
            <a:off x="812800" y="2733042"/>
            <a:ext cx="3386614" cy="2336800"/>
          </a:xfrm>
          <a:prstGeom prst="roundRect">
            <a:avLst>
              <a:gd name="adj" fmla="val 5435"/>
            </a:avLst>
          </a:prstGeom>
          <a:solidFill>
            <a:srgbClr val="1D2939"/>
          </a:solidFill>
          <a:ln/>
        </p:spPr>
      </p:sp>
      <p:pic>
        <p:nvPicPr>
          <p:cNvPr id="5" name="Image 0" descr="Book"/>
          <p:cNvPicPr>
            <a:picLocks noChangeAspect="1"/>
          </p:cNvPicPr>
          <p:nvPr/>
        </p:nvPicPr>
        <p:blipFill>
          <a:blip r:embed="rId3"/>
          <a:srcRect/>
          <a:stretch/>
        </p:blipFill>
        <p:spPr>
          <a:xfrm>
            <a:off x="1066800" y="2987042"/>
            <a:ext cx="355600" cy="355600"/>
          </a:xfrm>
          <a:prstGeom prst="rect">
            <a:avLst/>
          </a:prstGeom>
        </p:spPr>
      </p:pic>
      <p:sp>
        <p:nvSpPr>
          <p:cNvPr id="6" name="Text 3"/>
          <p:cNvSpPr/>
          <p:nvPr/>
        </p:nvSpPr>
        <p:spPr>
          <a:xfrm>
            <a:off x="1066800" y="3444242"/>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Help &amp; guides</a:t>
            </a:r>
            <a:endParaRPr lang="en-US" sz="1800" dirty="0"/>
          </a:p>
        </p:txBody>
      </p:sp>
      <p:sp>
        <p:nvSpPr>
          <p:cNvPr id="7" name="Text 4"/>
          <p:cNvSpPr/>
          <p:nvPr/>
        </p:nvSpPr>
        <p:spPr>
          <a:xfrm>
            <a:off x="1066800" y="3820158"/>
            <a:ext cx="296497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Bottom of the menu. Every job step by step, with pictures. You only see the guides for what you can do.</a:t>
            </a:r>
            <a:endParaRPr lang="en-US" sz="1400" dirty="0"/>
          </a:p>
        </p:txBody>
      </p:sp>
      <p:sp>
        <p:nvSpPr>
          <p:cNvPr id="8" name="Shape 5"/>
          <p:cNvSpPr/>
          <p:nvPr/>
        </p:nvSpPr>
        <p:spPr>
          <a:xfrm>
            <a:off x="4402614" y="2733042"/>
            <a:ext cx="3386693" cy="2336800"/>
          </a:xfrm>
          <a:prstGeom prst="roundRect">
            <a:avLst>
              <a:gd name="adj" fmla="val 5435"/>
            </a:avLst>
          </a:prstGeom>
          <a:solidFill>
            <a:srgbClr val="1D2939"/>
          </a:solidFill>
          <a:ln/>
        </p:spPr>
      </p:sp>
      <p:pic>
        <p:nvPicPr>
          <p:cNvPr id="9" name="Image 1" descr="Users"/>
          <p:cNvPicPr>
            <a:picLocks noChangeAspect="1"/>
          </p:cNvPicPr>
          <p:nvPr/>
        </p:nvPicPr>
        <p:blipFill>
          <a:blip r:embed="rId4"/>
          <a:srcRect/>
          <a:stretch/>
        </p:blipFill>
        <p:spPr>
          <a:xfrm>
            <a:off x="4656614" y="2987042"/>
            <a:ext cx="355600" cy="355600"/>
          </a:xfrm>
          <a:prstGeom prst="rect">
            <a:avLst/>
          </a:prstGeom>
        </p:spPr>
      </p:pic>
      <p:sp>
        <p:nvSpPr>
          <p:cNvPr id="10" name="Text 6"/>
          <p:cNvSpPr/>
          <p:nvPr/>
        </p:nvSpPr>
        <p:spPr>
          <a:xfrm>
            <a:off x="4656614" y="3444242"/>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Your club’s Seniors</a:t>
            </a:r>
            <a:endParaRPr lang="en-US" sz="1800" dirty="0"/>
          </a:p>
        </p:txBody>
      </p:sp>
      <p:sp>
        <p:nvSpPr>
          <p:cNvPr id="11" name="Text 7"/>
          <p:cNvSpPr/>
          <p:nvPr/>
        </p:nvSpPr>
        <p:spPr>
          <a:xfrm>
            <a:off x="4656614" y="3820158"/>
            <a:ext cx="296505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For changing what your level can do, or adding a new admin: [name and contact].</a:t>
            </a:r>
            <a:endParaRPr lang="en-US" sz="1400" dirty="0"/>
          </a:p>
        </p:txBody>
      </p:sp>
      <p:sp>
        <p:nvSpPr>
          <p:cNvPr id="12" name="Shape 8"/>
          <p:cNvSpPr/>
          <p:nvPr/>
        </p:nvSpPr>
        <p:spPr>
          <a:xfrm>
            <a:off x="7992507" y="2733042"/>
            <a:ext cx="3386693" cy="2336800"/>
          </a:xfrm>
          <a:prstGeom prst="roundRect">
            <a:avLst>
              <a:gd name="adj" fmla="val 5435"/>
            </a:avLst>
          </a:prstGeom>
          <a:solidFill>
            <a:srgbClr val="1D2939"/>
          </a:solidFill>
          <a:ln/>
        </p:spPr>
      </p:sp>
      <p:pic>
        <p:nvPicPr>
          <p:cNvPr id="13" name="Image 2" descr="Chat"/>
          <p:cNvPicPr>
            <a:picLocks noChangeAspect="1"/>
          </p:cNvPicPr>
          <p:nvPr/>
        </p:nvPicPr>
        <p:blipFill>
          <a:blip r:embed="rId5"/>
          <a:srcRect/>
          <a:stretch/>
        </p:blipFill>
        <p:spPr>
          <a:xfrm>
            <a:off x="8246507" y="2987042"/>
            <a:ext cx="355600" cy="355600"/>
          </a:xfrm>
          <a:prstGeom prst="rect">
            <a:avLst/>
          </a:prstGeom>
        </p:spPr>
      </p:pic>
      <p:sp>
        <p:nvSpPr>
          <p:cNvPr id="14" name="Text 9"/>
          <p:cNvSpPr/>
          <p:nvPr/>
        </p:nvSpPr>
        <p:spPr>
          <a:xfrm>
            <a:off x="8246507" y="3444242"/>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Poppins" pitchFamily="34" charset="0"/>
                <a:ea typeface="Poppins" pitchFamily="34" charset="-122"/>
                <a:cs typeface="Poppins" pitchFamily="34" charset="-120"/>
              </a:rPr>
              <a:t>twoclear</a:t>
            </a:r>
            <a:endParaRPr lang="en-US" sz="1800" dirty="0"/>
          </a:p>
        </p:txBody>
      </p:sp>
      <p:sp>
        <p:nvSpPr>
          <p:cNvPr id="15" name="Text 10"/>
          <p:cNvSpPr/>
          <p:nvPr/>
        </p:nvSpPr>
        <p:spPr>
          <a:xfrm>
            <a:off x="8246507" y="3820158"/>
            <a:ext cx="296505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0D5DD"/>
                </a:solidFill>
                <a:latin typeface="DM Sans" pitchFamily="34" charset="0"/>
                <a:ea typeface="DM Sans" pitchFamily="34" charset="-122"/>
                <a:cs typeface="DM Sans" pitchFamily="34" charset="-120"/>
              </a:rPr>
              <a:t>Something not working as it should? hello@twoclear.co.uk</a:t>
            </a:r>
            <a:endParaRPr lang="en-US" sz="1400" dirty="0"/>
          </a:p>
        </p:txBody>
      </p:sp>
      <p:pic>
        <p:nvPicPr>
          <p:cNvPr id="16" name="Image 3" descr="twoclear"/>
          <p:cNvPicPr>
            <a:picLocks noChangeAspect="1"/>
          </p:cNvPicPr>
          <p:nvPr/>
        </p:nvPicPr>
        <p:blipFill>
          <a:blip r:embed="rId6"/>
          <a:srcRect l="-224" r="-224"/>
          <a:stretch/>
        </p:blipFill>
        <p:spPr>
          <a:xfrm>
            <a:off x="9474200" y="5822950"/>
            <a:ext cx="1905000" cy="425450"/>
          </a:xfrm>
          <a:prstGeom prst="rect">
            <a:avLst/>
          </a:prstGeom>
        </p:spPr>
      </p:pic>
    </p:spTree>
  </p:cSld>
  <p:clrMapOvr>
    <a:masterClrMapping/>
  </p:clrMapOvr>
</p:sld>
</file>

<file path=ppt/theme/theme1.xml><?xml version="1.0" encoding="utf-8"?>
<a:theme xmlns:a="http://schemas.openxmlformats.org/drawingml/2006/main" name="Running sessions (Ambassadors)">
  <a:themeElements>
    <a:clrScheme name="Running sessions (Ambassadors)">
      <a:dk1>
        <a:srgbClr val="3D4A5C"/>
      </a:dk1>
      <a:lt1>
        <a:srgbClr val="F6F4EF"/>
      </a:lt1>
      <a:dk2>
        <a:srgbClr val="6B7581"/>
      </a:dk2>
      <a:lt2>
        <a:srgbClr val="E4E3E0"/>
      </a:lt2>
      <a:accent1>
        <a:srgbClr val="C2410C"/>
      </a:accent1>
      <a:accent2>
        <a:srgbClr val="F97316"/>
      </a:accent2>
      <a:accent3>
        <a:srgbClr val="101828"/>
      </a:accent3>
      <a:accent4>
        <a:srgbClr val="6B7686"/>
      </a:accent4>
      <a:accent5>
        <a:srgbClr val="C9D2E0"/>
      </a:accent5>
      <a:accent6>
        <a:srgbClr val="1D2939"/>
      </a:accent6>
      <a:hlink>
        <a:srgbClr val="0563C1"/>
      </a:hlink>
      <a:folHlink>
        <a:srgbClr val="954F72"/>
      </a:folHlink>
    </a:clrScheme>
    <a:fontScheme name="Running sessions (Ambassadors)">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2546</Words>
  <Application>Microsoft Office PowerPoint</Application>
  <PresentationFormat>Widescreen</PresentationFormat>
  <Paragraphs>239</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DM Sans</vt:lpstr>
      <vt:lpstr>Poppins</vt:lpstr>
      <vt:lpstr>Running sessions (Ambassadors)</vt:lpstr>
      <vt:lpstr>Running sessions on twoclear</vt:lpstr>
      <vt:lpstr>What you can do</vt:lpstr>
      <vt:lpstr>Getting started</vt:lpstr>
      <vt:lpstr>Signing in as an admin</vt:lpstr>
      <vt:lpstr>The Admin menu</vt:lpstr>
      <vt:lpstr>Building the courts</vt:lpstr>
      <vt:lpstr>Changing the format</vt:lpstr>
      <vt:lpstr>What each format does to the courts</vt:lpstr>
      <vt:lpstr>Running a round-robin</vt:lpstr>
      <vt:lpstr>Who goes on which court (round-robin)</vt:lpstr>
      <vt:lpstr>The courts it builds (round-robin)</vt:lpstr>
      <vt:lpstr>Keeping a pair together (round-robin)</vt:lpstr>
      <vt:lpstr>Running a Social mixer</vt:lpstr>
      <vt:lpstr>Pairs in a Social mixer</vt:lpstr>
      <vt:lpstr>Splitting courts into groups</vt:lpstr>
      <vt:lpstr>Running a Custom session</vt:lpstr>
      <vt:lpstr>Custom: just booking the courts</vt:lpstr>
      <vt:lpstr>Running the session</vt:lpstr>
      <vt:lpstr>Opening the session</vt:lpstr>
      <vt:lpstr>Where players book</vt:lpstr>
      <vt:lpstr>The waiting list</vt:lpstr>
      <vt:lpstr>Help when you need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sessions (Ambassadors)</dc:title>
  <dc:subject/>
  <dc:creator/>
  <cp:lastModifiedBy>Paul Berry</cp:lastModifiedBy>
  <cp:revision>1</cp:revision>
  <dcterms:created xsi:type="dcterms:W3CDTF">2026-10-13T11:22:22Z</dcterms:created>
  <dcterms:modified xsi:type="dcterms:W3CDTF">2026-10-14T17:32:01Z</dcterms:modified>
</cp:coreProperties>
</file>