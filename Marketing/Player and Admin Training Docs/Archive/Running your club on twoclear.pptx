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webp" ContentType="image/webp"/>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presenting, use the next slide to pick the sections for the people in the room. Hide the sections they don't need (they're grouped in the deck's outline). Ambassadors usually need sections 1 and 2; Committee add 4; Seniors need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Swindon's levels today. Ambassadors: open, edit and publish sessions, and remove bookings. Committee: the same, plus free places (comps), taster sessions, guardian contacts, results and the money reports. Seniors: everything. If Ambassadors should add names at the last minute or see emergency info on the night, a Senior can switch that on for them in Admins. Then update this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signs in the same way. What appears in the Admin menu depends on each person's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code arriving? Check spam or junk, and use the newest code, because they expire quickly. Someone who can't sign in at all probably hasn't been set up as an admin with that email: a Senior adds admins.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menu only shows what each admin can use, so different people in the room will see different menus. Graded sessions appears too, at clubs that run graded 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Ambassadors and Committee: opening, publishing and the waiting list. Seniors: also adding someone, emergency info and cancelling (Swindon's levels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Refresh updates the booked list if people are booking as you watch. Remove takes a booking off (Ambassadors can do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Players without enough money in their wallet are skipped, not removed, so remind waiting players to keep topped up. The lock time is set in Club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Committee can also give a free place (a comp) where the club allows it. A walk-in who isn't on the system yet needs adding as a player first (section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Health notes appear only for members who agreed to the club keeping them. If the club asks everyone who books for an emergency contact (Club settings), visitors appear here too. A Senior can give session leaders access in Admins.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it when a session can't go ahead (venue, weather). Refunds go to wallets, not back to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Creating sessions is for Seniors at Swindon today. Ambassadors and Committee can still edit and publish sessions once they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price starts at the club's usual price (Club settings); change it for a session that costs something different. Members and non-members can have different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Publishing (show members) and opening booking are open to Ambassadors at Swindon, so this slide suits them even if they skip the rest of the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date becomes its own session, so a bank holiday or a venue change only touches that one. Booking for each opens by itself the set number of days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Committee can run the reports. Adjusting someone's balance is for Seniors.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figure next to someone means £0. A minus amount takes money off. Every adjustment shows in the money report with its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payments go straight to the club's own Stripe account. Stripe's own fees are in the club's Stripe payout reports, not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Club settings change things for everyone, so they're kept for Seniors. Nothing changes until you press Save club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Sessions already made keep their own price when the usual price changes. The lock also stops the waiting list moving close to the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Switching off people they look after doesn't remove anyone already added. The emergency contact appears in Emergency info on the session, like a member's, and admins booking someone in are never stopped.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Committee: show only the last slide of this section, the treasurer's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new price: people already on the type keep their price until you move them under Old prices, from their next renewal. Retire stops selling a type; anyone on it keeps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cash payment, extension and refund goes into the treasurer's report. History on anyone's line shows every payment and change, and who made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January, whoever owns the club's Stripe account sets: Billing, Revenue recovery, Retries: retry for 1 month, then mark the subscription as unpaid. twoclear can't set it for the club. Someone who rejoins after lapsing never pays twice: the old card membership and its unpaid bill are cancelled.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Otherwise a refund appears only if the club gives money back itself, or a member's bank reverses a card payment. Card payments are shown in full; Stripe's own fees are in the club's Stripe payout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Personal data lives here, so it's for Seniors only, and every record opened is logged.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Erase deletes date of birth, contacts, address, health notes and consents, but keeps the name, results, login and payments. A child who has turned 18: Give them their own login, in the same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 are matched by email, then by name. A row marked Problem says what's wrong and is left out: fix it in the file and upload again. Uploading the same file again updates people rather than adding them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Never rename a player who already has games: change the email or details instead, and ask twoclear if a name really must change. If the club lets new players join online, they arrive by themselves as non-members.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the club contact before presenting. Players have their own two-page handout: putting the club on their phone, and booking a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949958"/>
            <a:ext cx="10566400" cy="408940"/>
          </a:xfrm>
          <a:prstGeom prst="rect">
            <a:avLst/>
          </a:prstGeom>
          <a:noFill/>
          <a:ln/>
        </p:spPr>
        <p:txBody>
          <a:bodyPr wrap="square" lIns="0" tIns="0" rIns="0" bIns="0" rtlCol="0" anchor="t"/>
          <a:lstStyle>
            <a:lvl1pPr algn="l" indent="0" marL="0">
              <a:lnSpc>
                <a:spcPct val="115000"/>
              </a:lnSpc>
              <a:buNone/>
              <a:defRPr lang="en-US" sz="2800" dirty="0">
                <a:solidFill>
                  <a:srgbClr val="101828"/>
                </a:solidFill>
                <a:latin typeface="Poppins" pitchFamily="34" charset="0"/>
                <a:ea typeface="Poppins" pitchFamily="34" charset="-122"/>
                <a:cs typeface="Poppins"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663698"/>
            <a:ext cx="10566400" cy="4381502"/>
          </a:xfrm>
          <a:prstGeom prst="rect">
            <a:avLst/>
          </a:prstGeom>
          <a:noFill/>
          <a:ln/>
        </p:spPr>
        <p:txBody>
          <a:bodyPr wrap="square" lIns="0" tIns="0" rIns="0" bIns="0" rtlCol="0" anchor="t"/>
          <a:lstStyle>
            <a:lvl1pPr algn="l" indent="0" marL="0">
              <a:lnSpc>
                <a:spcPct val="140000"/>
              </a:lnSpc>
              <a:buNone/>
              <a:defRPr lang="en-US" sz="1600" dirty="0">
                <a:solidFill>
                  <a:srgbClr val="3D4A5C"/>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949958"/>
            <a:ext cx="10566400" cy="408940"/>
          </a:xfrm>
          <a:prstGeom prst="rect">
            <a:avLst/>
          </a:prstGeom>
          <a:noFill/>
          <a:ln/>
        </p:spPr>
        <p:txBody>
          <a:bodyPr wrap="square" lIns="0" tIns="0" rIns="0" bIns="0" rtlCol="0" anchor="t"/>
          <a:lstStyle>
            <a:lvl1pPr algn="l" indent="0" marL="0">
              <a:lnSpc>
                <a:spcPct val="115000"/>
              </a:lnSpc>
              <a:buNone/>
              <a:defRPr lang="en-US" sz="2800" dirty="0">
                <a:solidFill>
                  <a:srgbClr val="101828"/>
                </a:solidFill>
                <a:latin typeface="Poppins" pitchFamily="34" charset="0"/>
                <a:ea typeface="Poppins" pitchFamily="34" charset="-122"/>
                <a:cs typeface="Poppins"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663698"/>
            <a:ext cx="10566400" cy="4381502"/>
          </a:xfrm>
          <a:prstGeom prst="rect">
            <a:avLst/>
          </a:prstGeom>
          <a:noFill/>
          <a:ln/>
        </p:spPr>
        <p:txBody>
          <a:bodyPr wrap="square" lIns="0" tIns="0" rIns="0" bIns="0" rtlCol="0" anchor="t"/>
          <a:lstStyle>
            <a:lvl1pPr algn="l" indent="0" marL="0">
              <a:lnSpc>
                <a:spcPct val="140000"/>
              </a:lnSpc>
              <a:buNone/>
              <a:defRPr lang="en-US" sz="1600" dirty="0">
                <a:solidFill>
                  <a:srgbClr val="3D4A5C"/>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webp"/><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webp"/><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webp"/><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webp"/><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webp"/><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webp"/><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webp"/><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webp"/><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webp"/><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webp"/><Relationship Id="rId2" Type="http://schemas.openxmlformats.org/officeDocument/2006/relationships/image" Target="../media/image-17-2.png"/><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webp"/><Relationship Id="rId2" Type="http://schemas.openxmlformats.org/officeDocument/2006/relationships/image" Target="../media/image-18-2.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webp"/><Relationship Id="rId2" Type="http://schemas.openxmlformats.org/officeDocument/2006/relationships/image" Target="../media/image-20-2.png"/><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webp"/><Relationship Id="rId2" Type="http://schemas.openxmlformats.org/officeDocument/2006/relationships/image" Target="../media/image-21-2.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webp"/><Relationship Id="rId2" Type="http://schemas.openxmlformats.org/officeDocument/2006/relationships/image" Target="../media/image-23-2.png"/><Relationship Id="rId3" Type="http://schemas.openxmlformats.org/officeDocument/2006/relationships/slideLayout" Target="../slideLayouts/slideLayout2.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webp"/><Relationship Id="rId2" Type="http://schemas.openxmlformats.org/officeDocument/2006/relationships/image" Target="../media/image-24-2.png"/><Relationship Id="rId3" Type="http://schemas.openxmlformats.org/officeDocument/2006/relationships/slideLayout" Target="../slideLayouts/slideLayout2.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webp"/><Relationship Id="rId2" Type="http://schemas.openxmlformats.org/officeDocument/2006/relationships/image" Target="../media/image-25-2.png"/><Relationship Id="rId3" Type="http://schemas.openxmlformats.org/officeDocument/2006/relationships/slideLayout" Target="../slideLayouts/slideLayout2.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webp"/><Relationship Id="rId2" Type="http://schemas.openxmlformats.org/officeDocument/2006/relationships/image" Target="../media/image-26-2.png"/><Relationship Id="rId3" Type="http://schemas.openxmlformats.org/officeDocument/2006/relationships/slideLayout" Target="../slideLayouts/slideLayout2.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webp"/><Relationship Id="rId2" Type="http://schemas.openxmlformats.org/officeDocument/2006/relationships/image" Target="../media/image-28-2.png"/><Relationship Id="rId3" Type="http://schemas.openxmlformats.org/officeDocument/2006/relationships/slideLayout" Target="../slideLayouts/slideLayout2.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webp"/><Relationship Id="rId2" Type="http://schemas.openxmlformats.org/officeDocument/2006/relationships/image" Target="../media/image-29-2.png"/><Relationship Id="rId3" Type="http://schemas.openxmlformats.org/officeDocument/2006/relationships/slideLayout" Target="../slideLayouts/slideLayout2.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webp"/><Relationship Id="rId2" Type="http://schemas.openxmlformats.org/officeDocument/2006/relationships/image" Target="../media/image-30-2.png"/><Relationship Id="rId3" Type="http://schemas.openxmlformats.org/officeDocument/2006/relationships/slideLayout" Target="../slideLayouts/slideLayout2.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slideLayout" Target="../slideLayouts/slideLayout2.xml"/><Relationship Id="rId6"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97316"/>
          </a:solidFill>
          <a:ln/>
        </p:spPr>
      </p:sp>
      <p:sp>
        <p:nvSpPr>
          <p:cNvPr id="3" name="Text 1"/>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97316"/>
                </a:solidFill>
                <a:latin typeface="DM Sans" pitchFamily="34" charset="0"/>
                <a:ea typeface="DM Sans" pitchFamily="34" charset="-122"/>
                <a:cs typeface="DM Sans" pitchFamily="34" charset="-120"/>
              </a:rPr>
              <a:t>ADMIN TRAINING · SWINDON PICKLEBALL CLUB</a:t>
            </a:r>
            <a:endParaRPr lang="en-US" sz="1400" dirty="0"/>
          </a:p>
        </p:txBody>
      </p:sp>
      <p:sp>
        <p:nvSpPr>
          <p:cNvPr id="4" name="Text 2"/>
          <p:cNvSpPr/>
          <p:nvPr>
            <p:ph type="title"/>
          </p:nvPr>
        </p:nvSpPr>
        <p:spPr>
          <a:xfrm>
            <a:off x="812800" y="2127250"/>
            <a:ext cx="10883392" cy="1803400"/>
          </a:xfrm>
          <a:prstGeom prst="rect">
            <a:avLst/>
          </a:prstGeom>
          <a:noFill/>
          <a:ln/>
        </p:spPr>
        <p:txBody>
          <a:bodyPr wrap="square" lIns="0" tIns="0" rIns="0" bIns="0" rtlCol="0" anchor="t">
            <a:normAutofit/>
          </a:bodyPr>
          <a:lstStyle/>
          <a:p>
            <a:pPr algn="l" indent="0" marL="0">
              <a:lnSpc>
                <a:spcPts val="7000"/>
              </a:lnSpc>
              <a:buNone/>
            </a:pPr>
            <a:r>
              <a:rPr lang="en-US" sz="7000" b="1" i="0" dirty="0">
                <a:solidFill>
                  <a:srgbClr val="F6F4EF"/>
                </a:solidFill>
                <a:latin typeface="Poppins" pitchFamily="34" charset="0"/>
                <a:ea typeface="Poppins" pitchFamily="34" charset="-122"/>
                <a:cs typeface="Poppins" pitchFamily="34" charset="-120"/>
              </a:rPr>
              <a:t>Running your club</a:t>
            </a:r>
            <a:endParaRPr lang="en-US" sz="7000" dirty="0"/>
          </a:p>
          <a:p>
            <a:pPr algn="l" indent="0" marL="0">
              <a:lnSpc>
                <a:spcPts val="7000"/>
              </a:lnSpc>
              <a:buNone/>
            </a:pPr>
            <a:r>
              <a:rPr lang="en-US" sz="7000" b="1" i="0" dirty="0">
                <a:solidFill>
                  <a:srgbClr val="F6F4EF"/>
                </a:solidFill>
                <a:latin typeface="Poppins" pitchFamily="34" charset="0"/>
                <a:ea typeface="Poppins" pitchFamily="34" charset="-122"/>
                <a:cs typeface="Poppins" pitchFamily="34" charset="-120"/>
              </a:rPr>
              <a:t>on twoclear</a:t>
            </a:r>
            <a:endParaRPr lang="en-US" sz="7000" dirty="0"/>
          </a:p>
        </p:txBody>
      </p:sp>
      <p:sp>
        <p:nvSpPr>
          <p:cNvPr id="5" name="Text 3"/>
          <p:cNvSpPr/>
          <p:nvPr/>
        </p:nvSpPr>
        <p:spPr>
          <a:xfrm>
            <a:off x="812800" y="4108450"/>
            <a:ext cx="7848600"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2E0"/>
                </a:solidFill>
                <a:latin typeface="DM Sans" pitchFamily="34" charset="0"/>
                <a:ea typeface="DM Sans" pitchFamily="34" charset="-122"/>
                <a:cs typeface="DM Sans" pitchFamily="34" charset="-120"/>
              </a:rPr>
              <a:t>Sessions, bookings, money, memberships and members’ details: what each admin needs, step by step.</a:t>
            </a:r>
            <a:endParaRPr lang="en-US" sz="1800" dirty="0"/>
          </a:p>
        </p:txBody>
      </p:sp>
      <p:sp>
        <p:nvSpPr>
          <p:cNvPr id="6" name="Text 4"/>
          <p:cNvSpPr/>
          <p:nvPr/>
        </p:nvSpPr>
        <p:spPr>
          <a:xfrm>
            <a:off x="812800" y="581406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2E0"/>
                </a:solidFill>
                <a:latin typeface="DM Sans" pitchFamily="34" charset="0"/>
                <a:ea typeface="DM Sans" pitchFamily="34" charset="-122"/>
                <a:cs typeface="DM Sans" pitchFamily="34" charset="-120"/>
              </a:rPr>
              <a:t>Pictures are from the demo club. You’ll see your own club’s name, sessions and members.</a:t>
            </a:r>
            <a:endParaRPr lang="en-US" sz="1300" dirty="0"/>
          </a:p>
        </p:txBody>
      </p:sp>
      <p:pic>
        <p:nvPicPr>
          <p:cNvPr id="7" name="Image 0" descr="twoclear">    </p:cNvPr>
          <p:cNvPicPr>
            <a:picLocks noChangeAspect="1"/>
          </p:cNvPicPr>
          <p:nvPr/>
        </p:nvPicPr>
        <p:blipFill>
          <a:blip r:embed="rId1"/>
          <a:srcRect l="0" r="0" t="-149" b="-149"/>
          <a:stretch/>
        </p:blipFill>
        <p:spPr>
          <a:xfrm>
            <a:off x="9093200" y="660400"/>
            <a:ext cx="2286000" cy="5143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DM Sans" pitchFamily="34" charset="0"/>
                <a:ea typeface="DM Sans" pitchFamily="34" charset="-122"/>
                <a:cs typeface="DM Sans" pitchFamily="34" charset="-120"/>
              </a:rPr>
              <a:t>BEFORE WE START</a:t>
            </a:r>
            <a:endParaRPr lang="en-US" sz="1200" dirty="0"/>
          </a:p>
        </p:txBody>
      </p:sp>
      <p:sp>
        <p:nvSpPr>
          <p:cNvPr id="3" name="Text 1"/>
          <p:cNvSpPr/>
          <p:nvPr>
            <p:ph type="title"/>
          </p:nvPr>
        </p:nvSpPr>
        <p:spPr>
          <a:xfrm>
            <a:off x="812800" y="899160"/>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01828"/>
                </a:solidFill>
                <a:latin typeface="Poppins" pitchFamily="34" charset="0"/>
                <a:ea typeface="Poppins" pitchFamily="34" charset="-122"/>
                <a:cs typeface="Poppins" pitchFamily="34" charset="-120"/>
              </a:rPr>
              <a:t>Which sections you need</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572260"/>
          <a:ext cx="10556240" cy="3068320"/>
        </p:xfrm>
        <a:graphic>
          <a:graphicData uri="http://schemas.openxmlformats.org/drawingml/2006/table">
            <a:tbl>
              <a:tblPr/>
              <a:tblGrid>
                <a:gridCol w="4222496"/>
                <a:gridCol w="2111248"/>
                <a:gridCol w="2111248"/>
                <a:gridCol w="2111248"/>
              </a:tblGrid>
              <a:tr h="383540">
                <a:tc>
                  <a:txBody>
                    <a:bodyPr/>
                    <a:lstStyle/>
                    <a:p>
                      <a:pPr indent="0" marL="0">
                        <a:lnSpc>
                          <a:spcPts val="1960"/>
                        </a:lnSpc>
                        <a:buNone/>
                      </a:pPr>
                      <a:r>
                        <a:rPr lang="en-US" sz="1400" b="1" dirty="0">
                          <a:solidFill>
                            <a:srgbClr val="F6F4EF"/>
                          </a:solidFill>
                          <a:latin typeface="DM Sans" pitchFamily="34" charset="0"/>
                          <a:ea typeface="DM Sans" pitchFamily="34" charset="-122"/>
                          <a:cs typeface="DM Sans" pitchFamily="34" charset="-120"/>
                        </a:rPr>
                        <a:t>Section</a:t>
                      </a:r>
                      <a:endParaRPr lang="en-US" sz="1400" dirty="0">
                        <a:latin typeface="DM Sans" charset="0"/>
                        <a:ea typeface="DM Sans" charset="0"/>
                        <a:cs typeface="DM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111723"/>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11723"/>
                      </a:solidFill>
                      <a:prstDash val="solid"/>
                      <a:round/>
                      <a:headEnd type="none" w="med" len="med"/>
                      <a:tailEnd type="none" w="med" len="med"/>
                    </a:lnB>
                    <a:solidFill>
                      <a:srgbClr val="101828"/>
                    </a:solidFill>
                  </a:tcPr>
                </a:tc>
                <a:tc>
                  <a:txBody>
                    <a:bodyPr/>
                    <a:lstStyle/>
                    <a:p>
                      <a:pPr indent="0" marL="0">
                        <a:lnSpc>
                          <a:spcPts val="1960"/>
                        </a:lnSpc>
                        <a:buNone/>
                      </a:pPr>
                      <a:r>
                        <a:rPr lang="en-US" sz="1400" b="1" dirty="0">
                          <a:solidFill>
                            <a:srgbClr val="F6F4EF"/>
                          </a:solidFill>
                          <a:latin typeface="DM Sans" pitchFamily="34" charset="0"/>
                          <a:ea typeface="DM Sans" pitchFamily="34" charset="-122"/>
                          <a:cs typeface="DM Sans" pitchFamily="34" charset="-120"/>
                        </a:rPr>
                        <a:t>Ambassador</a:t>
                      </a:r>
                      <a:endParaRPr lang="en-US" sz="1400" dirty="0">
                        <a:latin typeface="DM Sans" charset="0"/>
                        <a:ea typeface="DM Sans" charset="0"/>
                        <a:cs typeface="DM Sans" charset="0"/>
                      </a:endParaRPr>
                    </a:p>
                  </a:txBody>
                  <a:tcPr marL="62230" marR="62230" marT="62230" marB="62230" anchor="t">
                    <a:lnL w="12700" cap="flat" cmpd="sng" algn="ctr">
                      <a:solidFill>
                        <a:srgbClr val="111723"/>
                      </a:solidFill>
                      <a:prstDash val="solid"/>
                      <a:round/>
                      <a:headEnd type="none" w="med" len="med"/>
                      <a:tailEnd type="none" w="med" len="med"/>
                    </a:lnL>
                    <a:lnR w="12700" cap="flat" cmpd="sng" algn="ctr">
                      <a:solidFill>
                        <a:srgbClr val="111723"/>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11723"/>
                      </a:solidFill>
                      <a:prstDash val="solid"/>
                      <a:round/>
                      <a:headEnd type="none" w="med" len="med"/>
                      <a:tailEnd type="none" w="med" len="med"/>
                    </a:lnB>
                    <a:solidFill>
                      <a:srgbClr val="101828"/>
                    </a:solidFill>
                  </a:tcPr>
                </a:tc>
                <a:tc>
                  <a:txBody>
                    <a:bodyPr/>
                    <a:lstStyle/>
                    <a:p>
                      <a:pPr indent="0" marL="0">
                        <a:lnSpc>
                          <a:spcPts val="1960"/>
                        </a:lnSpc>
                        <a:buNone/>
                      </a:pPr>
                      <a:r>
                        <a:rPr lang="en-US" sz="1400" b="1" dirty="0">
                          <a:solidFill>
                            <a:srgbClr val="F6F4EF"/>
                          </a:solidFill>
                          <a:latin typeface="DM Sans" pitchFamily="34" charset="0"/>
                          <a:ea typeface="DM Sans" pitchFamily="34" charset="-122"/>
                          <a:cs typeface="DM Sans" pitchFamily="34" charset="-120"/>
                        </a:rPr>
                        <a:t>Committee</a:t>
                      </a:r>
                      <a:endParaRPr lang="en-US" sz="1400" dirty="0">
                        <a:latin typeface="DM Sans" charset="0"/>
                        <a:ea typeface="DM Sans" charset="0"/>
                        <a:cs typeface="DM Sans" charset="0"/>
                      </a:endParaRPr>
                    </a:p>
                  </a:txBody>
                  <a:tcPr marL="62230" marR="62230" marT="62230" marB="62230" anchor="t">
                    <a:lnL w="12700" cap="flat" cmpd="sng" algn="ctr">
                      <a:solidFill>
                        <a:srgbClr val="111723"/>
                      </a:solidFill>
                      <a:prstDash val="solid"/>
                      <a:round/>
                      <a:headEnd type="none" w="med" len="med"/>
                      <a:tailEnd type="none" w="med" len="med"/>
                    </a:lnL>
                    <a:lnR w="12700" cap="flat" cmpd="sng" algn="ctr">
                      <a:solidFill>
                        <a:srgbClr val="111723"/>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11723"/>
                      </a:solidFill>
                      <a:prstDash val="solid"/>
                      <a:round/>
                      <a:headEnd type="none" w="med" len="med"/>
                      <a:tailEnd type="none" w="med" len="med"/>
                    </a:lnB>
                    <a:solidFill>
                      <a:srgbClr val="101828"/>
                    </a:solidFill>
                  </a:tcPr>
                </a:tc>
                <a:tc>
                  <a:txBody>
                    <a:bodyPr/>
                    <a:lstStyle/>
                    <a:p>
                      <a:pPr indent="0" marL="0">
                        <a:lnSpc>
                          <a:spcPts val="1960"/>
                        </a:lnSpc>
                        <a:buNone/>
                      </a:pPr>
                      <a:r>
                        <a:rPr lang="en-US" sz="1400" b="1" dirty="0">
                          <a:solidFill>
                            <a:srgbClr val="F6F4EF"/>
                          </a:solidFill>
                          <a:latin typeface="DM Sans" pitchFamily="34" charset="0"/>
                          <a:ea typeface="DM Sans" pitchFamily="34" charset="-122"/>
                          <a:cs typeface="DM Sans" pitchFamily="34" charset="-120"/>
                        </a:rPr>
                        <a:t>Senior</a:t>
                      </a:r>
                      <a:endParaRPr lang="en-US" sz="1400" dirty="0">
                        <a:latin typeface="DM Sans" charset="0"/>
                        <a:ea typeface="DM Sans" charset="0"/>
                        <a:cs typeface="DM Sans" charset="0"/>
                      </a:endParaRPr>
                    </a:p>
                  </a:txBody>
                  <a:tcPr marL="62230" marR="62230" marT="62230" marB="62230" anchor="t">
                    <a:lnL w="12700" cap="flat" cmpd="sng" algn="ctr">
                      <a:solidFill>
                        <a:srgbClr val="111723"/>
                      </a:solidFill>
                      <a:prstDash val="solid"/>
                      <a:round/>
                      <a:headEnd type="none" w="med" len="med"/>
                      <a:tailEnd type="none" w="med" len="med"/>
                    </a:lnL>
                    <a:lnR w="12700" cap="flat" cmpd="sng" algn="ctr">
                      <a:solidFill>
                        <a:srgbClr val="111723"/>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11723"/>
                      </a:solidFill>
                      <a:prstDash val="solid"/>
                      <a:round/>
                      <a:headEnd type="none" w="med" len="med"/>
                      <a:tailEnd type="none" w="med" len="med"/>
                    </a:lnB>
                    <a:solidFill>
                      <a:srgbClr val="101828"/>
                    </a:solidFill>
                  </a:tcPr>
                </a:tc>
              </a:tr>
              <a:tr h="383540">
                <a:tc>
                  <a:txBody>
                    <a:bodyPr/>
                    <a:lstStyle/>
                    <a:p>
                      <a:pPr indent="0" marL="0">
                        <a:lnSpc>
                          <a:spcPts val="1960"/>
                        </a:lnSpc>
                        <a:buNone/>
                      </a:pPr>
                      <a:r>
                        <a:rPr lang="en-US" sz="1400" dirty="0">
                          <a:solidFill>
                            <a:srgbClr val="101828"/>
                          </a:solidFill>
                          <a:latin typeface="DM Sans" pitchFamily="34" charset="0"/>
                          <a:ea typeface="DM Sans" pitchFamily="34" charset="-122"/>
                          <a:cs typeface="DM Sans" pitchFamily="34" charset="-120"/>
                        </a:rPr>
                        <a:t>1 · Getting started</a:t>
                      </a:r>
                      <a:endParaRPr lang="en-US" sz="1400" dirty="0">
                        <a:latin typeface="DM Sans" charset="0"/>
                        <a:ea typeface="DM Sans" charset="0"/>
                        <a:cs typeface="DM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1172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indent="0" marL="0">
                        <a:lnSpc>
                          <a:spcPts val="1960"/>
                        </a:lnSpc>
                        <a:buNone/>
                      </a:pPr>
                      <a:r>
                        <a:rPr lang="en-US" sz="1400" dirty="0">
                          <a:solidFill>
                            <a:srgbClr val="101828"/>
                          </a:solidFill>
                          <a:latin typeface="DM Sans" pitchFamily="34" charset="0"/>
                          <a:ea typeface="DM Sans" pitchFamily="34" charset="-122"/>
                          <a:cs typeface="DM Sans" pitchFamily="34" charset="-120"/>
                        </a:rPr>
                        <a:t>Yes</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1172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indent="0" marL="0">
                        <a:lnSpc>
                          <a:spcPts val="1960"/>
                        </a:lnSpc>
                        <a:buNone/>
                      </a:pPr>
                      <a:r>
                        <a:rPr lang="en-US" sz="1400" dirty="0">
                          <a:solidFill>
                            <a:srgbClr val="101828"/>
                          </a:solidFill>
                          <a:latin typeface="DM Sans" pitchFamily="34" charset="0"/>
                          <a:ea typeface="DM Sans" pitchFamily="34" charset="-122"/>
                          <a:cs typeface="DM Sans" pitchFamily="34" charset="-120"/>
                        </a:rPr>
                        <a:t>Yes</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1172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indent="0" marL="0">
                        <a:lnSpc>
                          <a:spcPts val="1960"/>
                        </a:lnSpc>
                        <a:buNone/>
                      </a:pPr>
                      <a:r>
                        <a:rPr lang="en-US" sz="1400" dirty="0">
                          <a:solidFill>
                            <a:srgbClr val="101828"/>
                          </a:solidFill>
                          <a:latin typeface="DM Sans" pitchFamily="34" charset="0"/>
                          <a:ea typeface="DM Sans" pitchFamily="34" charset="-122"/>
                          <a:cs typeface="DM Sans" pitchFamily="34" charset="-120"/>
                        </a:rPr>
                        <a:t>Yes</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1172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r>
              <a:tr h="383540">
                <a:tc>
                  <a:txBody>
                    <a:bodyPr/>
                    <a:lstStyle/>
                    <a:p>
                      <a:pPr indent="0" marL="0">
                        <a:lnSpc>
                          <a:spcPts val="1960"/>
                        </a:lnSpc>
                        <a:buNone/>
                      </a:pPr>
                      <a:r>
                        <a:rPr lang="en-US" sz="1400" dirty="0">
                          <a:solidFill>
                            <a:srgbClr val="101828"/>
                          </a:solidFill>
                          <a:latin typeface="DM Sans" pitchFamily="34" charset="0"/>
                          <a:ea typeface="DM Sans" pitchFamily="34" charset="-122"/>
                          <a:cs typeface="DM Sans" pitchFamily="34" charset="-120"/>
                        </a:rPr>
                        <a:t>2 · Running the night</a:t>
                      </a:r>
                      <a:endParaRPr lang="en-US" sz="1400" dirty="0">
                        <a:latin typeface="DM Sans" charset="0"/>
                        <a:ea typeface="DM Sans" charset="0"/>
                        <a:cs typeface="DM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01828"/>
                          </a:solidFill>
                          <a:latin typeface="DM Sans" pitchFamily="34" charset="0"/>
                          <a:ea typeface="DM Sans" pitchFamily="34" charset="-122"/>
                          <a:cs typeface="DM Sans" pitchFamily="34" charset="-120"/>
                        </a:rPr>
                        <a:t>Most of it</a:t>
                      </a:r>
                      <a:endParaRPr lang="en-US" sz="1400" dirty="0">
                        <a:latin typeface="DM Sans" charset="0"/>
                        <a:ea typeface="DM Sans" charset="0"/>
                        <a:cs typeface="DM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01828"/>
                          </a:solidFill>
                          <a:latin typeface="DM Sans" pitchFamily="34" charset="0"/>
                          <a:ea typeface="DM Sans" pitchFamily="34" charset="-122"/>
                          <a:cs typeface="DM Sans" pitchFamily="34" charset="-120"/>
                        </a:rPr>
                        <a:t>Most of it</a:t>
                      </a:r>
                      <a:endParaRPr lang="en-US" sz="1400" dirty="0">
                        <a:latin typeface="DM Sans" charset="0"/>
                        <a:ea typeface="DM Sans" charset="0"/>
                        <a:cs typeface="DM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01828"/>
                          </a:solidFill>
                          <a:latin typeface="DM Sans" pitchFamily="34" charset="0"/>
                          <a:ea typeface="DM Sans" pitchFamily="34" charset="-122"/>
                          <a:cs typeface="DM Sans" pitchFamily="34" charset="-120"/>
                        </a:rPr>
                        <a:t>All of it</a:t>
                      </a:r>
                      <a:endParaRPr lang="en-US" sz="1400" dirty="0">
                        <a:latin typeface="DM Sans" charset="0"/>
                        <a:ea typeface="DM Sans" charset="0"/>
                        <a:cs typeface="DM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83540">
                <a:tc>
                  <a:txBody>
                    <a:bodyPr/>
                    <a:lstStyle/>
                    <a:p>
                      <a:pPr indent="0" marL="0">
                        <a:lnSpc>
                          <a:spcPts val="1960"/>
                        </a:lnSpc>
                        <a:buNone/>
                      </a:pPr>
                      <a:r>
                        <a:rPr lang="en-US" sz="1400" dirty="0">
                          <a:solidFill>
                            <a:srgbClr val="101828"/>
                          </a:solidFill>
                          <a:latin typeface="DM Sans" pitchFamily="34" charset="0"/>
                          <a:ea typeface="DM Sans" pitchFamily="34" charset="-122"/>
                          <a:cs typeface="DM Sans" pitchFamily="34" charset="-120"/>
                        </a:rPr>
                        <a:t>3 · Setting up sessions</a:t>
                      </a:r>
                      <a:endParaRPr lang="en-US" sz="1400" dirty="0">
                        <a:latin typeface="DM Sans" charset="0"/>
                        <a:ea typeface="DM Sans" charset="0"/>
                        <a:cs typeface="DM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indent="0" marL="0">
                        <a:lnSpc>
                          <a:spcPts val="1960"/>
                        </a:lnSpc>
                        <a:buNone/>
                      </a:pPr>
                      <a:r>
                        <a:rPr lang="en-US" sz="1400" dirty="0">
                          <a:solidFill>
                            <a:srgbClr val="101828"/>
                          </a:solidFill>
                          <a:latin typeface="DM Sans" pitchFamily="34" charset="0"/>
                          <a:ea typeface="DM Sans" pitchFamily="34" charset="-122"/>
                          <a:cs typeface="DM Sans" pitchFamily="34" charset="-120"/>
                        </a:rPr>
                        <a:t>No</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indent="0" marL="0">
                        <a:lnSpc>
                          <a:spcPts val="1960"/>
                        </a:lnSpc>
                        <a:buNone/>
                      </a:pPr>
                      <a:r>
                        <a:rPr lang="en-US" sz="1400" dirty="0">
                          <a:solidFill>
                            <a:srgbClr val="101828"/>
                          </a:solidFill>
                          <a:latin typeface="DM Sans" pitchFamily="34" charset="0"/>
                          <a:ea typeface="DM Sans" pitchFamily="34" charset="-122"/>
                          <a:cs typeface="DM Sans" pitchFamily="34" charset="-120"/>
                        </a:rPr>
                        <a:t>No</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indent="0" marL="0">
                        <a:lnSpc>
                          <a:spcPts val="1960"/>
                        </a:lnSpc>
                        <a:buNone/>
                      </a:pPr>
                      <a:r>
                        <a:rPr lang="en-US" sz="1400" dirty="0">
                          <a:solidFill>
                            <a:srgbClr val="101828"/>
                          </a:solidFill>
                          <a:latin typeface="DM Sans" pitchFamily="34" charset="0"/>
                          <a:ea typeface="DM Sans" pitchFamily="34" charset="-122"/>
                          <a:cs typeface="DM Sans" pitchFamily="34" charset="-120"/>
                        </a:rPr>
                        <a:t>Yes</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r>
              <a:tr h="383540">
                <a:tc>
                  <a:txBody>
                    <a:bodyPr/>
                    <a:lstStyle/>
                    <a:p>
                      <a:pPr indent="0" marL="0">
                        <a:lnSpc>
                          <a:spcPts val="1960"/>
                        </a:lnSpc>
                        <a:buNone/>
                      </a:pPr>
                      <a:r>
                        <a:rPr lang="en-US" sz="1400" dirty="0">
                          <a:solidFill>
                            <a:srgbClr val="101828"/>
                          </a:solidFill>
                          <a:latin typeface="DM Sans" pitchFamily="34" charset="0"/>
                          <a:ea typeface="DM Sans" pitchFamily="34" charset="-122"/>
                          <a:cs typeface="DM Sans" pitchFamily="34" charset="-120"/>
                        </a:rPr>
                        <a:t>4 · Money and reports</a:t>
                      </a:r>
                      <a:endParaRPr lang="en-US" sz="1400" dirty="0">
                        <a:latin typeface="DM Sans" charset="0"/>
                        <a:ea typeface="DM Sans" charset="0"/>
                        <a:cs typeface="DM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01828"/>
                          </a:solidFill>
                          <a:latin typeface="DM Sans" pitchFamily="34" charset="0"/>
                          <a:ea typeface="DM Sans" pitchFamily="34" charset="-122"/>
                          <a:cs typeface="DM Sans" pitchFamily="34" charset="-120"/>
                        </a:rPr>
                        <a:t>No</a:t>
                      </a:r>
                      <a:endParaRPr lang="en-US" sz="1400" dirty="0">
                        <a:latin typeface="DM Sans" charset="0"/>
                        <a:ea typeface="DM Sans" charset="0"/>
                        <a:cs typeface="DM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01828"/>
                          </a:solidFill>
                          <a:latin typeface="DM Sans" pitchFamily="34" charset="0"/>
                          <a:ea typeface="DM Sans" pitchFamily="34" charset="-122"/>
                          <a:cs typeface="DM Sans" pitchFamily="34" charset="-120"/>
                        </a:rPr>
                        <a:t>Reports</a:t>
                      </a:r>
                      <a:endParaRPr lang="en-US" sz="1400" dirty="0">
                        <a:latin typeface="DM Sans" charset="0"/>
                        <a:ea typeface="DM Sans" charset="0"/>
                        <a:cs typeface="DM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01828"/>
                          </a:solidFill>
                          <a:latin typeface="DM Sans" pitchFamily="34" charset="0"/>
                          <a:ea typeface="DM Sans" pitchFamily="34" charset="-122"/>
                          <a:cs typeface="DM Sans" pitchFamily="34" charset="-120"/>
                        </a:rPr>
                        <a:t>Yes</a:t>
                      </a:r>
                      <a:endParaRPr lang="en-US" sz="1400" dirty="0">
                        <a:latin typeface="DM Sans" charset="0"/>
                        <a:ea typeface="DM Sans" charset="0"/>
                        <a:cs typeface="DM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83540">
                <a:tc>
                  <a:txBody>
                    <a:bodyPr/>
                    <a:lstStyle/>
                    <a:p>
                      <a:pPr indent="0" marL="0">
                        <a:lnSpc>
                          <a:spcPts val="1960"/>
                        </a:lnSpc>
                        <a:buNone/>
                      </a:pPr>
                      <a:r>
                        <a:rPr lang="en-US" sz="1400" dirty="0">
                          <a:solidFill>
                            <a:srgbClr val="101828"/>
                          </a:solidFill>
                          <a:latin typeface="DM Sans" pitchFamily="34" charset="0"/>
                          <a:ea typeface="DM Sans" pitchFamily="34" charset="-122"/>
                          <a:cs typeface="DM Sans" pitchFamily="34" charset="-120"/>
                        </a:rPr>
                        <a:t>5 · Club settings</a:t>
                      </a:r>
                      <a:endParaRPr lang="en-US" sz="1400" dirty="0">
                        <a:latin typeface="DM Sans" charset="0"/>
                        <a:ea typeface="DM Sans" charset="0"/>
                        <a:cs typeface="DM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indent="0" marL="0">
                        <a:lnSpc>
                          <a:spcPts val="1960"/>
                        </a:lnSpc>
                        <a:buNone/>
                      </a:pPr>
                      <a:r>
                        <a:rPr lang="en-US" sz="1400" dirty="0">
                          <a:solidFill>
                            <a:srgbClr val="101828"/>
                          </a:solidFill>
                          <a:latin typeface="DM Sans" pitchFamily="34" charset="0"/>
                          <a:ea typeface="DM Sans" pitchFamily="34" charset="-122"/>
                          <a:cs typeface="DM Sans" pitchFamily="34" charset="-120"/>
                        </a:rPr>
                        <a:t>No</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indent="0" marL="0">
                        <a:lnSpc>
                          <a:spcPts val="1960"/>
                        </a:lnSpc>
                        <a:buNone/>
                      </a:pPr>
                      <a:r>
                        <a:rPr lang="en-US" sz="1400" dirty="0">
                          <a:solidFill>
                            <a:srgbClr val="101828"/>
                          </a:solidFill>
                          <a:latin typeface="DM Sans" pitchFamily="34" charset="0"/>
                          <a:ea typeface="DM Sans" pitchFamily="34" charset="-122"/>
                          <a:cs typeface="DM Sans" pitchFamily="34" charset="-120"/>
                        </a:rPr>
                        <a:t>No</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indent="0" marL="0">
                        <a:lnSpc>
                          <a:spcPts val="1960"/>
                        </a:lnSpc>
                        <a:buNone/>
                      </a:pPr>
                      <a:r>
                        <a:rPr lang="en-US" sz="1400" dirty="0">
                          <a:solidFill>
                            <a:srgbClr val="101828"/>
                          </a:solidFill>
                          <a:latin typeface="DM Sans" pitchFamily="34" charset="0"/>
                          <a:ea typeface="DM Sans" pitchFamily="34" charset="-122"/>
                          <a:cs typeface="DM Sans" pitchFamily="34" charset="-120"/>
                        </a:rPr>
                        <a:t>Yes</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r>
              <a:tr h="383540">
                <a:tc>
                  <a:txBody>
                    <a:bodyPr/>
                    <a:lstStyle/>
                    <a:p>
                      <a:pPr indent="0" marL="0">
                        <a:lnSpc>
                          <a:spcPts val="1960"/>
                        </a:lnSpc>
                        <a:buNone/>
                      </a:pPr>
                      <a:r>
                        <a:rPr lang="en-US" sz="1400" dirty="0">
                          <a:solidFill>
                            <a:srgbClr val="101828"/>
                          </a:solidFill>
                          <a:latin typeface="DM Sans" pitchFamily="34" charset="0"/>
                          <a:ea typeface="DM Sans" pitchFamily="34" charset="-122"/>
                          <a:cs typeface="DM Sans" pitchFamily="34" charset="-120"/>
                        </a:rPr>
                        <a:t>6 · Memberships</a:t>
                      </a:r>
                      <a:endParaRPr lang="en-US" sz="1400" dirty="0">
                        <a:latin typeface="DM Sans" charset="0"/>
                        <a:ea typeface="DM Sans" charset="0"/>
                        <a:cs typeface="DM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01828"/>
                          </a:solidFill>
                          <a:latin typeface="DM Sans" pitchFamily="34" charset="0"/>
                          <a:ea typeface="DM Sans" pitchFamily="34" charset="-122"/>
                          <a:cs typeface="DM Sans" pitchFamily="34" charset="-120"/>
                        </a:rPr>
                        <a:t>No</a:t>
                      </a:r>
                      <a:endParaRPr lang="en-US" sz="1400" dirty="0">
                        <a:latin typeface="DM Sans" charset="0"/>
                        <a:ea typeface="DM Sans" charset="0"/>
                        <a:cs typeface="DM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01828"/>
                          </a:solidFill>
                          <a:latin typeface="DM Sans" pitchFamily="34" charset="0"/>
                          <a:ea typeface="DM Sans" pitchFamily="34" charset="-122"/>
                          <a:cs typeface="DM Sans" pitchFamily="34" charset="-120"/>
                        </a:rPr>
                        <a:t>Money report</a:t>
                      </a:r>
                      <a:endParaRPr lang="en-US" sz="1400" dirty="0">
                        <a:latin typeface="DM Sans" charset="0"/>
                        <a:ea typeface="DM Sans" charset="0"/>
                        <a:cs typeface="DM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01828"/>
                          </a:solidFill>
                          <a:latin typeface="DM Sans" pitchFamily="34" charset="0"/>
                          <a:ea typeface="DM Sans" pitchFamily="34" charset="-122"/>
                          <a:cs typeface="DM Sans" pitchFamily="34" charset="-120"/>
                        </a:rPr>
                        <a:t>Yes</a:t>
                      </a:r>
                      <a:endParaRPr lang="en-US" sz="1400" dirty="0">
                        <a:latin typeface="DM Sans" charset="0"/>
                        <a:ea typeface="DM Sans" charset="0"/>
                        <a:cs typeface="DM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83540">
                <a:tc>
                  <a:txBody>
                    <a:bodyPr/>
                    <a:lstStyle/>
                    <a:p>
                      <a:pPr indent="0" marL="0">
                        <a:lnSpc>
                          <a:spcPts val="1960"/>
                        </a:lnSpc>
                        <a:buNone/>
                      </a:pPr>
                      <a:r>
                        <a:rPr lang="en-US" sz="1400" dirty="0">
                          <a:solidFill>
                            <a:srgbClr val="101828"/>
                          </a:solidFill>
                          <a:latin typeface="DM Sans" pitchFamily="34" charset="0"/>
                          <a:ea typeface="DM Sans" pitchFamily="34" charset="-122"/>
                          <a:cs typeface="DM Sans" pitchFamily="34" charset="-120"/>
                        </a:rPr>
                        <a:t>7 · Members and logins</a:t>
                      </a:r>
                      <a:endParaRPr lang="en-US" sz="1400" dirty="0">
                        <a:latin typeface="DM Sans" charset="0"/>
                        <a:ea typeface="DM Sans" charset="0"/>
                        <a:cs typeface="DM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indent="0" marL="0">
                        <a:lnSpc>
                          <a:spcPts val="1960"/>
                        </a:lnSpc>
                        <a:buNone/>
                      </a:pPr>
                      <a:r>
                        <a:rPr lang="en-US" sz="1400" dirty="0">
                          <a:solidFill>
                            <a:srgbClr val="101828"/>
                          </a:solidFill>
                          <a:latin typeface="DM Sans" pitchFamily="34" charset="0"/>
                          <a:ea typeface="DM Sans" pitchFamily="34" charset="-122"/>
                          <a:cs typeface="DM Sans" pitchFamily="34" charset="-120"/>
                        </a:rPr>
                        <a:t>No</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indent="0" marL="0">
                        <a:lnSpc>
                          <a:spcPts val="1960"/>
                        </a:lnSpc>
                        <a:buNone/>
                      </a:pPr>
                      <a:r>
                        <a:rPr lang="en-US" sz="1400" dirty="0">
                          <a:solidFill>
                            <a:srgbClr val="101828"/>
                          </a:solidFill>
                          <a:latin typeface="DM Sans" pitchFamily="34" charset="0"/>
                          <a:ea typeface="DM Sans" pitchFamily="34" charset="-122"/>
                          <a:cs typeface="DM Sans" pitchFamily="34" charset="-120"/>
                        </a:rPr>
                        <a:t>No</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indent="0" marL="0">
                        <a:lnSpc>
                          <a:spcPts val="1960"/>
                        </a:lnSpc>
                        <a:buNone/>
                      </a:pPr>
                      <a:r>
                        <a:rPr lang="en-US" sz="1400" dirty="0">
                          <a:solidFill>
                            <a:srgbClr val="101828"/>
                          </a:solidFill>
                          <a:latin typeface="DM Sans" pitchFamily="34" charset="0"/>
                          <a:ea typeface="DM Sans" pitchFamily="34" charset="-122"/>
                          <a:cs typeface="DM Sans" pitchFamily="34" charset="-120"/>
                        </a:rPr>
                        <a:t>Yes</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r>
            </a:tbl>
          </a:graphicData>
        </a:graphic>
      </p:graphicFrame>
      <p:sp>
        <p:nvSpPr>
          <p:cNvPr id="5" name="Text 2"/>
          <p:cNvSpPr/>
          <p:nvPr/>
        </p:nvSpPr>
        <p:spPr>
          <a:xfrm>
            <a:off x="812800" y="4894580"/>
            <a:ext cx="981075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DM Sans" pitchFamily="34" charset="0"/>
                <a:ea typeface="DM Sans" pitchFamily="34" charset="-122"/>
                <a:cs typeface="DM Sans" pitchFamily="34" charset="-120"/>
              </a:rPr>
              <a:t>“Most of it”: adding someone to a session, emergency info and cancelling a session are for Seniors at the moment. This follows the club’s current admin levels. Seniors can change what each level can do, in </a:t>
            </a:r>
            <a:r>
              <a:rPr lang="en-US" sz="1300" b="1" dirty="0">
                <a:solidFill>
                  <a:srgbClr val="3D4A5C"/>
                </a:solidFill>
                <a:latin typeface="DM Sans" pitchFamily="34" charset="0"/>
                <a:ea typeface="DM Sans" pitchFamily="34" charset="-122"/>
                <a:cs typeface="DM Sans" pitchFamily="34" charset="-120"/>
              </a:rPr>
              <a:t>Admins</a:t>
            </a:r>
            <a:r>
              <a:rPr lang="en-US" sz="1300" dirty="0">
                <a:solidFill>
                  <a:srgbClr val="3D4A5C"/>
                </a:solidFill>
                <a:latin typeface="DM Sans" pitchFamily="34" charset="0"/>
                <a:ea typeface="DM Sans" pitchFamily="34" charset="-122"/>
                <a:cs typeface="DM Sans" pitchFamily="34" charset="-120"/>
              </a:rPr>
              <a:t>.</a:t>
            </a:r>
            <a:endParaRPr lang="en-US" sz="1300" dirty="0"/>
          </a:p>
        </p:txBody>
      </p:sp>
      <p:sp>
        <p:nvSpPr>
          <p:cNvPr id="6" name="Text 3"/>
          <p:cNvSpPr/>
          <p:nvPr/>
        </p:nvSpPr>
        <p:spPr>
          <a:xfrm>
            <a:off x="812800" y="6238241"/>
            <a:ext cx="90258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Hide the sections your audience doesn’t need</a:t>
            </a:r>
            <a:endParaRPr lang="en-US" sz="1200" dirty="0"/>
          </a:p>
        </p:txBody>
      </p:sp>
      <p:pic>
        <p:nvPicPr>
          <p:cNvPr id="7" name="Image 0" descr="twoclear">    </p:cNvPr>
          <p:cNvPicPr>
            <a:picLocks noChangeAspect="1"/>
          </p:cNvPicPr>
          <p:nvPr/>
        </p:nvPicPr>
        <p:blipFill>
          <a:blip r:embed="rId1"/>
          <a:srcRect l="0" r="0" t="-149" b="-149"/>
          <a:stretch/>
        </p:blipFill>
        <p:spPr>
          <a:xfrm>
            <a:off x="10109200" y="6229350"/>
            <a:ext cx="1270000" cy="2857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97316"/>
          </a:solidFill>
          <a:ln/>
        </p:spPr>
      </p:sp>
      <p:sp>
        <p:nvSpPr>
          <p:cNvPr id="3" name="Text 1"/>
          <p:cNvSpPr/>
          <p:nvPr/>
        </p:nvSpPr>
        <p:spPr>
          <a:xfrm>
            <a:off x="812800" y="2105661"/>
            <a:ext cx="10883392"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97316"/>
                </a:solidFill>
                <a:latin typeface="Poppins" pitchFamily="34" charset="0"/>
                <a:ea typeface="Poppins" pitchFamily="34" charset="-122"/>
                <a:cs typeface="Poppins" pitchFamily="34" charset="-120"/>
              </a:rPr>
              <a:t>1</a:t>
            </a:r>
            <a:endParaRPr lang="en-US" sz="6000" dirty="0"/>
          </a:p>
        </p:txBody>
      </p:sp>
      <p:sp>
        <p:nvSpPr>
          <p:cNvPr id="4" name="Text 2"/>
          <p:cNvSpPr/>
          <p:nvPr>
            <p:ph type="title"/>
          </p:nvPr>
        </p:nvSpPr>
        <p:spPr>
          <a:xfrm>
            <a:off x="812800" y="3070861"/>
            <a:ext cx="10883392" cy="66548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6F4EF"/>
                </a:solidFill>
                <a:latin typeface="Poppins" pitchFamily="34" charset="0"/>
                <a:ea typeface="Poppins" pitchFamily="34" charset="-122"/>
                <a:cs typeface="Poppins" pitchFamily="34" charset="-120"/>
              </a:rPr>
              <a:t>Getting started</a:t>
            </a:r>
            <a:endParaRPr lang="en-US" sz="4800" dirty="0"/>
          </a:p>
        </p:txBody>
      </p:sp>
      <p:sp>
        <p:nvSpPr>
          <p:cNvPr id="5" name="Text 3"/>
          <p:cNvSpPr/>
          <p:nvPr/>
        </p:nvSpPr>
        <p:spPr>
          <a:xfrm>
            <a:off x="812800" y="3914141"/>
            <a:ext cx="8502650" cy="32766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9D2E0"/>
                </a:solidFill>
                <a:latin typeface="DM Sans" pitchFamily="34" charset="0"/>
                <a:ea typeface="DM Sans" pitchFamily="34" charset="-122"/>
                <a:cs typeface="DM Sans" pitchFamily="34" charset="-120"/>
              </a:rPr>
              <a:t>Signing in, and finding your way round the Admin menu.</a:t>
            </a:r>
            <a:endParaRPr lang="en-US" sz="1700" dirty="0"/>
          </a:p>
        </p:txBody>
      </p:sp>
      <p:sp>
        <p:nvSpPr>
          <p:cNvPr id="6" name="Text 4"/>
          <p:cNvSpPr/>
          <p:nvPr/>
        </p:nvSpPr>
        <p:spPr>
          <a:xfrm>
            <a:off x="812800" y="4419600"/>
            <a:ext cx="1390015" cy="332740"/>
          </a:xfrm>
          <a:prstGeom prst="roundRect">
            <a:avLst>
              <a:gd name="adj" fmla="val 50000"/>
            </a:avLst>
          </a:prstGeom>
          <a:solidFill>
            <a:srgbClr val="F97316"/>
          </a:solidFill>
          <a:ln/>
        </p:spPr>
        <p:txBody>
          <a:bodyPr wrap="none" lIns="0" tIns="0" rIns="0" bIns="0" rtlCol="0" anchor="ctr">
            <a:normAutofit/>
          </a:bodyPr>
          <a:lstStyle/>
          <a:p>
            <a:pPr algn="ctr" indent="0" marL="0">
              <a:lnSpc>
                <a:spcPts val="1820"/>
              </a:lnSpc>
              <a:buNone/>
            </a:pPr>
            <a:r>
              <a:rPr lang="en-US" sz="1300" b="1" dirty="0">
                <a:solidFill>
                  <a:srgbClr val="101828"/>
                </a:solidFill>
                <a:latin typeface="DM Sans" pitchFamily="34" charset="0"/>
                <a:ea typeface="DM Sans" pitchFamily="34" charset="-122"/>
                <a:cs typeface="DM Sans" pitchFamily="34" charset="-120"/>
              </a:rPr>
              <a:t>For: everyone</a:t>
            </a:r>
            <a:endParaRPr lang="en-US" sz="1300" dirty="0"/>
          </a:p>
        </p:txBody>
      </p:sp>
      <p:pic>
        <p:nvPicPr>
          <p:cNvPr id="7" name="Image 0" descr="twoclear">    </p:cNvPr>
          <p:cNvPicPr>
            <a:picLocks noChangeAspect="1"/>
          </p:cNvPicPr>
          <p:nvPr/>
        </p:nvPicPr>
        <p:blipFill>
          <a:blip r:embed="rId1"/>
          <a:srcRect l="-224" r="-224" t="0" b="0"/>
          <a:stretch/>
        </p:blipFill>
        <p:spPr>
          <a:xfrm>
            <a:off x="9474200" y="5822950"/>
            <a:ext cx="1905000" cy="4254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635000"/>
            <a:ext cx="1988264"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DM Sans" pitchFamily="34" charset="0"/>
                <a:ea typeface="DM Sans" pitchFamily="34" charset="-122"/>
                <a:cs typeface="DM Sans" pitchFamily="34" charset="-120"/>
              </a:rPr>
              <a:t>1 · GETTING STARTED</a:t>
            </a:r>
            <a:endParaRPr lang="en-US" sz="1200" dirty="0"/>
          </a:p>
        </p:txBody>
      </p:sp>
      <p:sp>
        <p:nvSpPr>
          <p:cNvPr id="3" name="Text 1"/>
          <p:cNvSpPr/>
          <p:nvPr/>
        </p:nvSpPr>
        <p:spPr>
          <a:xfrm>
            <a:off x="2801064" y="609600"/>
            <a:ext cx="893128" cy="264160"/>
          </a:xfrm>
          <a:custGeom>
            <a:avLst/>
            <a:gdLst/>
            <a:ahLst/>
            <a:cxnLst/>
            <a:rect l="l" t="t" r="r" b="b"/>
            <a:pathLst>
              <a:path w="893128" h="264160">
                <a:moveTo>
                  <a:pt x="132080" y="0"/>
                </a:moveTo>
                <a:lnTo>
                  <a:pt x="761048" y="0"/>
                </a:lnTo>
                <a:arcTo hR="132080" wR="132080" stAng="16200000" swAng="5400000"/>
                <a:lnTo>
                  <a:pt x="893128" y="132080"/>
                </a:lnTo>
                <a:arcTo hR="132080" wR="132080" stAng="0" swAng="5400000"/>
                <a:lnTo>
                  <a:pt x="132080" y="264160"/>
                </a:lnTo>
                <a:arcTo hR="132080" wR="132080" stAng="5400000" swAng="5400000"/>
                <a:lnTo>
                  <a:pt x="0" y="132080"/>
                </a:lnTo>
                <a:arcTo hR="132080" wR="132080" stAng="10800000" swAng="5400000"/>
                <a:close/>
              </a:path>
            </a:pathLst>
          </a:custGeom>
          <a:solidFill>
            <a:srgbClr val="E8E3D8"/>
          </a:solidFill>
          <a:ln/>
        </p:spPr>
        <p:txBody>
          <a:bodyPr wrap="none" lIns="0" tIns="0" rIns="0" bIns="0" rtlCol="0" anchor="ctr">
            <a:normAutofit/>
          </a:bodyPr>
          <a:lstStyle/>
          <a:p>
            <a:pPr algn="ctr" indent="0" marL="0">
              <a:lnSpc>
                <a:spcPts val="1680"/>
              </a:lnSpc>
              <a:buNone/>
            </a:pPr>
            <a:r>
              <a:rPr lang="en-US" sz="1200" b="1" dirty="0">
                <a:solidFill>
                  <a:srgbClr val="101828"/>
                </a:solidFill>
                <a:latin typeface="DM Sans" pitchFamily="34" charset="0"/>
                <a:ea typeface="DM Sans" pitchFamily="34" charset="-122"/>
                <a:cs typeface="DM Sans" pitchFamily="34" charset="-120"/>
              </a:rPr>
              <a:t>Everyone</a:t>
            </a:r>
            <a:endParaRPr lang="en-US" sz="1200" dirty="0"/>
          </a:p>
        </p:txBody>
      </p:sp>
      <p:sp>
        <p:nvSpPr>
          <p:cNvPr id="4" name="Text 2"/>
          <p:cNvSpPr/>
          <p:nvPr>
            <p:ph type="title"/>
          </p:nvPr>
        </p:nvSpPr>
        <p:spPr>
          <a:xfrm>
            <a:off x="812800" y="949961"/>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01828"/>
                </a:solidFill>
                <a:latin typeface="Poppins" pitchFamily="34" charset="0"/>
                <a:ea typeface="Poppins" pitchFamily="34" charset="-122"/>
                <a:cs typeface="Poppins" pitchFamily="34" charset="-120"/>
              </a:rPr>
              <a:t>Signing in as an admin</a:t>
            </a:r>
            <a:endParaRPr lang="en-US" sz="2800" dirty="0"/>
          </a:p>
        </p:txBody>
      </p:sp>
      <p:sp>
        <p:nvSpPr>
          <p:cNvPr id="5" name="Text 3"/>
          <p:cNvSpPr/>
          <p:nvPr/>
        </p:nvSpPr>
        <p:spPr>
          <a:xfrm>
            <a:off x="879157" y="1612900"/>
            <a:ext cx="3954971" cy="1518920"/>
          </a:xfrm>
          <a:prstGeom prst="rect">
            <a:avLst/>
          </a:prstGeom>
          <a:noFill/>
          <a:ln/>
        </p:spPr>
        <p:txBody>
          <a:bodyPr wrap="square" lIns="0" tIns="0" rIns="0" bIns="0" rtlCol="0" anchor="t">
            <a:normAutofit/>
          </a:bodyPr>
          <a:lstStyle/>
          <a:p>
            <a:pPr algn="l" marL="187643" indent="-187643">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On the club site, click </a:t>
            </a:r>
            <a:r>
              <a:rPr lang="en-US" sz="1400" b="1" dirty="0">
                <a:solidFill>
                  <a:srgbClr val="3D4A5C"/>
                </a:solidFill>
                <a:latin typeface="DM Sans" pitchFamily="34" charset="0"/>
                <a:ea typeface="DM Sans" pitchFamily="34" charset="-122"/>
                <a:cs typeface="DM Sans" pitchFamily="34" charset="-120"/>
              </a:rPr>
              <a:t>Club admin sign in</a:t>
            </a:r>
            <a:r>
              <a:rPr lang="en-US" sz="1400" dirty="0">
                <a:solidFill>
                  <a:srgbClr val="3D4A5C"/>
                </a:solidFill>
                <a:latin typeface="DM Sans" pitchFamily="34" charset="0"/>
                <a:ea typeface="DM Sans" pitchFamily="34" charset="-122"/>
                <a:cs typeface="DM Sans" pitchFamily="34" charset="-120"/>
              </a:rPr>
              <a:t> at the bottom of the menu.</a:t>
            </a:r>
            <a:endParaRPr lang="en-US" sz="1400" dirty="0"/>
          </a:p>
          <a:p>
            <a:pPr algn="l" marL="187643" indent="-187643">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Enter the email the club set you up with, then </a:t>
            </a:r>
            <a:r>
              <a:rPr lang="en-US" sz="1400" b="1" dirty="0">
                <a:solidFill>
                  <a:srgbClr val="3D4A5C"/>
                </a:solidFill>
                <a:latin typeface="DM Sans" pitchFamily="34" charset="0"/>
                <a:ea typeface="DM Sans" pitchFamily="34" charset="-122"/>
                <a:cs typeface="DM Sans" pitchFamily="34" charset="-120"/>
              </a:rPr>
              <a:t>Email me a sign-in code</a:t>
            </a:r>
            <a:r>
              <a:rPr lang="en-US" sz="1400" dirty="0">
                <a:solidFill>
                  <a:srgbClr val="3D4A5C"/>
                </a:solidFill>
                <a:latin typeface="DM Sans" pitchFamily="34" charset="0"/>
                <a:ea typeface="DM Sans" pitchFamily="34" charset="-122"/>
                <a:cs typeface="DM Sans" pitchFamily="34" charset="-120"/>
              </a:rPr>
              <a:t>.</a:t>
            </a:r>
            <a:endParaRPr lang="en-US" sz="1400" dirty="0"/>
          </a:p>
          <a:p>
            <a:pPr algn="l" marL="187643" indent="-187643">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Type the code from the email and click </a:t>
            </a:r>
            <a:r>
              <a:rPr lang="en-US" sz="1400" b="1" dirty="0">
                <a:solidFill>
                  <a:srgbClr val="3D4A5C"/>
                </a:solidFill>
                <a:latin typeface="DM Sans" pitchFamily="34" charset="0"/>
                <a:ea typeface="DM Sans" pitchFamily="34" charset="-122"/>
                <a:cs typeface="DM Sans" pitchFamily="34" charset="-120"/>
              </a:rPr>
              <a:t>Verify &amp; sign in</a:t>
            </a:r>
            <a:r>
              <a:rPr lang="en-US" sz="1400" dirty="0">
                <a:solidFill>
                  <a:srgbClr val="3D4A5C"/>
                </a:solidFill>
                <a:latin typeface="DM Sans" pitchFamily="34" charset="0"/>
                <a:ea typeface="DM Sans" pitchFamily="34" charset="-122"/>
                <a:cs typeface="DM Sans" pitchFamily="34" charset="-120"/>
              </a:rPr>
              <a:t>.</a:t>
            </a:r>
            <a:endParaRPr lang="en-US" sz="1400" dirty="0"/>
          </a:p>
        </p:txBody>
      </p:sp>
      <p:sp>
        <p:nvSpPr>
          <p:cNvPr id="6" name="Text 4"/>
          <p:cNvSpPr/>
          <p:nvPr/>
        </p:nvSpPr>
        <p:spPr>
          <a:xfrm>
            <a:off x="819150" y="3265170"/>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algn="l" indent="0" marL="0">
              <a:lnSpc>
                <a:spcPts val="1680"/>
              </a:lnSpc>
              <a:buNone/>
            </a:pPr>
            <a:r>
              <a:rPr lang="en-US" sz="1200" b="1" dirty="0">
                <a:solidFill>
                  <a:srgbClr val="3D4A5C"/>
                </a:solidFill>
                <a:latin typeface="DM Sans" pitchFamily="34" charset="0"/>
                <a:ea typeface="DM Sans" pitchFamily="34" charset="-122"/>
                <a:cs typeface="DM Sans" pitchFamily="34" charset="-120"/>
              </a:rPr>
              <a:t>No password.</a:t>
            </a:r>
            <a:r>
              <a:rPr lang="en-US" sz="1200" dirty="0">
                <a:solidFill>
                  <a:srgbClr val="3D4A5C"/>
                </a:solidFill>
                <a:latin typeface="DM Sans" pitchFamily="34" charset="0"/>
                <a:ea typeface="DM Sans" pitchFamily="34" charset="-122"/>
                <a:cs typeface="DM Sans" pitchFamily="34" charset="-120"/>
              </a:rPr>
              <a:t> The Admin section then appears in the menu, showing only what you can do.</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The club site with Club admin sign in ringed at the bottom of the menu">    </p:cNvPr>
          <p:cNvPicPr>
            <a:picLocks noChangeAspect="1"/>
          </p:cNvPicPr>
          <p:nvPr/>
        </p:nvPicPr>
        <p:blipFill>
          <a:blip r:embed="rId1"/>
          <a:srcRect l="-121" r="-121" t="0" b="0"/>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39"/>
            <a:ext cx="90258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r>
          <p:cNvPicPr>
            <a:picLocks noChangeAspect="1"/>
          </p:cNvPicPr>
          <p:nvPr/>
        </p:nvPicPr>
        <p:blipFill>
          <a:blip r:embed="rId2"/>
          <a:srcRect l="0" r="0" t="-149" b="-149"/>
          <a:stretch/>
        </p:blipFill>
        <p:spPr>
          <a:xfrm>
            <a:off x="10109200" y="6229350"/>
            <a:ext cx="1270000" cy="2857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635000"/>
            <a:ext cx="1988264"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DM Sans" pitchFamily="34" charset="0"/>
                <a:ea typeface="DM Sans" pitchFamily="34" charset="-122"/>
                <a:cs typeface="DM Sans" pitchFamily="34" charset="-120"/>
              </a:rPr>
              <a:t>1 · GETTING STARTED</a:t>
            </a:r>
            <a:endParaRPr lang="en-US" sz="1200" dirty="0"/>
          </a:p>
        </p:txBody>
      </p:sp>
      <p:sp>
        <p:nvSpPr>
          <p:cNvPr id="3" name="Text 1"/>
          <p:cNvSpPr/>
          <p:nvPr/>
        </p:nvSpPr>
        <p:spPr>
          <a:xfrm>
            <a:off x="2801064" y="609600"/>
            <a:ext cx="893128" cy="264160"/>
          </a:xfrm>
          <a:custGeom>
            <a:avLst/>
            <a:gdLst/>
            <a:ahLst/>
            <a:cxnLst/>
            <a:rect l="l" t="t" r="r" b="b"/>
            <a:pathLst>
              <a:path w="893128" h="264160">
                <a:moveTo>
                  <a:pt x="132080" y="0"/>
                </a:moveTo>
                <a:lnTo>
                  <a:pt x="761048" y="0"/>
                </a:lnTo>
                <a:arcTo hR="132080" wR="132080" stAng="16200000" swAng="5400000"/>
                <a:lnTo>
                  <a:pt x="893128" y="132080"/>
                </a:lnTo>
                <a:arcTo hR="132080" wR="132080" stAng="0" swAng="5400000"/>
                <a:lnTo>
                  <a:pt x="132080" y="264160"/>
                </a:lnTo>
                <a:arcTo hR="132080" wR="132080" stAng="5400000" swAng="5400000"/>
                <a:lnTo>
                  <a:pt x="0" y="132080"/>
                </a:lnTo>
                <a:arcTo hR="132080" wR="132080" stAng="10800000" swAng="5400000"/>
                <a:close/>
              </a:path>
            </a:pathLst>
          </a:custGeom>
          <a:solidFill>
            <a:srgbClr val="E8E3D8"/>
          </a:solidFill>
          <a:ln/>
        </p:spPr>
        <p:txBody>
          <a:bodyPr wrap="none" lIns="0" tIns="0" rIns="0" bIns="0" rtlCol="0" anchor="ctr">
            <a:normAutofit/>
          </a:bodyPr>
          <a:lstStyle/>
          <a:p>
            <a:pPr algn="ctr" indent="0" marL="0">
              <a:lnSpc>
                <a:spcPts val="1680"/>
              </a:lnSpc>
              <a:buNone/>
            </a:pPr>
            <a:r>
              <a:rPr lang="en-US" sz="1200" b="1" dirty="0">
                <a:solidFill>
                  <a:srgbClr val="101828"/>
                </a:solidFill>
                <a:latin typeface="DM Sans" pitchFamily="34" charset="0"/>
                <a:ea typeface="DM Sans" pitchFamily="34" charset="-122"/>
                <a:cs typeface="DM Sans" pitchFamily="34" charset="-120"/>
              </a:rPr>
              <a:t>Everyone</a:t>
            </a:r>
            <a:endParaRPr lang="en-US" sz="1200" dirty="0"/>
          </a:p>
        </p:txBody>
      </p:sp>
      <p:sp>
        <p:nvSpPr>
          <p:cNvPr id="4" name="Text 2"/>
          <p:cNvSpPr/>
          <p:nvPr>
            <p:ph type="title"/>
          </p:nvPr>
        </p:nvSpPr>
        <p:spPr>
          <a:xfrm>
            <a:off x="812800" y="949961"/>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01828"/>
                </a:solidFill>
                <a:latin typeface="Poppins" pitchFamily="34" charset="0"/>
                <a:ea typeface="Poppins" pitchFamily="34" charset="-122"/>
                <a:cs typeface="Poppins" pitchFamily="34" charset="-120"/>
              </a:rPr>
              <a:t>The Admin menu</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1623060"/>
          <a:ext cx="10556240" cy="2854960"/>
        </p:xfrm>
        <a:graphic>
          <a:graphicData uri="http://schemas.openxmlformats.org/drawingml/2006/table">
            <a:tbl>
              <a:tblPr/>
              <a:tblGrid>
                <a:gridCol w="2533498"/>
                <a:gridCol w="5489245"/>
                <a:gridCol w="2533498"/>
              </a:tblGrid>
              <a:tr h="356870">
                <a:tc>
                  <a:txBody>
                    <a:bodyPr/>
                    <a:lstStyle/>
                    <a:p>
                      <a:pPr indent="0" marL="0">
                        <a:lnSpc>
                          <a:spcPts val="1820"/>
                        </a:lnSpc>
                        <a:buNone/>
                      </a:pPr>
                      <a:r>
                        <a:rPr lang="en-US" sz="1300" b="1" dirty="0">
                          <a:solidFill>
                            <a:srgbClr val="F6F4EF"/>
                          </a:solidFill>
                          <a:latin typeface="DM Sans" pitchFamily="34" charset="0"/>
                          <a:ea typeface="DM Sans" pitchFamily="34" charset="-122"/>
                          <a:cs typeface="DM Sans" pitchFamily="34" charset="-120"/>
                        </a:rPr>
                        <a:t>Menu item</a:t>
                      </a:r>
                      <a:endParaRPr lang="en-US" sz="1300" dirty="0">
                        <a:latin typeface="DM Sans" charset="0"/>
                        <a:ea typeface="DM Sans" charset="0"/>
                        <a:cs typeface="DM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111723"/>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11723"/>
                      </a:solidFill>
                      <a:prstDash val="solid"/>
                      <a:round/>
                      <a:headEnd type="none" w="med" len="med"/>
                      <a:tailEnd type="none" w="med" len="med"/>
                    </a:lnB>
                    <a:solidFill>
                      <a:srgbClr val="101828"/>
                    </a:solidFill>
                  </a:tcPr>
                </a:tc>
                <a:tc>
                  <a:txBody>
                    <a:bodyPr/>
                    <a:lstStyle/>
                    <a:p>
                      <a:pPr indent="0" marL="0">
                        <a:lnSpc>
                          <a:spcPts val="1820"/>
                        </a:lnSpc>
                        <a:buNone/>
                      </a:pPr>
                      <a:r>
                        <a:rPr lang="en-US" sz="1300" b="1" dirty="0">
                          <a:solidFill>
                            <a:srgbClr val="F6F4EF"/>
                          </a:solidFill>
                          <a:latin typeface="DM Sans" pitchFamily="34" charset="0"/>
                          <a:ea typeface="DM Sans" pitchFamily="34" charset="-122"/>
                          <a:cs typeface="DM Sans" pitchFamily="34" charset="-120"/>
                        </a:rPr>
                        <a:t>What it’s for</a:t>
                      </a:r>
                      <a:endParaRPr lang="en-US" sz="1300" dirty="0">
                        <a:latin typeface="DM Sans" charset="0"/>
                        <a:ea typeface="DM Sans" charset="0"/>
                        <a:cs typeface="DM Sans" charset="0"/>
                      </a:endParaRPr>
                    </a:p>
                  </a:txBody>
                  <a:tcPr marL="57785" marR="57785" marT="57785" marB="57785" anchor="t">
                    <a:lnL w="12700" cap="flat" cmpd="sng" algn="ctr">
                      <a:solidFill>
                        <a:srgbClr val="111723"/>
                      </a:solidFill>
                      <a:prstDash val="solid"/>
                      <a:round/>
                      <a:headEnd type="none" w="med" len="med"/>
                      <a:tailEnd type="none" w="med" len="med"/>
                    </a:lnL>
                    <a:lnR w="12700" cap="flat" cmpd="sng" algn="ctr">
                      <a:solidFill>
                        <a:srgbClr val="111723"/>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11723"/>
                      </a:solidFill>
                      <a:prstDash val="solid"/>
                      <a:round/>
                      <a:headEnd type="none" w="med" len="med"/>
                      <a:tailEnd type="none" w="med" len="med"/>
                    </a:lnB>
                    <a:solidFill>
                      <a:srgbClr val="101828"/>
                    </a:solidFill>
                  </a:tcPr>
                </a:tc>
                <a:tc>
                  <a:txBody>
                    <a:bodyPr/>
                    <a:lstStyle/>
                    <a:p>
                      <a:pPr indent="0" marL="0">
                        <a:lnSpc>
                          <a:spcPts val="1820"/>
                        </a:lnSpc>
                        <a:buNone/>
                      </a:pPr>
                      <a:r>
                        <a:rPr lang="en-US" sz="1300" b="1" dirty="0">
                          <a:solidFill>
                            <a:srgbClr val="F6F4EF"/>
                          </a:solidFill>
                          <a:latin typeface="DM Sans" pitchFamily="34" charset="0"/>
                          <a:ea typeface="DM Sans" pitchFamily="34" charset="-122"/>
                          <a:cs typeface="DM Sans" pitchFamily="34" charset="-120"/>
                        </a:rPr>
                        <a:t>Who uses it</a:t>
                      </a:r>
                      <a:endParaRPr lang="en-US" sz="1300" dirty="0">
                        <a:latin typeface="DM Sans" charset="0"/>
                        <a:ea typeface="DM Sans" charset="0"/>
                        <a:cs typeface="DM Sans" charset="0"/>
                      </a:endParaRPr>
                    </a:p>
                  </a:txBody>
                  <a:tcPr marL="57785" marR="57785" marT="57785" marB="57785" anchor="t">
                    <a:lnL w="12700" cap="flat" cmpd="sng" algn="ctr">
                      <a:solidFill>
                        <a:srgbClr val="111723"/>
                      </a:solidFill>
                      <a:prstDash val="solid"/>
                      <a:round/>
                      <a:headEnd type="none" w="med" len="med"/>
                      <a:tailEnd type="none" w="med" len="med"/>
                    </a:lnL>
                    <a:lnR w="12700" cap="flat" cmpd="sng" algn="ctr">
                      <a:solidFill>
                        <a:srgbClr val="111723"/>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11723"/>
                      </a:solidFill>
                      <a:prstDash val="solid"/>
                      <a:round/>
                      <a:headEnd type="none" w="med" len="med"/>
                      <a:tailEnd type="none" w="med" len="med"/>
                    </a:lnB>
                    <a:solidFill>
                      <a:srgbClr val="101828"/>
                    </a:solidFill>
                  </a:tcPr>
                </a:tc>
              </a:tr>
              <a:tr h="356870">
                <a:tc>
                  <a:txBody>
                    <a:bodyPr/>
                    <a:lstStyle/>
                    <a:p>
                      <a:pPr indent="0" marL="0">
                        <a:lnSpc>
                          <a:spcPts val="1820"/>
                        </a:lnSpc>
                        <a:buNone/>
                      </a:pPr>
                      <a:r>
                        <a:rPr lang="en-US" sz="1300" dirty="0">
                          <a:solidFill>
                            <a:srgbClr val="101828"/>
                          </a:solidFill>
                          <a:latin typeface="DM Sans" pitchFamily="34" charset="0"/>
                          <a:ea typeface="DM Sans" pitchFamily="34" charset="-122"/>
                          <a:cs typeface="DM Sans" pitchFamily="34" charset="-120"/>
                        </a:rPr>
                        <a:t>Social sessions</a:t>
                      </a:r>
                      <a:endParaRPr lang="en-US" sz="1300" dirty="0">
                        <a:latin typeface="DM Sans" charset="0"/>
                        <a:ea typeface="DM Sans" charset="0"/>
                        <a:cs typeface="DM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1172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indent="0" marL="0">
                        <a:lnSpc>
                          <a:spcPts val="1820"/>
                        </a:lnSpc>
                        <a:buNone/>
                      </a:pPr>
                      <a:r>
                        <a:rPr lang="en-US" sz="1300" dirty="0">
                          <a:solidFill>
                            <a:srgbClr val="101828"/>
                          </a:solidFill>
                          <a:latin typeface="DM Sans" pitchFamily="34" charset="0"/>
                          <a:ea typeface="DM Sans" pitchFamily="34" charset="-122"/>
                          <a:cs typeface="DM Sans" pitchFamily="34" charset="-120"/>
                        </a:rPr>
                        <a:t>Open, run and publish sessions; create new ones</a:t>
                      </a:r>
                      <a:endParaRPr lang="en-US" sz="1300" dirty="0">
                        <a:latin typeface="DM Sans" charset="0"/>
                        <a:ea typeface="DM Sans" charset="0"/>
                        <a:cs typeface="DM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1172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indent="0" marL="0">
                        <a:lnSpc>
                          <a:spcPts val="1820"/>
                        </a:lnSpc>
                        <a:buNone/>
                      </a:pPr>
                      <a:r>
                        <a:rPr lang="en-US" sz="1300" dirty="0">
                          <a:solidFill>
                            <a:srgbClr val="101828"/>
                          </a:solidFill>
                          <a:latin typeface="DM Sans" pitchFamily="34" charset="0"/>
                          <a:ea typeface="DM Sans" pitchFamily="34" charset="-122"/>
                          <a:cs typeface="DM Sans" pitchFamily="34" charset="-120"/>
                        </a:rPr>
                        <a:t>Everyone (creating: Senior)</a:t>
                      </a:r>
                      <a:endParaRPr lang="en-US" sz="1300" dirty="0">
                        <a:latin typeface="DM Sans" charset="0"/>
                        <a:ea typeface="DM Sans" charset="0"/>
                        <a:cs typeface="DM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1172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r>
              <a:tr h="356870">
                <a:tc>
                  <a:txBody>
                    <a:bodyPr/>
                    <a:lstStyle/>
                    <a:p>
                      <a:pPr indent="0" marL="0">
                        <a:lnSpc>
                          <a:spcPts val="1820"/>
                        </a:lnSpc>
                        <a:buNone/>
                      </a:pPr>
                      <a:r>
                        <a:rPr lang="en-US" sz="1300" dirty="0">
                          <a:solidFill>
                            <a:srgbClr val="101828"/>
                          </a:solidFill>
                          <a:latin typeface="DM Sans" pitchFamily="34" charset="0"/>
                          <a:ea typeface="DM Sans" pitchFamily="34" charset="-122"/>
                          <a:cs typeface="DM Sans" pitchFamily="34" charset="-120"/>
                        </a:rPr>
                        <a:t>Calendar</a:t>
                      </a:r>
                      <a:endParaRPr lang="en-US" sz="1300" dirty="0">
                        <a:latin typeface="DM Sans" charset="0"/>
                        <a:ea typeface="DM Sans" charset="0"/>
                        <a:cs typeface="DM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01828"/>
                          </a:solidFill>
                          <a:latin typeface="DM Sans" pitchFamily="34" charset="0"/>
                          <a:ea typeface="DM Sans" pitchFamily="34" charset="-122"/>
                          <a:cs typeface="DM Sans" pitchFamily="34" charset="-120"/>
                        </a:rPr>
                        <a:t>Every session by date: open or change one</a:t>
                      </a:r>
                      <a:endParaRPr lang="en-US" sz="1300" dirty="0">
                        <a:latin typeface="DM Sans" charset="0"/>
                        <a:ea typeface="DM Sans" charset="0"/>
                        <a:cs typeface="DM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01828"/>
                          </a:solidFill>
                          <a:latin typeface="DM Sans" pitchFamily="34" charset="0"/>
                          <a:ea typeface="DM Sans" pitchFamily="34" charset="-122"/>
                          <a:cs typeface="DM Sans" pitchFamily="34" charset="-120"/>
                        </a:rPr>
                        <a:t>Everyone</a:t>
                      </a:r>
                      <a:endParaRPr lang="en-US" sz="1300" dirty="0">
                        <a:latin typeface="DM Sans" charset="0"/>
                        <a:ea typeface="DM Sans" charset="0"/>
                        <a:cs typeface="DM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6870">
                <a:tc>
                  <a:txBody>
                    <a:bodyPr/>
                    <a:lstStyle/>
                    <a:p>
                      <a:pPr indent="0" marL="0">
                        <a:lnSpc>
                          <a:spcPts val="1820"/>
                        </a:lnSpc>
                        <a:buNone/>
                      </a:pPr>
                      <a:r>
                        <a:rPr lang="en-US" sz="1300" dirty="0">
                          <a:solidFill>
                            <a:srgbClr val="101828"/>
                          </a:solidFill>
                          <a:latin typeface="DM Sans" pitchFamily="34" charset="0"/>
                          <a:ea typeface="DM Sans" pitchFamily="34" charset="-122"/>
                          <a:cs typeface="DM Sans" pitchFamily="34" charset="-120"/>
                        </a:rPr>
                        <a:t>Players &amp; logins</a:t>
                      </a:r>
                      <a:endParaRPr lang="en-US" sz="1300" dirty="0">
                        <a:latin typeface="DM Sans" charset="0"/>
                        <a:ea typeface="DM Sans" charset="0"/>
                        <a:cs typeface="DM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indent="0" marL="0">
                        <a:lnSpc>
                          <a:spcPts val="1820"/>
                        </a:lnSpc>
                        <a:buNone/>
                      </a:pPr>
                      <a:r>
                        <a:rPr lang="en-US" sz="1300" dirty="0">
                          <a:solidFill>
                            <a:srgbClr val="101828"/>
                          </a:solidFill>
                          <a:latin typeface="DM Sans" pitchFamily="34" charset="0"/>
                          <a:ea typeface="DM Sans" pitchFamily="34" charset="-122"/>
                          <a:cs typeface="DM Sans" pitchFamily="34" charset="-120"/>
                        </a:rPr>
                        <a:t>Players, sign-in access and wallet balances</a:t>
                      </a:r>
                      <a:endParaRPr lang="en-US" sz="1300" dirty="0">
                        <a:latin typeface="DM Sans" charset="0"/>
                        <a:ea typeface="DM Sans" charset="0"/>
                        <a:cs typeface="DM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indent="0" marL="0">
                        <a:lnSpc>
                          <a:spcPts val="1820"/>
                        </a:lnSpc>
                        <a:buNone/>
                      </a:pPr>
                      <a:r>
                        <a:rPr lang="en-US" sz="1300" dirty="0">
                          <a:solidFill>
                            <a:srgbClr val="101828"/>
                          </a:solidFill>
                          <a:latin typeface="DM Sans" pitchFamily="34" charset="0"/>
                          <a:ea typeface="DM Sans" pitchFamily="34" charset="-122"/>
                          <a:cs typeface="DM Sans" pitchFamily="34" charset="-120"/>
                        </a:rPr>
                        <a:t>Senior</a:t>
                      </a:r>
                      <a:endParaRPr lang="en-US" sz="1300" dirty="0">
                        <a:latin typeface="DM Sans" charset="0"/>
                        <a:ea typeface="DM Sans" charset="0"/>
                        <a:cs typeface="DM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r>
              <a:tr h="356870">
                <a:tc>
                  <a:txBody>
                    <a:bodyPr/>
                    <a:lstStyle/>
                    <a:p>
                      <a:pPr indent="0" marL="0">
                        <a:lnSpc>
                          <a:spcPts val="1820"/>
                        </a:lnSpc>
                        <a:buNone/>
                      </a:pPr>
                      <a:r>
                        <a:rPr lang="en-US" sz="1300" dirty="0">
                          <a:solidFill>
                            <a:srgbClr val="101828"/>
                          </a:solidFill>
                          <a:latin typeface="DM Sans" pitchFamily="34" charset="0"/>
                          <a:ea typeface="DM Sans" pitchFamily="34" charset="-122"/>
                          <a:cs typeface="DM Sans" pitchFamily="34" charset="-120"/>
                        </a:rPr>
                        <a:t>Reports</a:t>
                      </a:r>
                      <a:endParaRPr lang="en-US" sz="1300" dirty="0">
                        <a:latin typeface="DM Sans" charset="0"/>
                        <a:ea typeface="DM Sans" charset="0"/>
                        <a:cs typeface="DM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01828"/>
                          </a:solidFill>
                          <a:latin typeface="DM Sans" pitchFamily="34" charset="0"/>
                          <a:ea typeface="DM Sans" pitchFamily="34" charset="-122"/>
                          <a:cs typeface="DM Sans" pitchFamily="34" charset="-120"/>
                        </a:rPr>
                        <a:t>Wallet &amp; money, memberships, attendance</a:t>
                      </a:r>
                      <a:endParaRPr lang="en-US" sz="1300" dirty="0">
                        <a:latin typeface="DM Sans" charset="0"/>
                        <a:ea typeface="DM Sans" charset="0"/>
                        <a:cs typeface="DM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01828"/>
                          </a:solidFill>
                          <a:latin typeface="DM Sans" pitchFamily="34" charset="0"/>
                          <a:ea typeface="DM Sans" pitchFamily="34" charset="-122"/>
                          <a:cs typeface="DM Sans" pitchFamily="34" charset="-120"/>
                        </a:rPr>
                        <a:t>Committee, Senior</a:t>
                      </a:r>
                      <a:endParaRPr lang="en-US" sz="1300" dirty="0">
                        <a:latin typeface="DM Sans" charset="0"/>
                        <a:ea typeface="DM Sans" charset="0"/>
                        <a:cs typeface="DM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6870">
                <a:tc>
                  <a:txBody>
                    <a:bodyPr/>
                    <a:lstStyle/>
                    <a:p>
                      <a:pPr indent="0" marL="0">
                        <a:lnSpc>
                          <a:spcPts val="1820"/>
                        </a:lnSpc>
                        <a:buNone/>
                      </a:pPr>
                      <a:r>
                        <a:rPr lang="en-US" sz="1300" dirty="0">
                          <a:solidFill>
                            <a:srgbClr val="101828"/>
                          </a:solidFill>
                          <a:latin typeface="DM Sans" pitchFamily="34" charset="0"/>
                          <a:ea typeface="DM Sans" pitchFamily="34" charset="-122"/>
                          <a:cs typeface="DM Sans" pitchFamily="34" charset="-120"/>
                        </a:rPr>
                        <a:t>Club settings</a:t>
                      </a:r>
                      <a:endParaRPr lang="en-US" sz="1300" dirty="0">
                        <a:latin typeface="DM Sans" charset="0"/>
                        <a:ea typeface="DM Sans" charset="0"/>
                        <a:cs typeface="DM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indent="0" marL="0">
                        <a:lnSpc>
                          <a:spcPts val="1820"/>
                        </a:lnSpc>
                        <a:buNone/>
                      </a:pPr>
                      <a:r>
                        <a:rPr lang="en-US" sz="1300" dirty="0">
                          <a:solidFill>
                            <a:srgbClr val="101828"/>
                          </a:solidFill>
                          <a:latin typeface="DM Sans" pitchFamily="34" charset="0"/>
                          <a:ea typeface="DM Sans" pitchFamily="34" charset="-122"/>
                          <a:cs typeface="DM Sans" pitchFamily="34" charset="-120"/>
                        </a:rPr>
                        <a:t>Prices, booking rules, joining, the club’s look</a:t>
                      </a:r>
                      <a:endParaRPr lang="en-US" sz="1300" dirty="0">
                        <a:latin typeface="DM Sans" charset="0"/>
                        <a:ea typeface="DM Sans" charset="0"/>
                        <a:cs typeface="DM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indent="0" marL="0">
                        <a:lnSpc>
                          <a:spcPts val="1820"/>
                        </a:lnSpc>
                        <a:buNone/>
                      </a:pPr>
                      <a:r>
                        <a:rPr lang="en-US" sz="1300" dirty="0">
                          <a:solidFill>
                            <a:srgbClr val="101828"/>
                          </a:solidFill>
                          <a:latin typeface="DM Sans" pitchFamily="34" charset="0"/>
                          <a:ea typeface="DM Sans" pitchFamily="34" charset="-122"/>
                          <a:cs typeface="DM Sans" pitchFamily="34" charset="-120"/>
                        </a:rPr>
                        <a:t>Senior</a:t>
                      </a:r>
                      <a:endParaRPr lang="en-US" sz="1300" dirty="0">
                        <a:latin typeface="DM Sans" charset="0"/>
                        <a:ea typeface="DM Sans" charset="0"/>
                        <a:cs typeface="DM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r>
              <a:tr h="356870">
                <a:tc>
                  <a:txBody>
                    <a:bodyPr/>
                    <a:lstStyle/>
                    <a:p>
                      <a:pPr indent="0" marL="0">
                        <a:lnSpc>
                          <a:spcPts val="1820"/>
                        </a:lnSpc>
                        <a:buNone/>
                      </a:pPr>
                      <a:r>
                        <a:rPr lang="en-US" sz="1300" dirty="0">
                          <a:solidFill>
                            <a:srgbClr val="101828"/>
                          </a:solidFill>
                          <a:latin typeface="DM Sans" pitchFamily="34" charset="0"/>
                          <a:ea typeface="DM Sans" pitchFamily="34" charset="-122"/>
                          <a:cs typeface="DM Sans" pitchFamily="34" charset="-120"/>
                        </a:rPr>
                        <a:t>Memberships</a:t>
                      </a:r>
                      <a:endParaRPr lang="en-US" sz="1300" dirty="0">
                        <a:latin typeface="DM Sans" charset="0"/>
                        <a:ea typeface="DM Sans" charset="0"/>
                        <a:cs typeface="DM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01828"/>
                          </a:solidFill>
                          <a:latin typeface="DM Sans" pitchFamily="34" charset="0"/>
                          <a:ea typeface="DM Sans" pitchFamily="34" charset="-122"/>
                          <a:cs typeface="DM Sans" pitchFamily="34" charset="-120"/>
                        </a:rPr>
                        <a:t>Types and prices, cash payments, renewals</a:t>
                      </a:r>
                      <a:endParaRPr lang="en-US" sz="1300" dirty="0">
                        <a:latin typeface="DM Sans" charset="0"/>
                        <a:ea typeface="DM Sans" charset="0"/>
                        <a:cs typeface="DM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01828"/>
                          </a:solidFill>
                          <a:latin typeface="DM Sans" pitchFamily="34" charset="0"/>
                          <a:ea typeface="DM Sans" pitchFamily="34" charset="-122"/>
                          <a:cs typeface="DM Sans" pitchFamily="34" charset="-120"/>
                        </a:rPr>
                        <a:t>Senior</a:t>
                      </a:r>
                      <a:endParaRPr lang="en-US" sz="1300" dirty="0">
                        <a:latin typeface="DM Sans" charset="0"/>
                        <a:ea typeface="DM Sans" charset="0"/>
                        <a:cs typeface="DM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6870">
                <a:tc>
                  <a:txBody>
                    <a:bodyPr/>
                    <a:lstStyle/>
                    <a:p>
                      <a:pPr indent="0" marL="0">
                        <a:lnSpc>
                          <a:spcPts val="1820"/>
                        </a:lnSpc>
                        <a:buNone/>
                      </a:pPr>
                      <a:r>
                        <a:rPr lang="en-US" sz="1300" dirty="0">
                          <a:solidFill>
                            <a:srgbClr val="101828"/>
                          </a:solidFill>
                          <a:latin typeface="DM Sans" pitchFamily="34" charset="0"/>
                          <a:ea typeface="DM Sans" pitchFamily="34" charset="-122"/>
                          <a:cs typeface="DM Sans" pitchFamily="34" charset="-120"/>
                        </a:rPr>
                        <a:t>Member records</a:t>
                      </a:r>
                      <a:endParaRPr lang="en-US" sz="1300" dirty="0">
                        <a:latin typeface="DM Sans" charset="0"/>
                        <a:ea typeface="DM Sans" charset="0"/>
                        <a:cs typeface="DM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indent="0" marL="0">
                        <a:lnSpc>
                          <a:spcPts val="1820"/>
                        </a:lnSpc>
                        <a:buNone/>
                      </a:pPr>
                      <a:r>
                        <a:rPr lang="en-US" sz="1300" dirty="0">
                          <a:solidFill>
                            <a:srgbClr val="101828"/>
                          </a:solidFill>
                          <a:latin typeface="DM Sans" pitchFamily="34" charset="0"/>
                          <a:ea typeface="DM Sans" pitchFamily="34" charset="-122"/>
                          <a:cs typeface="DM Sans" pitchFamily="34" charset="-120"/>
                        </a:rPr>
                        <a:t>Members’ details and agreements, importing</a:t>
                      </a:r>
                      <a:endParaRPr lang="en-US" sz="1300" dirty="0">
                        <a:latin typeface="DM Sans" charset="0"/>
                        <a:ea typeface="DM Sans" charset="0"/>
                        <a:cs typeface="DM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indent="0" marL="0">
                        <a:lnSpc>
                          <a:spcPts val="1820"/>
                        </a:lnSpc>
                        <a:buNone/>
                      </a:pPr>
                      <a:r>
                        <a:rPr lang="en-US" sz="1300" dirty="0">
                          <a:solidFill>
                            <a:srgbClr val="101828"/>
                          </a:solidFill>
                          <a:latin typeface="DM Sans" pitchFamily="34" charset="0"/>
                          <a:ea typeface="DM Sans" pitchFamily="34" charset="-122"/>
                          <a:cs typeface="DM Sans" pitchFamily="34" charset="-120"/>
                        </a:rPr>
                        <a:t>Senior</a:t>
                      </a:r>
                      <a:endParaRPr lang="en-US" sz="1300" dirty="0">
                        <a:latin typeface="DM Sans" charset="0"/>
                        <a:ea typeface="DM Sans" charset="0"/>
                        <a:cs typeface="DM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r>
            </a:tbl>
          </a:graphicData>
        </a:graphic>
      </p:graphicFrame>
      <p:sp>
        <p:nvSpPr>
          <p:cNvPr id="6" name="Text 3"/>
          <p:cNvSpPr/>
          <p:nvPr/>
        </p:nvSpPr>
        <p:spPr>
          <a:xfrm>
            <a:off x="812800" y="6238239"/>
            <a:ext cx="90258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Something missing from your menu? Your level doesn’t include it</a:t>
            </a:r>
            <a:endParaRPr lang="en-US" sz="1200" dirty="0"/>
          </a:p>
        </p:txBody>
      </p:sp>
      <p:pic>
        <p:nvPicPr>
          <p:cNvPr id="7" name="Image 0" descr="twoclear">    </p:cNvPr>
          <p:cNvPicPr>
            <a:picLocks noChangeAspect="1"/>
          </p:cNvPicPr>
          <p:nvPr/>
        </p:nvPicPr>
        <p:blipFill>
          <a:blip r:embed="rId1"/>
          <a:srcRect l="0" r="0" t="-149" b="-149"/>
          <a:stretch/>
        </p:blipFill>
        <p:spPr>
          <a:xfrm>
            <a:off x="10109200" y="6229350"/>
            <a:ext cx="1270000" cy="2857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97316"/>
          </a:solidFill>
          <a:ln/>
        </p:spPr>
      </p:sp>
      <p:sp>
        <p:nvSpPr>
          <p:cNvPr id="3" name="Text 1"/>
          <p:cNvSpPr/>
          <p:nvPr/>
        </p:nvSpPr>
        <p:spPr>
          <a:xfrm>
            <a:off x="812800" y="1954532"/>
            <a:ext cx="10883392"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97316"/>
                </a:solidFill>
                <a:latin typeface="Poppins" pitchFamily="34" charset="0"/>
                <a:ea typeface="Poppins" pitchFamily="34" charset="-122"/>
                <a:cs typeface="Poppins" pitchFamily="34" charset="-120"/>
              </a:rPr>
              <a:t>2</a:t>
            </a:r>
            <a:endParaRPr lang="en-US" sz="6000" dirty="0"/>
          </a:p>
        </p:txBody>
      </p:sp>
      <p:sp>
        <p:nvSpPr>
          <p:cNvPr id="4" name="Text 2"/>
          <p:cNvSpPr/>
          <p:nvPr>
            <p:ph type="title"/>
          </p:nvPr>
        </p:nvSpPr>
        <p:spPr>
          <a:xfrm>
            <a:off x="812800" y="2919732"/>
            <a:ext cx="10883392" cy="66548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6F4EF"/>
                </a:solidFill>
                <a:latin typeface="Poppins" pitchFamily="34" charset="0"/>
                <a:ea typeface="Poppins" pitchFamily="34" charset="-122"/>
                <a:cs typeface="Poppins" pitchFamily="34" charset="-120"/>
              </a:rPr>
              <a:t>Running the night</a:t>
            </a:r>
            <a:endParaRPr lang="en-US" sz="4800" dirty="0"/>
          </a:p>
        </p:txBody>
      </p:sp>
      <p:sp>
        <p:nvSpPr>
          <p:cNvPr id="5" name="Text 3"/>
          <p:cNvSpPr/>
          <p:nvPr/>
        </p:nvSpPr>
        <p:spPr>
          <a:xfrm>
            <a:off x="812800" y="3763011"/>
            <a:ext cx="8502650" cy="6299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9D2E0"/>
                </a:solidFill>
                <a:latin typeface="DM Sans" pitchFamily="34" charset="0"/>
                <a:ea typeface="DM Sans" pitchFamily="34" charset="-122"/>
                <a:cs typeface="DM Sans" pitchFamily="34" charset="-120"/>
              </a:rPr>
              <a:t>Opening a session, the waiting list, adding someone, emergency info and cancelling.</a:t>
            </a:r>
            <a:endParaRPr lang="en-US" sz="1700" dirty="0"/>
          </a:p>
        </p:txBody>
      </p:sp>
      <p:sp>
        <p:nvSpPr>
          <p:cNvPr id="6" name="Text 4"/>
          <p:cNvSpPr/>
          <p:nvPr/>
        </p:nvSpPr>
        <p:spPr>
          <a:xfrm>
            <a:off x="812800" y="4570732"/>
            <a:ext cx="3340021" cy="332740"/>
          </a:xfrm>
          <a:prstGeom prst="roundRect">
            <a:avLst>
              <a:gd name="adj" fmla="val 50000"/>
            </a:avLst>
          </a:prstGeom>
          <a:solidFill>
            <a:srgbClr val="F97316"/>
          </a:solidFill>
          <a:ln/>
        </p:spPr>
        <p:txBody>
          <a:bodyPr wrap="none" lIns="0" tIns="0" rIns="0" bIns="0" rtlCol="0" anchor="ctr">
            <a:normAutofit/>
          </a:bodyPr>
          <a:lstStyle/>
          <a:p>
            <a:pPr algn="ctr" indent="0" marL="0">
              <a:lnSpc>
                <a:spcPts val="1820"/>
              </a:lnSpc>
              <a:buNone/>
            </a:pPr>
            <a:r>
              <a:rPr lang="en-US" sz="1300" b="1" dirty="0">
                <a:solidFill>
                  <a:srgbClr val="101828"/>
                </a:solidFill>
                <a:latin typeface="DM Sans" pitchFamily="34" charset="0"/>
                <a:ea typeface="DM Sans" pitchFamily="34" charset="-122"/>
                <a:cs typeface="DM Sans" pitchFamily="34" charset="-120"/>
              </a:rPr>
              <a:t>For: Ambassador · Committee · Senior</a:t>
            </a:r>
            <a:endParaRPr lang="en-US" sz="1300" dirty="0"/>
          </a:p>
        </p:txBody>
      </p:sp>
      <p:pic>
        <p:nvPicPr>
          <p:cNvPr id="7" name="Image 0" descr="twoclear">    </p:cNvPr>
          <p:cNvPicPr>
            <a:picLocks noChangeAspect="1"/>
          </p:cNvPicPr>
          <p:nvPr/>
        </p:nvPicPr>
        <p:blipFill>
          <a:blip r:embed="rId1"/>
          <a:srcRect l="-224" r="-224" t="0" b="0"/>
          <a:stretch/>
        </p:blipFill>
        <p:spPr>
          <a:xfrm>
            <a:off x="9474200" y="5822950"/>
            <a:ext cx="1905000" cy="4254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635000"/>
            <a:ext cx="2225675"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DM Sans" pitchFamily="34" charset="0"/>
                <a:ea typeface="DM Sans" pitchFamily="34" charset="-122"/>
                <a:cs typeface="DM Sans" pitchFamily="34" charset="-120"/>
              </a:rPr>
              <a:t>2 · RUNNING THE NIGHT</a:t>
            </a:r>
            <a:endParaRPr lang="en-US" sz="1200" dirty="0"/>
          </a:p>
        </p:txBody>
      </p:sp>
      <p:sp>
        <p:nvSpPr>
          <p:cNvPr id="3" name="Text 1"/>
          <p:cNvSpPr/>
          <p:nvPr/>
        </p:nvSpPr>
        <p:spPr>
          <a:xfrm>
            <a:off x="3038475" y="609600"/>
            <a:ext cx="2693035" cy="264160"/>
          </a:xfrm>
          <a:custGeom>
            <a:avLst/>
            <a:gdLst/>
            <a:ahLst/>
            <a:cxnLst/>
            <a:rect l="l" t="t" r="r" b="b"/>
            <a:pathLst>
              <a:path w="2693035" h="264160">
                <a:moveTo>
                  <a:pt x="132080" y="0"/>
                </a:moveTo>
                <a:lnTo>
                  <a:pt x="2560955" y="0"/>
                </a:lnTo>
                <a:arcTo hR="132080" wR="132080" stAng="16200000" swAng="5400000"/>
                <a:lnTo>
                  <a:pt x="2693035" y="132080"/>
                </a:lnTo>
                <a:arcTo hR="132080" wR="132080" stAng="0" swAng="5400000"/>
                <a:lnTo>
                  <a:pt x="132080" y="264160"/>
                </a:lnTo>
                <a:arcTo hR="132080" wR="132080" stAng="5400000" swAng="5400000"/>
                <a:lnTo>
                  <a:pt x="0" y="132080"/>
                </a:lnTo>
                <a:arcTo hR="132080" wR="132080" stAng="10800000" swAng="5400000"/>
                <a:close/>
              </a:path>
            </a:pathLst>
          </a:custGeom>
          <a:solidFill>
            <a:srgbClr val="E8E3D8"/>
          </a:solidFill>
          <a:ln/>
        </p:spPr>
        <p:txBody>
          <a:bodyPr wrap="none" lIns="0" tIns="0" rIns="0" bIns="0" rtlCol="0" anchor="ctr">
            <a:normAutofit/>
          </a:bodyPr>
          <a:lstStyle/>
          <a:p>
            <a:pPr algn="ctr" indent="0" marL="0">
              <a:lnSpc>
                <a:spcPts val="1680"/>
              </a:lnSpc>
              <a:buNone/>
            </a:pPr>
            <a:r>
              <a:rPr lang="en-US" sz="1200" b="1" dirty="0">
                <a:solidFill>
                  <a:srgbClr val="101828"/>
                </a:solidFill>
                <a:latin typeface="DM Sans" pitchFamily="34" charset="0"/>
                <a:ea typeface="DM Sans" pitchFamily="34" charset="-122"/>
                <a:cs typeface="DM Sans" pitchFamily="34" charset="-120"/>
              </a:rPr>
              <a:t>Ambassador · Committee · Senior</a:t>
            </a:r>
            <a:endParaRPr lang="en-US" sz="1200" dirty="0"/>
          </a:p>
        </p:txBody>
      </p:sp>
      <p:sp>
        <p:nvSpPr>
          <p:cNvPr id="4" name="Text 2"/>
          <p:cNvSpPr/>
          <p:nvPr>
            <p:ph type="title"/>
          </p:nvPr>
        </p:nvSpPr>
        <p:spPr>
          <a:xfrm>
            <a:off x="812800" y="949961"/>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01828"/>
                </a:solidFill>
                <a:latin typeface="Poppins" pitchFamily="34" charset="0"/>
                <a:ea typeface="Poppins" pitchFamily="34" charset="-122"/>
                <a:cs typeface="Poppins" pitchFamily="34" charset="-120"/>
              </a:rPr>
              <a:t>Opening the session</a:t>
            </a:r>
            <a:endParaRPr lang="en-US" sz="2800" dirty="0"/>
          </a:p>
        </p:txBody>
      </p:sp>
      <p:sp>
        <p:nvSpPr>
          <p:cNvPr id="5" name="Text 3"/>
          <p:cNvSpPr/>
          <p:nvPr/>
        </p:nvSpPr>
        <p:spPr>
          <a:xfrm>
            <a:off x="876300" y="1612900"/>
            <a:ext cx="3957828" cy="1767840"/>
          </a:xfrm>
          <a:prstGeom prst="rect">
            <a:avLst/>
          </a:prstGeom>
          <a:noFill/>
          <a:ln/>
        </p:spPr>
        <p:txBody>
          <a:bodyPr wrap="square" lIns="0" tIns="0" rIns="0" bIns="0" rtlCol="0" anchor="t">
            <a:normAutofit/>
          </a:bodyPr>
          <a:lstStyle/>
          <a:p>
            <a:pPr algn="l" marL="190500" indent="-190500">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Social sessions</a:t>
            </a:r>
            <a:r>
              <a:rPr lang="en-US" sz="1400" dirty="0">
                <a:solidFill>
                  <a:srgbClr val="3D4A5C"/>
                </a:solidFill>
                <a:latin typeface="DM Sans" pitchFamily="34" charset="0"/>
                <a:ea typeface="DM Sans" pitchFamily="34" charset="-122"/>
                <a:cs typeface="DM Sans" pitchFamily="34" charset="-120"/>
              </a:rPr>
              <a:t> → </a:t>
            </a:r>
            <a:r>
              <a:rPr lang="en-US" sz="1400" b="1" dirty="0">
                <a:solidFill>
                  <a:srgbClr val="3D4A5C"/>
                </a:solidFill>
                <a:latin typeface="DM Sans" pitchFamily="34" charset="0"/>
                <a:ea typeface="DM Sans" pitchFamily="34" charset="-122"/>
                <a:cs typeface="DM Sans" pitchFamily="34" charset="-120"/>
              </a:rPr>
              <a:t>Open</a:t>
            </a:r>
            <a:r>
              <a:rPr lang="en-US" sz="1400" dirty="0">
                <a:solidFill>
                  <a:srgbClr val="3D4A5C"/>
                </a:solidFill>
                <a:latin typeface="DM Sans" pitchFamily="34" charset="0"/>
                <a:ea typeface="DM Sans" pitchFamily="34" charset="-122"/>
                <a:cs typeface="DM Sans" pitchFamily="34" charset="-120"/>
              </a:rPr>
              <a:t> on the session.</a:t>
            </a:r>
            <a:endParaRPr lang="en-US" sz="1400" dirty="0"/>
          </a:p>
          <a:p>
            <a:pPr algn="l" marL="190500" indent="-190500">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Show members this session</a:t>
            </a:r>
            <a:r>
              <a:rPr lang="en-US" sz="1400" dirty="0">
                <a:solidFill>
                  <a:srgbClr val="3D4A5C"/>
                </a:solidFill>
                <a:latin typeface="DM Sans" pitchFamily="34" charset="0"/>
                <a:ea typeface="DM Sans" pitchFamily="34" charset="-122"/>
                <a:cs typeface="DM Sans" pitchFamily="34" charset="-120"/>
              </a:rPr>
              <a:t> puts it on the Social page.</a:t>
            </a:r>
            <a:endParaRPr lang="en-US" sz="1400" dirty="0"/>
          </a:p>
          <a:p>
            <a:pPr algn="l" marL="190500" indent="-190500">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Open for booking</a:t>
            </a:r>
            <a:r>
              <a:rPr lang="en-US" sz="1400" dirty="0">
                <a:solidFill>
                  <a:srgbClr val="3D4A5C"/>
                </a:solidFill>
                <a:latin typeface="DM Sans" pitchFamily="34" charset="0"/>
                <a:ea typeface="DM Sans" pitchFamily="34" charset="-122"/>
                <a:cs typeface="DM Sans" pitchFamily="34" charset="-120"/>
              </a:rPr>
              <a:t> lets members book in the app.</a:t>
            </a:r>
            <a:endParaRPr lang="en-US" sz="1400" dirty="0"/>
          </a:p>
          <a:p>
            <a:pPr algn="l" marL="190500" indent="-190500">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Booked so far</a:t>
            </a:r>
            <a:r>
              <a:rPr lang="en-US" sz="1400" dirty="0">
                <a:solidFill>
                  <a:srgbClr val="3D4A5C"/>
                </a:solidFill>
                <a:latin typeface="DM Sans" pitchFamily="34" charset="0"/>
                <a:ea typeface="DM Sans" pitchFamily="34" charset="-122"/>
                <a:cs typeface="DM Sans" pitchFamily="34" charset="-120"/>
              </a:rPr>
              <a:t> shows who’s coming and how many places are taken.</a:t>
            </a:r>
            <a:endParaRPr lang="en-US" sz="1400" dirty="0"/>
          </a:p>
        </p:txBody>
      </p:sp>
      <p:sp>
        <p:nvSpPr>
          <p:cNvPr id="6" name="Text 4"/>
          <p:cNvSpPr/>
          <p:nvPr/>
        </p:nvSpPr>
        <p:spPr>
          <a:xfrm>
            <a:off x="819150" y="3514089"/>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algn="l" indent="0" marL="0">
              <a:lnSpc>
                <a:spcPts val="1680"/>
              </a:lnSpc>
              <a:buNone/>
            </a:pPr>
            <a:r>
              <a:rPr lang="en-US" sz="1200" b="1" dirty="0">
                <a:solidFill>
                  <a:srgbClr val="3D4A5C"/>
                </a:solidFill>
                <a:latin typeface="DM Sans" pitchFamily="34" charset="0"/>
                <a:ea typeface="DM Sans" pitchFamily="34" charset="-122"/>
                <a:cs typeface="DM Sans" pitchFamily="34" charset="-120"/>
              </a:rPr>
              <a:t>Showing</a:t>
            </a:r>
            <a:r>
              <a:rPr lang="en-US" sz="1200" dirty="0">
                <a:solidFill>
                  <a:srgbClr val="3D4A5C"/>
                </a:solidFill>
                <a:latin typeface="DM Sans" pitchFamily="34" charset="0"/>
                <a:ea typeface="DM Sans" pitchFamily="34" charset="-122"/>
                <a:cs typeface="DM Sans" pitchFamily="34" charset="-120"/>
              </a:rPr>
              <a:t> and </a:t>
            </a:r>
            <a:r>
              <a:rPr lang="en-US" sz="1200" b="1" dirty="0">
                <a:solidFill>
                  <a:srgbClr val="3D4A5C"/>
                </a:solidFill>
                <a:latin typeface="DM Sans" pitchFamily="34" charset="0"/>
                <a:ea typeface="DM Sans" pitchFamily="34" charset="-122"/>
                <a:cs typeface="DM Sans" pitchFamily="34" charset="-120"/>
              </a:rPr>
              <a:t>booking</a:t>
            </a:r>
            <a:r>
              <a:rPr lang="en-US" sz="1200" dirty="0">
                <a:solidFill>
                  <a:srgbClr val="3D4A5C"/>
                </a:solidFill>
                <a:latin typeface="DM Sans" pitchFamily="34" charset="0"/>
                <a:ea typeface="DM Sans" pitchFamily="34" charset="-122"/>
                <a:cs typeface="DM Sans" pitchFamily="34" charset="-120"/>
              </a:rPr>
              <a:t> are separate: you can open booking before the line-up is public.</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A session with Show members, Open for booking and Booked so far, the booked list ringed">    </p:cNvPr>
          <p:cNvPicPr>
            <a:picLocks noChangeAspect="1"/>
          </p:cNvPicPr>
          <p:nvPr/>
        </p:nvPicPr>
        <p:blipFill>
          <a:blip r:embed="rId1"/>
          <a:srcRect l="-121" r="-121" t="0" b="0"/>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39"/>
            <a:ext cx="90258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r>
          <p:cNvPicPr>
            <a:picLocks noChangeAspect="1"/>
          </p:cNvPicPr>
          <p:nvPr/>
        </p:nvPicPr>
        <p:blipFill>
          <a:blip r:embed="rId2"/>
          <a:srcRect l="0" r="0" t="-149" b="-149"/>
          <a:stretch/>
        </p:blipFill>
        <p:spPr>
          <a:xfrm>
            <a:off x="10109200" y="6229350"/>
            <a:ext cx="1270000" cy="2857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635000"/>
            <a:ext cx="2225675"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DM Sans" pitchFamily="34" charset="0"/>
                <a:ea typeface="DM Sans" pitchFamily="34" charset="-122"/>
                <a:cs typeface="DM Sans" pitchFamily="34" charset="-120"/>
              </a:rPr>
              <a:t>2 · RUNNING THE NIGHT</a:t>
            </a:r>
            <a:endParaRPr lang="en-US" sz="1200" dirty="0"/>
          </a:p>
        </p:txBody>
      </p:sp>
      <p:sp>
        <p:nvSpPr>
          <p:cNvPr id="3" name="Text 1"/>
          <p:cNvSpPr/>
          <p:nvPr/>
        </p:nvSpPr>
        <p:spPr>
          <a:xfrm>
            <a:off x="3038475" y="609600"/>
            <a:ext cx="2693035" cy="264160"/>
          </a:xfrm>
          <a:custGeom>
            <a:avLst/>
            <a:gdLst/>
            <a:ahLst/>
            <a:cxnLst/>
            <a:rect l="l" t="t" r="r" b="b"/>
            <a:pathLst>
              <a:path w="2693035" h="264160">
                <a:moveTo>
                  <a:pt x="132080" y="0"/>
                </a:moveTo>
                <a:lnTo>
                  <a:pt x="2560955" y="0"/>
                </a:lnTo>
                <a:arcTo hR="132080" wR="132080" stAng="16200000" swAng="5400000"/>
                <a:lnTo>
                  <a:pt x="2693035" y="132080"/>
                </a:lnTo>
                <a:arcTo hR="132080" wR="132080" stAng="0" swAng="5400000"/>
                <a:lnTo>
                  <a:pt x="132080" y="264160"/>
                </a:lnTo>
                <a:arcTo hR="132080" wR="132080" stAng="5400000" swAng="5400000"/>
                <a:lnTo>
                  <a:pt x="0" y="132080"/>
                </a:lnTo>
                <a:arcTo hR="132080" wR="132080" stAng="10800000" swAng="5400000"/>
                <a:close/>
              </a:path>
            </a:pathLst>
          </a:custGeom>
          <a:solidFill>
            <a:srgbClr val="E8E3D8"/>
          </a:solidFill>
          <a:ln/>
        </p:spPr>
        <p:txBody>
          <a:bodyPr wrap="none" lIns="0" tIns="0" rIns="0" bIns="0" rtlCol="0" anchor="ctr">
            <a:normAutofit/>
          </a:bodyPr>
          <a:lstStyle/>
          <a:p>
            <a:pPr algn="ctr" indent="0" marL="0">
              <a:lnSpc>
                <a:spcPts val="1680"/>
              </a:lnSpc>
              <a:buNone/>
            </a:pPr>
            <a:r>
              <a:rPr lang="en-US" sz="1200" b="1" dirty="0">
                <a:solidFill>
                  <a:srgbClr val="101828"/>
                </a:solidFill>
                <a:latin typeface="DM Sans" pitchFamily="34" charset="0"/>
                <a:ea typeface="DM Sans" pitchFamily="34" charset="-122"/>
                <a:cs typeface="DM Sans" pitchFamily="34" charset="-120"/>
              </a:rPr>
              <a:t>Ambassador · Committee · Senior</a:t>
            </a:r>
            <a:endParaRPr lang="en-US" sz="1200" dirty="0"/>
          </a:p>
        </p:txBody>
      </p:sp>
      <p:sp>
        <p:nvSpPr>
          <p:cNvPr id="4" name="Text 2"/>
          <p:cNvSpPr/>
          <p:nvPr>
            <p:ph type="title"/>
          </p:nvPr>
        </p:nvSpPr>
        <p:spPr>
          <a:xfrm>
            <a:off x="812800" y="949961"/>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01828"/>
                </a:solidFill>
                <a:latin typeface="Poppins" pitchFamily="34" charset="0"/>
                <a:ea typeface="Poppins" pitchFamily="34" charset="-122"/>
                <a:cs typeface="Poppins" pitchFamily="34" charset="-120"/>
              </a:rPr>
              <a:t>The waiting list</a:t>
            </a:r>
            <a:endParaRPr lang="en-US" sz="2800" dirty="0"/>
          </a:p>
        </p:txBody>
      </p:sp>
      <p:sp>
        <p:nvSpPr>
          <p:cNvPr id="5" name="Text 3"/>
          <p:cNvSpPr/>
          <p:nvPr/>
        </p:nvSpPr>
        <p:spPr>
          <a:xfrm>
            <a:off x="879157" y="1612900"/>
            <a:ext cx="3954971" cy="1518920"/>
          </a:xfrm>
          <a:prstGeom prst="rect">
            <a:avLst/>
          </a:prstGeom>
          <a:noFill/>
          <a:ln/>
        </p:spPr>
        <p:txBody>
          <a:bodyPr wrap="square" lIns="0" tIns="0" rIns="0" bIns="0" rtlCol="0" anchor="t">
            <a:normAutofit/>
          </a:bodyPr>
          <a:lstStyle/>
          <a:p>
            <a:pPr algn="l" marL="187643" indent="-187643">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When a session is full, </a:t>
            </a:r>
            <a:r>
              <a:rPr lang="en-US" sz="1400" b="1" dirty="0">
                <a:solidFill>
                  <a:srgbClr val="3D4A5C"/>
                </a:solidFill>
                <a:latin typeface="DM Sans" pitchFamily="34" charset="0"/>
                <a:ea typeface="DM Sans" pitchFamily="34" charset="-122"/>
                <a:cs typeface="DM Sans" pitchFamily="34" charset="-120"/>
              </a:rPr>
              <a:t>Waitlist</a:t>
            </a:r>
            <a:r>
              <a:rPr lang="en-US" sz="1400" dirty="0">
                <a:solidFill>
                  <a:srgbClr val="3D4A5C"/>
                </a:solidFill>
                <a:latin typeface="DM Sans" pitchFamily="34" charset="0"/>
                <a:ea typeface="DM Sans" pitchFamily="34" charset="-122"/>
                <a:cs typeface="DM Sans" pitchFamily="34" charset="-120"/>
              </a:rPr>
              <a:t> shows who’s waiting, first in line first.</a:t>
            </a:r>
            <a:endParaRPr lang="en-US" sz="1400" dirty="0"/>
          </a:p>
          <a:p>
            <a:pPr algn="l" marL="187643" indent="-187643">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A freed place goes to the first person with enough in their wallet, automatically.</a:t>
            </a:r>
            <a:endParaRPr lang="en-US" sz="1400" dirty="0"/>
          </a:p>
          <a:p>
            <a:pPr algn="l" marL="187643" indent="-187643">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They’re booked, it’s paid from their wallet, and they get an email.</a:t>
            </a:r>
            <a:endParaRPr lang="en-US" sz="1400" dirty="0"/>
          </a:p>
        </p:txBody>
      </p:sp>
      <p:sp>
        <p:nvSpPr>
          <p:cNvPr id="6" name="Text 4"/>
          <p:cNvSpPr/>
          <p:nvPr/>
        </p:nvSpPr>
        <p:spPr>
          <a:xfrm>
            <a:off x="819150" y="3265171"/>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algn="l" indent="0" marL="0">
              <a:lnSpc>
                <a:spcPts val="1680"/>
              </a:lnSpc>
              <a:buNone/>
            </a:pPr>
            <a:r>
              <a:rPr lang="en-US" sz="1200" b="1" dirty="0">
                <a:solidFill>
                  <a:srgbClr val="3D4A5C"/>
                </a:solidFill>
                <a:latin typeface="DM Sans" pitchFamily="34" charset="0"/>
                <a:ea typeface="DM Sans" pitchFamily="34" charset="-122"/>
                <a:cs typeface="DM Sans" pitchFamily="34" charset="-120"/>
              </a:rPr>
              <a:t>Nothing to do by hand.</a:t>
            </a:r>
            <a:r>
              <a:rPr lang="en-US" sz="1200" dirty="0">
                <a:solidFill>
                  <a:srgbClr val="3D4A5C"/>
                </a:solidFill>
                <a:latin typeface="DM Sans" pitchFamily="34" charset="0"/>
                <a:ea typeface="DM Sans" pitchFamily="34" charset="-122"/>
                <a:cs typeface="DM Sans" pitchFamily="34" charset="-120"/>
              </a:rPr>
              <a:t> Once the session is locked before the start, the list stops moving.</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A full session's waiting list, ringed">    </p:cNvPr>
          <p:cNvPicPr>
            <a:picLocks noChangeAspect="1"/>
          </p:cNvPicPr>
          <p:nvPr/>
        </p:nvPicPr>
        <p:blipFill>
          <a:blip r:embed="rId1"/>
          <a:srcRect l="-121" r="-121" t="0" b="0"/>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r>
          <p:cNvPicPr>
            <a:picLocks noChangeAspect="1"/>
          </p:cNvPicPr>
          <p:nvPr/>
        </p:nvPicPr>
        <p:blipFill>
          <a:blip r:embed="rId2"/>
          <a:srcRect l="0" r="0" t="-149" b="-149"/>
          <a:stretch/>
        </p:blipFill>
        <p:spPr>
          <a:xfrm>
            <a:off x="10109200" y="6229350"/>
            <a:ext cx="1270000" cy="2857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635000"/>
            <a:ext cx="2225675"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DM Sans" pitchFamily="34" charset="0"/>
                <a:ea typeface="DM Sans" pitchFamily="34" charset="-122"/>
                <a:cs typeface="DM Sans" pitchFamily="34" charset="-120"/>
              </a:rPr>
              <a:t>2 · RUNNING THE NIGHT</a:t>
            </a:r>
            <a:endParaRPr lang="en-US" sz="1200" dirty="0"/>
          </a:p>
        </p:txBody>
      </p:sp>
      <p:sp>
        <p:nvSpPr>
          <p:cNvPr id="3" name="Text 1"/>
          <p:cNvSpPr/>
          <p:nvPr/>
        </p:nvSpPr>
        <p:spPr>
          <a:xfrm>
            <a:off x="3038475" y="609600"/>
            <a:ext cx="678101" cy="264160"/>
          </a:xfrm>
          <a:custGeom>
            <a:avLst/>
            <a:gdLst/>
            <a:ahLst/>
            <a:cxnLst/>
            <a:rect l="l" t="t" r="r" b="b"/>
            <a:pathLst>
              <a:path w="678101" h="264160">
                <a:moveTo>
                  <a:pt x="132080" y="0"/>
                </a:moveTo>
                <a:lnTo>
                  <a:pt x="546021" y="0"/>
                </a:lnTo>
                <a:arcTo hR="132080" wR="132080" stAng="16200000" swAng="5400000"/>
                <a:lnTo>
                  <a:pt x="678101" y="132080"/>
                </a:lnTo>
                <a:arcTo hR="132080" wR="132080" stAng="0" swAng="5400000"/>
                <a:lnTo>
                  <a:pt x="132080" y="264160"/>
                </a:lnTo>
                <a:arcTo hR="132080" wR="132080" stAng="5400000" swAng="5400000"/>
                <a:lnTo>
                  <a:pt x="0" y="132080"/>
                </a:lnTo>
                <a:arcTo hR="132080" wR="132080" stAng="10800000" swAng="5400000"/>
                <a:close/>
              </a:path>
            </a:pathLst>
          </a:custGeom>
          <a:solidFill>
            <a:srgbClr val="E8E3D8"/>
          </a:solidFill>
          <a:ln/>
        </p:spPr>
        <p:txBody>
          <a:bodyPr wrap="none" lIns="0" tIns="0" rIns="0" bIns="0" rtlCol="0" anchor="ctr">
            <a:normAutofit/>
          </a:bodyPr>
          <a:lstStyle/>
          <a:p>
            <a:pPr algn="ctr" indent="0" marL="0">
              <a:lnSpc>
                <a:spcPts val="1680"/>
              </a:lnSpc>
              <a:buNone/>
            </a:pPr>
            <a:r>
              <a:rPr lang="en-US" sz="1200" b="1" dirty="0">
                <a:solidFill>
                  <a:srgbClr val="101828"/>
                </a:solidFill>
                <a:latin typeface="DM Sans" pitchFamily="34" charset="0"/>
                <a:ea typeface="DM Sans" pitchFamily="34" charset="-122"/>
                <a:cs typeface="DM Sans" pitchFamily="34" charset="-120"/>
              </a:rPr>
              <a:t>Senior</a:t>
            </a:r>
            <a:endParaRPr lang="en-US" sz="1200" dirty="0"/>
          </a:p>
        </p:txBody>
      </p:sp>
      <p:sp>
        <p:nvSpPr>
          <p:cNvPr id="4" name="Text 2"/>
          <p:cNvSpPr/>
          <p:nvPr>
            <p:ph type="title"/>
          </p:nvPr>
        </p:nvSpPr>
        <p:spPr>
          <a:xfrm>
            <a:off x="812800" y="949964"/>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01828"/>
                </a:solidFill>
                <a:latin typeface="Poppins" pitchFamily="34" charset="0"/>
                <a:ea typeface="Poppins" pitchFamily="34" charset="-122"/>
                <a:cs typeface="Poppins" pitchFamily="34" charset="-120"/>
              </a:rPr>
              <a:t>Adding someone yourself</a:t>
            </a:r>
            <a:endParaRPr lang="en-US" sz="2800" dirty="0"/>
          </a:p>
        </p:txBody>
      </p:sp>
      <p:sp>
        <p:nvSpPr>
          <p:cNvPr id="5" name="Text 3"/>
          <p:cNvSpPr/>
          <p:nvPr/>
        </p:nvSpPr>
        <p:spPr>
          <a:xfrm>
            <a:off x="879157" y="1612900"/>
            <a:ext cx="3954971" cy="1270000"/>
          </a:xfrm>
          <a:prstGeom prst="rect">
            <a:avLst/>
          </a:prstGeom>
          <a:noFill/>
          <a:ln/>
        </p:spPr>
        <p:txBody>
          <a:bodyPr wrap="square" lIns="0" tIns="0" rIns="0" bIns="0" rtlCol="0" anchor="t">
            <a:normAutofit/>
          </a:bodyPr>
          <a:lstStyle/>
          <a:p>
            <a:pPr algn="l" marL="187643" indent="-187643">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Under </a:t>
            </a:r>
            <a:r>
              <a:rPr lang="en-US" sz="1400" b="1" dirty="0">
                <a:solidFill>
                  <a:srgbClr val="3D4A5C"/>
                </a:solidFill>
                <a:latin typeface="DM Sans" pitchFamily="34" charset="0"/>
                <a:ea typeface="DM Sans" pitchFamily="34" charset="-122"/>
                <a:cs typeface="DM Sans" pitchFamily="34" charset="-120"/>
              </a:rPr>
              <a:t>Book a member in</a:t>
            </a:r>
            <a:r>
              <a:rPr lang="en-US" sz="1400" dirty="0">
                <a:solidFill>
                  <a:srgbClr val="3D4A5C"/>
                </a:solidFill>
                <a:latin typeface="DM Sans" pitchFamily="34" charset="0"/>
                <a:ea typeface="DM Sans" pitchFamily="34" charset="-122"/>
                <a:cs typeface="DM Sans" pitchFamily="34" charset="-120"/>
              </a:rPr>
              <a:t>, type their name or email.</a:t>
            </a:r>
            <a:endParaRPr lang="en-US" sz="1400" dirty="0"/>
          </a:p>
          <a:p>
            <a:pPr algn="l" marL="187643" indent="-187643">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Click </a:t>
            </a:r>
            <a:r>
              <a:rPr lang="en-US" sz="1400" b="1" dirty="0">
                <a:solidFill>
                  <a:srgbClr val="3D4A5C"/>
                </a:solidFill>
                <a:latin typeface="DM Sans" pitchFamily="34" charset="0"/>
                <a:ea typeface="DM Sans" pitchFamily="34" charset="-122"/>
                <a:cs typeface="DM Sans" pitchFamily="34" charset="-120"/>
              </a:rPr>
              <a:t>Book in</a:t>
            </a:r>
            <a:r>
              <a:rPr lang="en-US" sz="1400" dirty="0">
                <a:solidFill>
                  <a:srgbClr val="3D4A5C"/>
                </a:solidFill>
                <a:latin typeface="DM Sans" pitchFamily="34" charset="0"/>
                <a:ea typeface="DM Sans" pitchFamily="34" charset="-122"/>
                <a:cs typeface="DM Sans" pitchFamily="34" charset="-120"/>
              </a:rPr>
              <a:t> next to them, then confirm.</a:t>
            </a:r>
            <a:endParaRPr lang="en-US" sz="1400" dirty="0"/>
          </a:p>
          <a:p>
            <a:pPr algn="l" marL="187643" indent="-187643">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The cost comes out of their wallet, even after the lock.</a:t>
            </a:r>
            <a:endParaRPr lang="en-US" sz="1400" dirty="0"/>
          </a:p>
        </p:txBody>
      </p:sp>
      <p:sp>
        <p:nvSpPr>
          <p:cNvPr id="6" name="Text 4"/>
          <p:cNvSpPr/>
          <p:nvPr/>
        </p:nvSpPr>
        <p:spPr>
          <a:xfrm>
            <a:off x="819150" y="3016250"/>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algn="l" indent="0" marL="0">
              <a:lnSpc>
                <a:spcPts val="1680"/>
              </a:lnSpc>
              <a:buNone/>
            </a:pPr>
            <a:r>
              <a:rPr lang="en-US" sz="1200" b="1" dirty="0">
                <a:solidFill>
                  <a:srgbClr val="3D4A5C"/>
                </a:solidFill>
                <a:latin typeface="DM Sans" pitchFamily="34" charset="0"/>
                <a:ea typeface="DM Sans" pitchFamily="34" charset="-122"/>
                <a:cs typeface="DM Sans" pitchFamily="34" charset="-120"/>
              </a:rPr>
              <a:t>Ambassadors adding names on the night?</a:t>
            </a:r>
            <a:r>
              <a:rPr lang="en-US" sz="1200" dirty="0">
                <a:solidFill>
                  <a:srgbClr val="3D4A5C"/>
                </a:solidFill>
                <a:latin typeface="DM Sans" pitchFamily="34" charset="0"/>
                <a:ea typeface="DM Sans" pitchFamily="34" charset="-122"/>
                <a:cs typeface="DM Sans" pitchFamily="34" charset="-120"/>
              </a:rPr>
              <a:t> A Senior can switch this on for them in </a:t>
            </a:r>
            <a:r>
              <a:rPr lang="en-US" sz="1200" b="1" dirty="0">
                <a:solidFill>
                  <a:srgbClr val="3D4A5C"/>
                </a:solidFill>
                <a:latin typeface="DM Sans" pitchFamily="34" charset="0"/>
                <a:ea typeface="DM Sans" pitchFamily="34" charset="-122"/>
                <a:cs typeface="DM Sans" pitchFamily="34" charset="-120"/>
              </a:rPr>
              <a:t>Admins</a:t>
            </a:r>
            <a:r>
              <a:rPr lang="en-US" sz="1200" dirty="0">
                <a:solidFill>
                  <a:srgbClr val="3D4A5C"/>
                </a:solidFill>
                <a:latin typeface="DM Sans" pitchFamily="34" charset="0"/>
                <a:ea typeface="DM Sans" pitchFamily="34" charset="-122"/>
                <a:cs typeface="DM Sans" pitchFamily="34" charset="-120"/>
              </a:rPr>
              <a:t>.</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Book a member in, with the Book in button ringed">    </p:cNvPr>
          <p:cNvPicPr>
            <a:picLocks noChangeAspect="1"/>
          </p:cNvPicPr>
          <p:nvPr/>
        </p:nvPicPr>
        <p:blipFill>
          <a:blip r:embed="rId1"/>
          <a:srcRect l="-121" r="-121" t="0" b="0"/>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r>
          <p:cNvPicPr>
            <a:picLocks noChangeAspect="1"/>
          </p:cNvPicPr>
          <p:nvPr/>
        </p:nvPicPr>
        <p:blipFill>
          <a:blip r:embed="rId2"/>
          <a:srcRect l="0" r="0" t="-149" b="-149"/>
          <a:stretch/>
        </p:blipFill>
        <p:spPr>
          <a:xfrm>
            <a:off x="10109200" y="6229350"/>
            <a:ext cx="1270000" cy="2857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635000"/>
            <a:ext cx="2225675"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DM Sans" pitchFamily="34" charset="0"/>
                <a:ea typeface="DM Sans" pitchFamily="34" charset="-122"/>
                <a:cs typeface="DM Sans" pitchFamily="34" charset="-120"/>
              </a:rPr>
              <a:t>2 · RUNNING THE NIGHT</a:t>
            </a:r>
            <a:endParaRPr lang="en-US" sz="1200" dirty="0"/>
          </a:p>
        </p:txBody>
      </p:sp>
      <p:sp>
        <p:nvSpPr>
          <p:cNvPr id="3" name="Text 1"/>
          <p:cNvSpPr/>
          <p:nvPr/>
        </p:nvSpPr>
        <p:spPr>
          <a:xfrm>
            <a:off x="3038475" y="609600"/>
            <a:ext cx="678101" cy="264160"/>
          </a:xfrm>
          <a:custGeom>
            <a:avLst/>
            <a:gdLst/>
            <a:ahLst/>
            <a:cxnLst/>
            <a:rect l="l" t="t" r="r" b="b"/>
            <a:pathLst>
              <a:path w="678101" h="264160">
                <a:moveTo>
                  <a:pt x="132080" y="0"/>
                </a:moveTo>
                <a:lnTo>
                  <a:pt x="546021" y="0"/>
                </a:lnTo>
                <a:arcTo hR="132080" wR="132080" stAng="16200000" swAng="5400000"/>
                <a:lnTo>
                  <a:pt x="678101" y="132080"/>
                </a:lnTo>
                <a:arcTo hR="132080" wR="132080" stAng="0" swAng="5400000"/>
                <a:lnTo>
                  <a:pt x="132080" y="264160"/>
                </a:lnTo>
                <a:arcTo hR="132080" wR="132080" stAng="5400000" swAng="5400000"/>
                <a:lnTo>
                  <a:pt x="0" y="132080"/>
                </a:lnTo>
                <a:arcTo hR="132080" wR="132080" stAng="10800000" swAng="5400000"/>
                <a:close/>
              </a:path>
            </a:pathLst>
          </a:custGeom>
          <a:solidFill>
            <a:srgbClr val="E8E3D8"/>
          </a:solidFill>
          <a:ln/>
        </p:spPr>
        <p:txBody>
          <a:bodyPr wrap="none" lIns="0" tIns="0" rIns="0" bIns="0" rtlCol="0" anchor="ctr">
            <a:normAutofit/>
          </a:bodyPr>
          <a:lstStyle/>
          <a:p>
            <a:pPr algn="ctr" indent="0" marL="0">
              <a:lnSpc>
                <a:spcPts val="1680"/>
              </a:lnSpc>
              <a:buNone/>
            </a:pPr>
            <a:r>
              <a:rPr lang="en-US" sz="1200" b="1" dirty="0">
                <a:solidFill>
                  <a:srgbClr val="101828"/>
                </a:solidFill>
                <a:latin typeface="DM Sans" pitchFamily="34" charset="0"/>
                <a:ea typeface="DM Sans" pitchFamily="34" charset="-122"/>
                <a:cs typeface="DM Sans" pitchFamily="34" charset="-120"/>
              </a:rPr>
              <a:t>Senior</a:t>
            </a:r>
            <a:endParaRPr lang="en-US" sz="1200" dirty="0"/>
          </a:p>
        </p:txBody>
      </p:sp>
      <p:sp>
        <p:nvSpPr>
          <p:cNvPr id="4" name="Text 2"/>
          <p:cNvSpPr/>
          <p:nvPr>
            <p:ph type="title"/>
          </p:nvPr>
        </p:nvSpPr>
        <p:spPr>
          <a:xfrm>
            <a:off x="812800" y="949964"/>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01828"/>
                </a:solidFill>
                <a:latin typeface="Poppins" pitchFamily="34" charset="0"/>
                <a:ea typeface="Poppins" pitchFamily="34" charset="-122"/>
                <a:cs typeface="Poppins" pitchFamily="34" charset="-120"/>
              </a:rPr>
              <a:t>Emergency info</a:t>
            </a:r>
            <a:endParaRPr lang="en-US" sz="2800" dirty="0"/>
          </a:p>
        </p:txBody>
      </p:sp>
      <p:sp>
        <p:nvSpPr>
          <p:cNvPr id="5" name="Text 3"/>
          <p:cNvSpPr/>
          <p:nvPr/>
        </p:nvSpPr>
        <p:spPr>
          <a:xfrm>
            <a:off x="879157" y="1612900"/>
            <a:ext cx="3954971" cy="1021080"/>
          </a:xfrm>
          <a:prstGeom prst="rect">
            <a:avLst/>
          </a:prstGeom>
          <a:noFill/>
          <a:ln/>
        </p:spPr>
        <p:txBody>
          <a:bodyPr wrap="square" lIns="0" tIns="0" rIns="0" bIns="0" rtlCol="0" anchor="t">
            <a:normAutofit/>
          </a:bodyPr>
          <a:lstStyle/>
          <a:p>
            <a:pPr algn="l" marL="187643" indent="-187643">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On the session, click </a:t>
            </a:r>
            <a:r>
              <a:rPr lang="en-US" sz="1400" b="1" dirty="0">
                <a:solidFill>
                  <a:srgbClr val="3D4A5C"/>
                </a:solidFill>
                <a:latin typeface="DM Sans" pitchFamily="34" charset="0"/>
                <a:ea typeface="DM Sans" pitchFamily="34" charset="-122"/>
                <a:cs typeface="DM Sans" pitchFamily="34" charset="-120"/>
              </a:rPr>
              <a:t>Emergency info</a:t>
            </a:r>
            <a:r>
              <a:rPr lang="en-US" sz="1400" dirty="0">
                <a:solidFill>
                  <a:srgbClr val="3D4A5C"/>
                </a:solidFill>
                <a:latin typeface="DM Sans" pitchFamily="34" charset="0"/>
                <a:ea typeface="DM Sans" pitchFamily="34" charset="-122"/>
                <a:cs typeface="DM Sans" pitchFamily="34" charset="-120"/>
              </a:rPr>
              <a:t>.</a:t>
            </a:r>
            <a:endParaRPr lang="en-US" sz="1400" dirty="0"/>
          </a:p>
          <a:p>
            <a:pPr algn="l" marL="187643" indent="-187643">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It lists everyone on the session with the emergency details they’ve given.</a:t>
            </a:r>
            <a:endParaRPr lang="en-US" sz="1400" dirty="0"/>
          </a:p>
          <a:p>
            <a:pPr algn="l" marL="187643" indent="-187643">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Print</a:t>
            </a:r>
            <a:r>
              <a:rPr lang="en-US" sz="1400" dirty="0">
                <a:solidFill>
                  <a:srgbClr val="3D4A5C"/>
                </a:solidFill>
                <a:latin typeface="DM Sans" pitchFamily="34" charset="0"/>
                <a:ea typeface="DM Sans" pitchFamily="34" charset="-122"/>
                <a:cs typeface="DM Sans" pitchFamily="34" charset="-120"/>
              </a:rPr>
              <a:t> a copy for the kit bag if you like.</a:t>
            </a:r>
            <a:endParaRPr lang="en-US" sz="1400" dirty="0"/>
          </a:p>
        </p:txBody>
      </p:sp>
      <p:sp>
        <p:nvSpPr>
          <p:cNvPr id="6" name="Text 4"/>
          <p:cNvSpPr/>
          <p:nvPr/>
        </p:nvSpPr>
        <p:spPr>
          <a:xfrm>
            <a:off x="819150" y="2767329"/>
            <a:ext cx="3898900" cy="952500"/>
          </a:xfrm>
          <a:prstGeom prst="roundRect">
            <a:avLst>
              <a:gd name="adj" fmla="val 10000"/>
            </a:avLst>
          </a:prstGeom>
          <a:solidFill>
            <a:srgbClr val="FFFDF9"/>
          </a:solidFill>
          <a:ln w="12700">
            <a:solidFill>
              <a:srgbClr val="E4DED3"/>
            </a:solidFill>
            <a:prstDash val="solid"/>
          </a:ln>
        </p:spPr>
        <p:txBody>
          <a:bodyPr wrap="square" lIns="153712" tIns="128312" rIns="47642" bIns="102912" rtlCol="0" anchor="t">
            <a:normAutofit/>
          </a:bodyPr>
          <a:lstStyle/>
          <a:p>
            <a:pPr algn="l" indent="0" marL="0">
              <a:lnSpc>
                <a:spcPts val="1680"/>
              </a:lnSpc>
              <a:buNone/>
            </a:pPr>
            <a:r>
              <a:rPr lang="en-US" sz="1200" b="1" dirty="0">
                <a:solidFill>
                  <a:srgbClr val="3D4A5C"/>
                </a:solidFill>
                <a:latin typeface="DM Sans" pitchFamily="34" charset="0"/>
                <a:ea typeface="DM Sans" pitchFamily="34" charset="-122"/>
                <a:cs typeface="DM Sans" pitchFamily="34" charset="-120"/>
              </a:rPr>
              <a:t>Only in an emergency.</a:t>
            </a:r>
            <a:r>
              <a:rPr lang="en-US" sz="1200" dirty="0">
                <a:solidFill>
                  <a:srgbClr val="3D4A5C"/>
                </a:solidFill>
                <a:latin typeface="DM Sans" pitchFamily="34" charset="0"/>
                <a:ea typeface="DM Sans" pitchFamily="34" charset="-122"/>
                <a:cs typeface="DM Sans" pitchFamily="34" charset="-120"/>
              </a:rPr>
              <a:t> Opening it is recorded. Non-Seniors can open it only from the day before to the day after.</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The Emergency info window for a session, listing players' emergency contacts">    </p:cNvPr>
          <p:cNvPicPr>
            <a:picLocks noChangeAspect="1"/>
          </p:cNvPicPr>
          <p:nvPr/>
        </p:nvPicPr>
        <p:blipFill>
          <a:blip r:embed="rId1"/>
          <a:srcRect l="-121" r="-121" t="0" b="0"/>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r>
          <p:cNvPicPr>
            <a:picLocks noChangeAspect="1"/>
          </p:cNvPicPr>
          <p:nvPr/>
        </p:nvPicPr>
        <p:blipFill>
          <a:blip r:embed="rId2"/>
          <a:srcRect l="0" r="0" t="-149" b="-149"/>
          <a:stretch/>
        </p:blipFill>
        <p:spPr>
          <a:xfrm>
            <a:off x="10109200" y="6229350"/>
            <a:ext cx="1270000" cy="2857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635000"/>
            <a:ext cx="2225675"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DM Sans" pitchFamily="34" charset="0"/>
                <a:ea typeface="DM Sans" pitchFamily="34" charset="-122"/>
                <a:cs typeface="DM Sans" pitchFamily="34" charset="-120"/>
              </a:rPr>
              <a:t>2 · RUNNING THE NIGHT</a:t>
            </a:r>
            <a:endParaRPr lang="en-US" sz="1200" dirty="0"/>
          </a:p>
        </p:txBody>
      </p:sp>
      <p:sp>
        <p:nvSpPr>
          <p:cNvPr id="3" name="Text 1"/>
          <p:cNvSpPr/>
          <p:nvPr/>
        </p:nvSpPr>
        <p:spPr>
          <a:xfrm>
            <a:off x="3038475" y="609600"/>
            <a:ext cx="678101" cy="264160"/>
          </a:xfrm>
          <a:custGeom>
            <a:avLst/>
            <a:gdLst/>
            <a:ahLst/>
            <a:cxnLst/>
            <a:rect l="l" t="t" r="r" b="b"/>
            <a:pathLst>
              <a:path w="678101" h="264160">
                <a:moveTo>
                  <a:pt x="132080" y="0"/>
                </a:moveTo>
                <a:lnTo>
                  <a:pt x="546021" y="0"/>
                </a:lnTo>
                <a:arcTo hR="132080" wR="132080" stAng="16200000" swAng="5400000"/>
                <a:lnTo>
                  <a:pt x="678101" y="132080"/>
                </a:lnTo>
                <a:arcTo hR="132080" wR="132080" stAng="0" swAng="5400000"/>
                <a:lnTo>
                  <a:pt x="132080" y="264160"/>
                </a:lnTo>
                <a:arcTo hR="132080" wR="132080" stAng="5400000" swAng="5400000"/>
                <a:lnTo>
                  <a:pt x="0" y="132080"/>
                </a:lnTo>
                <a:arcTo hR="132080" wR="132080" stAng="10800000" swAng="5400000"/>
                <a:close/>
              </a:path>
            </a:pathLst>
          </a:custGeom>
          <a:solidFill>
            <a:srgbClr val="E8E3D8"/>
          </a:solidFill>
          <a:ln/>
        </p:spPr>
        <p:txBody>
          <a:bodyPr wrap="none" lIns="0" tIns="0" rIns="0" bIns="0" rtlCol="0" anchor="ctr">
            <a:normAutofit/>
          </a:bodyPr>
          <a:lstStyle/>
          <a:p>
            <a:pPr algn="ctr" indent="0" marL="0">
              <a:lnSpc>
                <a:spcPts val="1680"/>
              </a:lnSpc>
              <a:buNone/>
            </a:pPr>
            <a:r>
              <a:rPr lang="en-US" sz="1200" b="1" dirty="0">
                <a:solidFill>
                  <a:srgbClr val="101828"/>
                </a:solidFill>
                <a:latin typeface="DM Sans" pitchFamily="34" charset="0"/>
                <a:ea typeface="DM Sans" pitchFamily="34" charset="-122"/>
                <a:cs typeface="DM Sans" pitchFamily="34" charset="-120"/>
              </a:rPr>
              <a:t>Senior</a:t>
            </a:r>
            <a:endParaRPr lang="en-US" sz="1200" dirty="0"/>
          </a:p>
        </p:txBody>
      </p:sp>
      <p:sp>
        <p:nvSpPr>
          <p:cNvPr id="4" name="Text 2"/>
          <p:cNvSpPr/>
          <p:nvPr>
            <p:ph type="title"/>
          </p:nvPr>
        </p:nvSpPr>
        <p:spPr>
          <a:xfrm>
            <a:off x="812800" y="949964"/>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01828"/>
                </a:solidFill>
                <a:latin typeface="Poppins" pitchFamily="34" charset="0"/>
                <a:ea typeface="Poppins" pitchFamily="34" charset="-122"/>
                <a:cs typeface="Poppins" pitchFamily="34" charset="-120"/>
              </a:rPr>
              <a:t>Cancelling a session</a:t>
            </a:r>
            <a:endParaRPr lang="en-US" sz="2800" dirty="0"/>
          </a:p>
        </p:txBody>
      </p:sp>
      <p:sp>
        <p:nvSpPr>
          <p:cNvPr id="5" name="Text 3"/>
          <p:cNvSpPr/>
          <p:nvPr/>
        </p:nvSpPr>
        <p:spPr>
          <a:xfrm>
            <a:off x="881777" y="1612900"/>
            <a:ext cx="3952351" cy="1021080"/>
          </a:xfrm>
          <a:prstGeom prst="rect">
            <a:avLst/>
          </a:prstGeom>
          <a:noFill/>
          <a:ln/>
        </p:spPr>
        <p:txBody>
          <a:bodyPr wrap="square" lIns="0" tIns="0" rIns="0" bIns="0" rtlCol="0" anchor="t">
            <a:normAutofit/>
          </a:bodyPr>
          <a:lstStyle/>
          <a:p>
            <a:pPr algn="l" marL="185023" indent="-185023">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On the session, click </a:t>
            </a:r>
            <a:r>
              <a:rPr lang="en-US" sz="1400" b="1" dirty="0">
                <a:solidFill>
                  <a:srgbClr val="3D4A5C"/>
                </a:solidFill>
                <a:latin typeface="DM Sans" pitchFamily="34" charset="0"/>
                <a:ea typeface="DM Sans" pitchFamily="34" charset="-122"/>
                <a:cs typeface="DM Sans" pitchFamily="34" charset="-120"/>
              </a:rPr>
              <a:t>Cancel session and refund everyone</a:t>
            </a:r>
            <a:r>
              <a:rPr lang="en-US" sz="1400" dirty="0">
                <a:solidFill>
                  <a:srgbClr val="3D4A5C"/>
                </a:solidFill>
                <a:latin typeface="DM Sans" pitchFamily="34" charset="0"/>
                <a:ea typeface="DM Sans" pitchFamily="34" charset="-122"/>
                <a:cs typeface="DM Sans" pitchFamily="34" charset="-120"/>
              </a:rPr>
              <a:t>.</a:t>
            </a:r>
            <a:endParaRPr lang="en-US" sz="1400" dirty="0"/>
          </a:p>
          <a:p>
            <a:pPr algn="l" marL="185023" indent="-185023">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Confirm. Everyone’s money goes back into their wallet.</a:t>
            </a:r>
            <a:endParaRPr lang="en-US" sz="1400" dirty="0"/>
          </a:p>
        </p:txBody>
      </p:sp>
      <p:sp>
        <p:nvSpPr>
          <p:cNvPr id="6" name="Text 4"/>
          <p:cNvSpPr/>
          <p:nvPr/>
        </p:nvSpPr>
        <p:spPr>
          <a:xfrm>
            <a:off x="819150" y="2767329"/>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algn="l" indent="0" marL="0">
              <a:lnSpc>
                <a:spcPts val="1680"/>
              </a:lnSpc>
              <a:buNone/>
            </a:pPr>
            <a:r>
              <a:rPr lang="en-US" sz="1200" b="1" dirty="0">
                <a:solidFill>
                  <a:srgbClr val="3D4A5C"/>
                </a:solidFill>
                <a:latin typeface="DM Sans" pitchFamily="34" charset="0"/>
                <a:ea typeface="DM Sans" pitchFamily="34" charset="-122"/>
                <a:cs typeface="DM Sans" pitchFamily="34" charset="-120"/>
              </a:rPr>
              <a:t>It can’t be undone.</a:t>
            </a:r>
            <a:r>
              <a:rPr lang="en-US" sz="1200" dirty="0">
                <a:solidFill>
                  <a:srgbClr val="3D4A5C"/>
                </a:solidFill>
                <a:latin typeface="DM Sans" pitchFamily="34" charset="0"/>
                <a:ea typeface="DM Sans" pitchFamily="34" charset="-122"/>
                <a:cs typeface="DM Sans" pitchFamily="34" charset="-120"/>
              </a:rPr>
              <a:t> Tell the players too: a WhatsApp message alongside it helps.</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Cancel session and refund everyone, ringed">    </p:cNvPr>
          <p:cNvPicPr>
            <a:picLocks noChangeAspect="1"/>
          </p:cNvPicPr>
          <p:nvPr/>
        </p:nvPicPr>
        <p:blipFill>
          <a:blip r:embed="rId1"/>
          <a:srcRect l="-121" r="-121" t="0" b="0"/>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r>
          <p:cNvPicPr>
            <a:picLocks noChangeAspect="1"/>
          </p:cNvPicPr>
          <p:nvPr/>
        </p:nvPicPr>
        <p:blipFill>
          <a:blip r:embed="rId2"/>
          <a:srcRect l="0" r="0" t="-149" b="-149"/>
          <a:stretch/>
        </p:blipFill>
        <p:spPr>
          <a:xfrm>
            <a:off x="10109200" y="6229350"/>
            <a:ext cx="1270000" cy="2857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97316"/>
          </a:solidFill>
          <a:ln/>
        </p:spPr>
      </p:sp>
      <p:sp>
        <p:nvSpPr>
          <p:cNvPr id="3" name="Text 1"/>
          <p:cNvSpPr/>
          <p:nvPr/>
        </p:nvSpPr>
        <p:spPr>
          <a:xfrm>
            <a:off x="812800" y="2105664"/>
            <a:ext cx="10883392"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97316"/>
                </a:solidFill>
                <a:latin typeface="Poppins" pitchFamily="34" charset="0"/>
                <a:ea typeface="Poppins" pitchFamily="34" charset="-122"/>
                <a:cs typeface="Poppins" pitchFamily="34" charset="-120"/>
              </a:rPr>
              <a:t>3</a:t>
            </a:r>
            <a:endParaRPr lang="en-US" sz="6000" dirty="0"/>
          </a:p>
        </p:txBody>
      </p:sp>
      <p:sp>
        <p:nvSpPr>
          <p:cNvPr id="4" name="Text 2"/>
          <p:cNvSpPr/>
          <p:nvPr>
            <p:ph type="title"/>
          </p:nvPr>
        </p:nvSpPr>
        <p:spPr>
          <a:xfrm>
            <a:off x="812800" y="3070864"/>
            <a:ext cx="10883392" cy="66548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6F4EF"/>
                </a:solidFill>
                <a:latin typeface="Poppins" pitchFamily="34" charset="0"/>
                <a:ea typeface="Poppins" pitchFamily="34" charset="-122"/>
                <a:cs typeface="Poppins" pitchFamily="34" charset="-120"/>
              </a:rPr>
              <a:t>Setting up sessions</a:t>
            </a:r>
            <a:endParaRPr lang="en-US" sz="4800" dirty="0"/>
          </a:p>
        </p:txBody>
      </p:sp>
      <p:sp>
        <p:nvSpPr>
          <p:cNvPr id="5" name="Text 3"/>
          <p:cNvSpPr/>
          <p:nvPr/>
        </p:nvSpPr>
        <p:spPr>
          <a:xfrm>
            <a:off x="812800" y="3914142"/>
            <a:ext cx="9906000" cy="32766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9D2E0"/>
                </a:solidFill>
                <a:latin typeface="DM Sans" pitchFamily="34" charset="0"/>
                <a:ea typeface="DM Sans" pitchFamily="34" charset="-122"/>
                <a:cs typeface="DM Sans" pitchFamily="34" charset="-120"/>
              </a:rPr>
              <a:t>Creating a session, letting members see and book it, and repeating it every week.</a:t>
            </a:r>
            <a:endParaRPr lang="en-US" sz="1700" dirty="0"/>
          </a:p>
        </p:txBody>
      </p:sp>
      <p:sp>
        <p:nvSpPr>
          <p:cNvPr id="6" name="Text 4"/>
          <p:cNvSpPr/>
          <p:nvPr/>
        </p:nvSpPr>
        <p:spPr>
          <a:xfrm>
            <a:off x="812800" y="4419600"/>
            <a:ext cx="1157208" cy="332740"/>
          </a:xfrm>
          <a:prstGeom prst="roundRect">
            <a:avLst>
              <a:gd name="adj" fmla="val 50000"/>
            </a:avLst>
          </a:prstGeom>
          <a:solidFill>
            <a:srgbClr val="F97316"/>
          </a:solidFill>
          <a:ln/>
        </p:spPr>
        <p:txBody>
          <a:bodyPr wrap="none" lIns="0" tIns="0" rIns="0" bIns="0" rtlCol="0" anchor="ctr">
            <a:normAutofit/>
          </a:bodyPr>
          <a:lstStyle/>
          <a:p>
            <a:pPr algn="ctr" indent="0" marL="0">
              <a:lnSpc>
                <a:spcPts val="1820"/>
              </a:lnSpc>
              <a:buNone/>
            </a:pPr>
            <a:r>
              <a:rPr lang="en-US" sz="1300" b="1" dirty="0">
                <a:solidFill>
                  <a:srgbClr val="101828"/>
                </a:solidFill>
                <a:latin typeface="DM Sans" pitchFamily="34" charset="0"/>
                <a:ea typeface="DM Sans" pitchFamily="34" charset="-122"/>
                <a:cs typeface="DM Sans" pitchFamily="34" charset="-120"/>
              </a:rPr>
              <a:t>For: Senior</a:t>
            </a:r>
            <a:endParaRPr lang="en-US" sz="1300" dirty="0"/>
          </a:p>
        </p:txBody>
      </p:sp>
      <p:pic>
        <p:nvPicPr>
          <p:cNvPr id="7" name="Image 0" descr="twoclear">    </p:cNvPr>
          <p:cNvPicPr>
            <a:picLocks noChangeAspect="1"/>
          </p:cNvPicPr>
          <p:nvPr/>
        </p:nvPicPr>
        <p:blipFill>
          <a:blip r:embed="rId1"/>
          <a:srcRect l="-224" r="-224" t="0" b="0"/>
          <a:stretch/>
        </p:blipFill>
        <p:spPr>
          <a:xfrm>
            <a:off x="9474200" y="5822950"/>
            <a:ext cx="1905000" cy="4254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635000"/>
            <a:ext cx="2375138"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DM Sans" pitchFamily="34" charset="0"/>
                <a:ea typeface="DM Sans" pitchFamily="34" charset="-122"/>
                <a:cs typeface="DM Sans" pitchFamily="34" charset="-120"/>
              </a:rPr>
              <a:t>3 · SETTING UP SESSIONS</a:t>
            </a:r>
            <a:endParaRPr lang="en-US" sz="1200" dirty="0"/>
          </a:p>
        </p:txBody>
      </p:sp>
      <p:sp>
        <p:nvSpPr>
          <p:cNvPr id="3" name="Text 1"/>
          <p:cNvSpPr/>
          <p:nvPr/>
        </p:nvSpPr>
        <p:spPr>
          <a:xfrm>
            <a:off x="3187938" y="609600"/>
            <a:ext cx="678101" cy="264160"/>
          </a:xfrm>
          <a:custGeom>
            <a:avLst/>
            <a:gdLst/>
            <a:ahLst/>
            <a:cxnLst/>
            <a:rect l="l" t="t" r="r" b="b"/>
            <a:pathLst>
              <a:path w="678101" h="264160">
                <a:moveTo>
                  <a:pt x="132080" y="0"/>
                </a:moveTo>
                <a:lnTo>
                  <a:pt x="546021" y="0"/>
                </a:lnTo>
                <a:arcTo hR="132080" wR="132080" stAng="16200000" swAng="5400000"/>
                <a:lnTo>
                  <a:pt x="678101" y="132080"/>
                </a:lnTo>
                <a:arcTo hR="132080" wR="132080" stAng="0" swAng="5400000"/>
                <a:lnTo>
                  <a:pt x="132080" y="264160"/>
                </a:lnTo>
                <a:arcTo hR="132080" wR="132080" stAng="5400000" swAng="5400000"/>
                <a:lnTo>
                  <a:pt x="0" y="132080"/>
                </a:lnTo>
                <a:arcTo hR="132080" wR="132080" stAng="10800000" swAng="5400000"/>
                <a:close/>
              </a:path>
            </a:pathLst>
          </a:custGeom>
          <a:solidFill>
            <a:srgbClr val="E8E3D8"/>
          </a:solidFill>
          <a:ln/>
        </p:spPr>
        <p:txBody>
          <a:bodyPr wrap="none" lIns="0" tIns="0" rIns="0" bIns="0" rtlCol="0" anchor="ctr">
            <a:normAutofit/>
          </a:bodyPr>
          <a:lstStyle/>
          <a:p>
            <a:pPr algn="ctr" indent="0" marL="0">
              <a:lnSpc>
                <a:spcPts val="1680"/>
              </a:lnSpc>
              <a:buNone/>
            </a:pPr>
            <a:r>
              <a:rPr lang="en-US" sz="1200" b="1" dirty="0">
                <a:solidFill>
                  <a:srgbClr val="101828"/>
                </a:solidFill>
                <a:latin typeface="DM Sans" pitchFamily="34" charset="0"/>
                <a:ea typeface="DM Sans" pitchFamily="34" charset="-122"/>
                <a:cs typeface="DM Sans" pitchFamily="34" charset="-120"/>
              </a:rPr>
              <a:t>Senior</a:t>
            </a:r>
            <a:endParaRPr lang="en-US" sz="1200" dirty="0"/>
          </a:p>
        </p:txBody>
      </p:sp>
      <p:sp>
        <p:nvSpPr>
          <p:cNvPr id="4" name="Text 2"/>
          <p:cNvSpPr/>
          <p:nvPr>
            <p:ph type="title"/>
          </p:nvPr>
        </p:nvSpPr>
        <p:spPr>
          <a:xfrm>
            <a:off x="812800" y="949964"/>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01828"/>
                </a:solidFill>
                <a:latin typeface="Poppins" pitchFamily="34" charset="0"/>
                <a:ea typeface="Poppins" pitchFamily="34" charset="-122"/>
                <a:cs typeface="Poppins" pitchFamily="34" charset="-120"/>
              </a:rPr>
              <a:t>Creating a session</a:t>
            </a:r>
            <a:endParaRPr lang="en-US" sz="2800" dirty="0"/>
          </a:p>
        </p:txBody>
      </p:sp>
      <p:sp>
        <p:nvSpPr>
          <p:cNvPr id="5" name="Text 3"/>
          <p:cNvSpPr/>
          <p:nvPr/>
        </p:nvSpPr>
        <p:spPr>
          <a:xfrm>
            <a:off x="875744" y="1612900"/>
            <a:ext cx="3958384" cy="1270000"/>
          </a:xfrm>
          <a:prstGeom prst="rect">
            <a:avLst/>
          </a:prstGeom>
          <a:noFill/>
          <a:ln/>
        </p:spPr>
        <p:txBody>
          <a:bodyPr wrap="square" lIns="0" tIns="0" rIns="0" bIns="0" rtlCol="0" anchor="t">
            <a:normAutofit/>
          </a:bodyPr>
          <a:lstStyle/>
          <a:p>
            <a:pPr algn="l" marL="191056" indent="-191056">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Social sessions</a:t>
            </a:r>
            <a:r>
              <a:rPr lang="en-US" sz="1400" dirty="0">
                <a:solidFill>
                  <a:srgbClr val="3D4A5C"/>
                </a:solidFill>
                <a:latin typeface="DM Sans" pitchFamily="34" charset="0"/>
                <a:ea typeface="DM Sans" pitchFamily="34" charset="-122"/>
                <a:cs typeface="DM Sans" pitchFamily="34" charset="-120"/>
              </a:rPr>
              <a:t> → </a:t>
            </a:r>
            <a:r>
              <a:rPr lang="en-US" sz="1400" b="1" dirty="0">
                <a:solidFill>
                  <a:srgbClr val="3D4A5C"/>
                </a:solidFill>
                <a:latin typeface="DM Sans" pitchFamily="34" charset="0"/>
                <a:ea typeface="DM Sans" pitchFamily="34" charset="-122"/>
                <a:cs typeface="DM Sans" pitchFamily="34" charset="-120"/>
              </a:rPr>
              <a:t>+ New</a:t>
            </a:r>
            <a:r>
              <a:rPr lang="en-US" sz="1400" dirty="0">
                <a:solidFill>
                  <a:srgbClr val="3D4A5C"/>
                </a:solidFill>
                <a:latin typeface="DM Sans" pitchFamily="34" charset="0"/>
                <a:ea typeface="DM Sans" pitchFamily="34" charset="-122"/>
                <a:cs typeface="DM Sans" pitchFamily="34" charset="-120"/>
              </a:rPr>
              <a:t>.</a:t>
            </a:r>
            <a:endParaRPr lang="en-US" sz="1400" dirty="0"/>
          </a:p>
          <a:p>
            <a:pPr algn="l" marL="191056" indent="-191056">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Name, date, start and end time.</a:t>
            </a:r>
            <a:endParaRPr lang="en-US" sz="1400" dirty="0"/>
          </a:p>
          <a:p>
            <a:pPr algn="l" marL="191056" indent="-191056">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Location, capacity, courts and price.</a:t>
            </a:r>
            <a:endParaRPr lang="en-US" sz="1400" dirty="0"/>
          </a:p>
          <a:p>
            <a:pPr algn="l" marL="191056" indent="-191056">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How play is organised, e.g. round-robin.</a:t>
            </a:r>
            <a:endParaRPr lang="en-US" sz="1400" dirty="0"/>
          </a:p>
          <a:p>
            <a:pPr algn="l" marL="191056" indent="-191056">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Create session</a:t>
            </a:r>
            <a:r>
              <a:rPr lang="en-US" sz="1400" dirty="0">
                <a:solidFill>
                  <a:srgbClr val="3D4A5C"/>
                </a:solidFill>
                <a:latin typeface="DM Sans" pitchFamily="34" charset="0"/>
                <a:ea typeface="DM Sans" pitchFamily="34" charset="-122"/>
                <a:cs typeface="DM Sans" pitchFamily="34" charset="-120"/>
              </a:rPr>
              <a:t>.</a:t>
            </a:r>
            <a:endParaRPr lang="en-US" sz="1400" dirty="0"/>
          </a:p>
        </p:txBody>
      </p:sp>
      <p:sp>
        <p:nvSpPr>
          <p:cNvPr id="6" name="Text 4"/>
          <p:cNvSpPr/>
          <p:nvPr/>
        </p:nvSpPr>
        <p:spPr>
          <a:xfrm>
            <a:off x="819150" y="3016250"/>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algn="l" indent="0" marL="0">
              <a:lnSpc>
                <a:spcPts val="1680"/>
              </a:lnSpc>
              <a:buNone/>
            </a:pPr>
            <a:r>
              <a:rPr lang="en-US" sz="1200" b="1" dirty="0">
                <a:solidFill>
                  <a:srgbClr val="3D4A5C"/>
                </a:solidFill>
                <a:latin typeface="DM Sans" pitchFamily="34" charset="0"/>
                <a:ea typeface="DM Sans" pitchFamily="34" charset="-122"/>
                <a:cs typeface="DM Sans" pitchFamily="34" charset="-120"/>
              </a:rPr>
              <a:t>Saved, but hidden.</a:t>
            </a:r>
            <a:r>
              <a:rPr lang="en-US" sz="1200" dirty="0">
                <a:solidFill>
                  <a:srgbClr val="3D4A5C"/>
                </a:solidFill>
                <a:latin typeface="DM Sans" pitchFamily="34" charset="0"/>
                <a:ea typeface="DM Sans" pitchFamily="34" charset="-122"/>
                <a:cs typeface="DM Sans" pitchFamily="34" charset="-120"/>
              </a:rPr>
              <a:t> Nobody can see or book it until you open it (next slide).</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The new session form, with date and times ringed">    </p:cNvPr>
          <p:cNvPicPr>
            <a:picLocks noChangeAspect="1"/>
          </p:cNvPicPr>
          <p:nvPr/>
        </p:nvPicPr>
        <p:blipFill>
          <a:blip r:embed="rId1"/>
          <a:srcRect l="-121" r="-121" t="0" b="0"/>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r>
          <p:cNvPicPr>
            <a:picLocks noChangeAspect="1"/>
          </p:cNvPicPr>
          <p:nvPr/>
        </p:nvPicPr>
        <p:blipFill>
          <a:blip r:embed="rId2"/>
          <a:srcRect l="0" r="0" t="-149" b="-149"/>
          <a:stretch/>
        </p:blipFill>
        <p:spPr>
          <a:xfrm>
            <a:off x="10109200" y="6229350"/>
            <a:ext cx="1270000" cy="2857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635000"/>
            <a:ext cx="2375138"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DM Sans" pitchFamily="34" charset="0"/>
                <a:ea typeface="DM Sans" pitchFamily="34" charset="-122"/>
                <a:cs typeface="DM Sans" pitchFamily="34" charset="-120"/>
              </a:rPr>
              <a:t>3 · SETTING UP SESSIONS</a:t>
            </a:r>
            <a:endParaRPr lang="en-US" sz="1200" dirty="0"/>
          </a:p>
        </p:txBody>
      </p:sp>
      <p:sp>
        <p:nvSpPr>
          <p:cNvPr id="3" name="Text 1"/>
          <p:cNvSpPr/>
          <p:nvPr/>
        </p:nvSpPr>
        <p:spPr>
          <a:xfrm>
            <a:off x="3187938" y="609600"/>
            <a:ext cx="2693035" cy="264160"/>
          </a:xfrm>
          <a:custGeom>
            <a:avLst/>
            <a:gdLst/>
            <a:ahLst/>
            <a:cxnLst/>
            <a:rect l="l" t="t" r="r" b="b"/>
            <a:pathLst>
              <a:path w="2693035" h="264160">
                <a:moveTo>
                  <a:pt x="132080" y="0"/>
                </a:moveTo>
                <a:lnTo>
                  <a:pt x="2560955" y="0"/>
                </a:lnTo>
                <a:arcTo hR="132080" wR="132080" stAng="16200000" swAng="5400000"/>
                <a:lnTo>
                  <a:pt x="2693035" y="132080"/>
                </a:lnTo>
                <a:arcTo hR="132080" wR="132080" stAng="0" swAng="5400000"/>
                <a:lnTo>
                  <a:pt x="132080" y="264160"/>
                </a:lnTo>
                <a:arcTo hR="132080" wR="132080" stAng="5400000" swAng="5400000"/>
                <a:lnTo>
                  <a:pt x="0" y="132080"/>
                </a:lnTo>
                <a:arcTo hR="132080" wR="132080" stAng="10800000" swAng="5400000"/>
                <a:close/>
              </a:path>
            </a:pathLst>
          </a:custGeom>
          <a:solidFill>
            <a:srgbClr val="E8E3D8"/>
          </a:solidFill>
          <a:ln/>
        </p:spPr>
        <p:txBody>
          <a:bodyPr wrap="none" lIns="0" tIns="0" rIns="0" bIns="0" rtlCol="0" anchor="ctr">
            <a:normAutofit/>
          </a:bodyPr>
          <a:lstStyle/>
          <a:p>
            <a:pPr algn="ctr" indent="0" marL="0">
              <a:lnSpc>
                <a:spcPts val="1680"/>
              </a:lnSpc>
              <a:buNone/>
            </a:pPr>
            <a:r>
              <a:rPr lang="en-US" sz="1200" b="1" dirty="0">
                <a:solidFill>
                  <a:srgbClr val="101828"/>
                </a:solidFill>
                <a:latin typeface="DM Sans" pitchFamily="34" charset="0"/>
                <a:ea typeface="DM Sans" pitchFamily="34" charset="-122"/>
                <a:cs typeface="DM Sans" pitchFamily="34" charset="-120"/>
              </a:rPr>
              <a:t>Ambassador · Committee · Senior</a:t>
            </a:r>
            <a:endParaRPr lang="en-US" sz="1200" dirty="0"/>
          </a:p>
        </p:txBody>
      </p:sp>
      <p:sp>
        <p:nvSpPr>
          <p:cNvPr id="4" name="Text 2"/>
          <p:cNvSpPr/>
          <p:nvPr>
            <p:ph type="title"/>
          </p:nvPr>
        </p:nvSpPr>
        <p:spPr>
          <a:xfrm>
            <a:off x="812800" y="949964"/>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01828"/>
                </a:solidFill>
                <a:latin typeface="Poppins" pitchFamily="34" charset="0"/>
                <a:ea typeface="Poppins" pitchFamily="34" charset="-122"/>
                <a:cs typeface="Poppins" pitchFamily="34" charset="-120"/>
              </a:rPr>
              <a:t>Letting members see and book it</a:t>
            </a:r>
            <a:endParaRPr lang="en-US" sz="2800" dirty="0"/>
          </a:p>
        </p:txBody>
      </p:sp>
      <p:sp>
        <p:nvSpPr>
          <p:cNvPr id="5" name="Text 3"/>
          <p:cNvSpPr/>
          <p:nvPr/>
        </p:nvSpPr>
        <p:spPr>
          <a:xfrm>
            <a:off x="879157" y="1612900"/>
            <a:ext cx="3954971" cy="1518920"/>
          </a:xfrm>
          <a:prstGeom prst="rect">
            <a:avLst/>
          </a:prstGeom>
          <a:noFill/>
          <a:ln/>
        </p:spPr>
        <p:txBody>
          <a:bodyPr wrap="square" lIns="0" tIns="0" rIns="0" bIns="0" rtlCol="0" anchor="t">
            <a:normAutofit/>
          </a:bodyPr>
          <a:lstStyle/>
          <a:p>
            <a:pPr algn="l" marL="187643" indent="-187643">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Show members this session</a:t>
            </a:r>
            <a:r>
              <a:rPr lang="en-US" sz="1400" dirty="0">
                <a:solidFill>
                  <a:srgbClr val="3D4A5C"/>
                </a:solidFill>
                <a:latin typeface="DM Sans" pitchFamily="34" charset="0"/>
                <a:ea typeface="DM Sans" pitchFamily="34" charset="-122"/>
                <a:cs typeface="DM Sans" pitchFamily="34" charset="-120"/>
              </a:rPr>
              <a:t>: it appears on the Social page.</a:t>
            </a:r>
            <a:endParaRPr lang="en-US" sz="1400" dirty="0"/>
          </a:p>
          <a:p>
            <a:pPr algn="l" marL="187643" indent="-187643">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Open for booking</a:t>
            </a:r>
            <a:r>
              <a:rPr lang="en-US" sz="1400" dirty="0">
                <a:solidFill>
                  <a:srgbClr val="3D4A5C"/>
                </a:solidFill>
                <a:latin typeface="DM Sans" pitchFamily="34" charset="0"/>
                <a:ea typeface="DM Sans" pitchFamily="34" charset="-122"/>
                <a:cs typeface="DM Sans" pitchFamily="34" charset="-120"/>
              </a:rPr>
              <a:t>: members can book in the app.</a:t>
            </a:r>
            <a:endParaRPr lang="en-US" sz="1400" dirty="0"/>
          </a:p>
          <a:p>
            <a:pPr algn="l" marL="187643" indent="-187643">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Or let booking open by itself a set number of days before.</a:t>
            </a:r>
            <a:endParaRPr lang="en-US" sz="1400" dirty="0"/>
          </a:p>
        </p:txBody>
      </p:sp>
      <p:sp>
        <p:nvSpPr>
          <p:cNvPr id="6" name="Text 4"/>
          <p:cNvSpPr/>
          <p:nvPr/>
        </p:nvSpPr>
        <p:spPr>
          <a:xfrm>
            <a:off x="819150" y="3265171"/>
            <a:ext cx="3898900" cy="952500"/>
          </a:xfrm>
          <a:prstGeom prst="roundRect">
            <a:avLst>
              <a:gd name="adj" fmla="val 10000"/>
            </a:avLst>
          </a:prstGeom>
          <a:solidFill>
            <a:srgbClr val="FFFDF9"/>
          </a:solidFill>
          <a:ln w="12700">
            <a:solidFill>
              <a:srgbClr val="E4DED3"/>
            </a:solidFill>
            <a:prstDash val="solid"/>
          </a:ln>
        </p:spPr>
        <p:txBody>
          <a:bodyPr wrap="square" lIns="153712" tIns="128312" rIns="47642" bIns="102912" rtlCol="0" anchor="t">
            <a:normAutofit/>
          </a:bodyPr>
          <a:lstStyle/>
          <a:p>
            <a:pPr algn="l" indent="0" marL="0">
              <a:lnSpc>
                <a:spcPts val="1680"/>
              </a:lnSpc>
              <a:buNone/>
            </a:pPr>
            <a:r>
              <a:rPr lang="en-US" sz="1200" b="1" dirty="0">
                <a:solidFill>
                  <a:srgbClr val="3D4A5C"/>
                </a:solidFill>
                <a:latin typeface="DM Sans" pitchFamily="34" charset="0"/>
                <a:ea typeface="DM Sans" pitchFamily="34" charset="-122"/>
                <a:cs typeface="DM Sans" pitchFamily="34" charset="-120"/>
              </a:rPr>
              <a:t>Members first?</a:t>
            </a:r>
            <a:r>
              <a:rPr lang="en-US" sz="1200" dirty="0">
                <a:solidFill>
                  <a:srgbClr val="3D4A5C"/>
                </a:solidFill>
                <a:latin typeface="DM Sans" pitchFamily="34" charset="0"/>
                <a:ea typeface="DM Sans" pitchFamily="34" charset="-122"/>
                <a:cs typeface="DM Sans" pitchFamily="34" charset="-120"/>
              </a:rPr>
              <a:t> Non-members can be made to wait a few hours after booking opens (Club settings).</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The session builder with Open for booking ringed">    </p:cNvPr>
          <p:cNvPicPr>
            <a:picLocks noChangeAspect="1"/>
          </p:cNvPicPr>
          <p:nvPr/>
        </p:nvPicPr>
        <p:blipFill>
          <a:blip r:embed="rId1"/>
          <a:srcRect l="-121" r="-121" t="0" b="0"/>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r>
          <p:cNvPicPr>
            <a:picLocks noChangeAspect="1"/>
          </p:cNvPicPr>
          <p:nvPr/>
        </p:nvPicPr>
        <p:blipFill>
          <a:blip r:embed="rId2"/>
          <a:srcRect l="0" r="0" t="-149" b="-149"/>
          <a:stretch/>
        </p:blipFill>
        <p:spPr>
          <a:xfrm>
            <a:off x="10109200" y="6229350"/>
            <a:ext cx="1270000" cy="2857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635000"/>
            <a:ext cx="2375138"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DM Sans" pitchFamily="34" charset="0"/>
                <a:ea typeface="DM Sans" pitchFamily="34" charset="-122"/>
                <a:cs typeface="DM Sans" pitchFamily="34" charset="-120"/>
              </a:rPr>
              <a:t>3 · SETTING UP SESSIONS</a:t>
            </a:r>
            <a:endParaRPr lang="en-US" sz="1200" dirty="0"/>
          </a:p>
        </p:txBody>
      </p:sp>
      <p:sp>
        <p:nvSpPr>
          <p:cNvPr id="3" name="Text 1"/>
          <p:cNvSpPr/>
          <p:nvPr/>
        </p:nvSpPr>
        <p:spPr>
          <a:xfrm>
            <a:off x="3187938" y="609600"/>
            <a:ext cx="678101" cy="264160"/>
          </a:xfrm>
          <a:custGeom>
            <a:avLst/>
            <a:gdLst/>
            <a:ahLst/>
            <a:cxnLst/>
            <a:rect l="l" t="t" r="r" b="b"/>
            <a:pathLst>
              <a:path w="678101" h="264160">
                <a:moveTo>
                  <a:pt x="132080" y="0"/>
                </a:moveTo>
                <a:lnTo>
                  <a:pt x="546021" y="0"/>
                </a:lnTo>
                <a:arcTo hR="132080" wR="132080" stAng="16200000" swAng="5400000"/>
                <a:lnTo>
                  <a:pt x="678101" y="132080"/>
                </a:lnTo>
                <a:arcTo hR="132080" wR="132080" stAng="0" swAng="5400000"/>
                <a:lnTo>
                  <a:pt x="132080" y="264160"/>
                </a:lnTo>
                <a:arcTo hR="132080" wR="132080" stAng="5400000" swAng="5400000"/>
                <a:lnTo>
                  <a:pt x="0" y="132080"/>
                </a:lnTo>
                <a:arcTo hR="132080" wR="132080" stAng="10800000" swAng="5400000"/>
                <a:close/>
              </a:path>
            </a:pathLst>
          </a:custGeom>
          <a:solidFill>
            <a:srgbClr val="E8E3D8"/>
          </a:solidFill>
          <a:ln/>
        </p:spPr>
        <p:txBody>
          <a:bodyPr wrap="none" lIns="0" tIns="0" rIns="0" bIns="0" rtlCol="0" anchor="ctr">
            <a:normAutofit/>
          </a:bodyPr>
          <a:lstStyle/>
          <a:p>
            <a:pPr algn="ctr" indent="0" marL="0">
              <a:lnSpc>
                <a:spcPts val="1680"/>
              </a:lnSpc>
              <a:buNone/>
            </a:pPr>
            <a:r>
              <a:rPr lang="en-US" sz="1200" b="1" dirty="0">
                <a:solidFill>
                  <a:srgbClr val="101828"/>
                </a:solidFill>
                <a:latin typeface="DM Sans" pitchFamily="34" charset="0"/>
                <a:ea typeface="DM Sans" pitchFamily="34" charset="-122"/>
                <a:cs typeface="DM Sans" pitchFamily="34" charset="-120"/>
              </a:rPr>
              <a:t>Senior</a:t>
            </a:r>
            <a:endParaRPr lang="en-US" sz="1200" dirty="0"/>
          </a:p>
        </p:txBody>
      </p:sp>
      <p:sp>
        <p:nvSpPr>
          <p:cNvPr id="4" name="Text 2"/>
          <p:cNvSpPr/>
          <p:nvPr>
            <p:ph type="title"/>
          </p:nvPr>
        </p:nvSpPr>
        <p:spPr>
          <a:xfrm>
            <a:off x="812800" y="949964"/>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01828"/>
                </a:solidFill>
                <a:latin typeface="Poppins" pitchFamily="34" charset="0"/>
                <a:ea typeface="Poppins" pitchFamily="34" charset="-122"/>
                <a:cs typeface="Poppins" pitchFamily="34" charset="-120"/>
              </a:rPr>
              <a:t>Repeating every week</a:t>
            </a:r>
            <a:endParaRPr lang="en-US" sz="2800" dirty="0"/>
          </a:p>
        </p:txBody>
      </p:sp>
      <p:sp>
        <p:nvSpPr>
          <p:cNvPr id="5" name="Text 3"/>
          <p:cNvSpPr/>
          <p:nvPr/>
        </p:nvSpPr>
        <p:spPr>
          <a:xfrm>
            <a:off x="879157" y="1612900"/>
            <a:ext cx="3954971" cy="1270000"/>
          </a:xfrm>
          <a:prstGeom prst="rect">
            <a:avLst/>
          </a:prstGeom>
          <a:noFill/>
          <a:ln/>
        </p:spPr>
        <p:txBody>
          <a:bodyPr wrap="square" lIns="0" tIns="0" rIns="0" bIns="0" rtlCol="0" anchor="t">
            <a:normAutofit/>
          </a:bodyPr>
          <a:lstStyle/>
          <a:p>
            <a:pPr algn="l" marL="187643" indent="-187643">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Set it up as normal, then tick </a:t>
            </a:r>
            <a:r>
              <a:rPr lang="en-US" sz="1400" b="1" dirty="0">
                <a:solidFill>
                  <a:srgbClr val="3D4A5C"/>
                </a:solidFill>
                <a:latin typeface="DM Sans" pitchFamily="34" charset="0"/>
                <a:ea typeface="DM Sans" pitchFamily="34" charset="-122"/>
                <a:cs typeface="DM Sans" pitchFamily="34" charset="-120"/>
              </a:rPr>
              <a:t>Repeat this session</a:t>
            </a:r>
            <a:r>
              <a:rPr lang="en-US" sz="1400" dirty="0">
                <a:solidFill>
                  <a:srgbClr val="3D4A5C"/>
                </a:solidFill>
                <a:latin typeface="DM Sans" pitchFamily="34" charset="0"/>
                <a:ea typeface="DM Sans" pitchFamily="34" charset="-122"/>
                <a:cs typeface="DM Sans" pitchFamily="34" charset="-120"/>
              </a:rPr>
              <a:t>.</a:t>
            </a:r>
            <a:endParaRPr lang="en-US" sz="1400" dirty="0"/>
          </a:p>
          <a:p>
            <a:pPr algn="l" marL="187643" indent="-187643">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Every week</a:t>
            </a:r>
            <a:r>
              <a:rPr lang="en-US" sz="1400" dirty="0">
                <a:solidFill>
                  <a:srgbClr val="3D4A5C"/>
                </a:solidFill>
                <a:latin typeface="DM Sans" pitchFamily="34" charset="0"/>
                <a:ea typeface="DM Sans" pitchFamily="34" charset="-122"/>
                <a:cs typeface="DM Sans" pitchFamily="34" charset="-120"/>
              </a:rPr>
              <a:t> or </a:t>
            </a:r>
            <a:r>
              <a:rPr lang="en-US" sz="1400" b="1" dirty="0">
                <a:solidFill>
                  <a:srgbClr val="3D4A5C"/>
                </a:solidFill>
                <a:latin typeface="DM Sans" pitchFamily="34" charset="0"/>
                <a:ea typeface="DM Sans" pitchFamily="34" charset="-122"/>
                <a:cs typeface="DM Sans" pitchFamily="34" charset="-120"/>
              </a:rPr>
              <a:t>every 2 weeks</a:t>
            </a:r>
            <a:r>
              <a:rPr lang="en-US" sz="1400" dirty="0">
                <a:solidFill>
                  <a:srgbClr val="3D4A5C"/>
                </a:solidFill>
                <a:latin typeface="DM Sans" pitchFamily="34" charset="0"/>
                <a:ea typeface="DM Sans" pitchFamily="34" charset="-122"/>
                <a:cs typeface="DM Sans" pitchFamily="34" charset="-120"/>
              </a:rPr>
              <a:t>, and a last date.</a:t>
            </a:r>
            <a:endParaRPr lang="en-US" sz="1400" dirty="0"/>
          </a:p>
          <a:p>
            <a:pPr algn="l" marL="187643" indent="-187643">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Check the dates, then </a:t>
            </a:r>
            <a:r>
              <a:rPr lang="en-US" sz="1400" b="1" dirty="0">
                <a:solidFill>
                  <a:srgbClr val="3D4A5C"/>
                </a:solidFill>
                <a:latin typeface="DM Sans" pitchFamily="34" charset="0"/>
                <a:ea typeface="DM Sans" pitchFamily="34" charset="-122"/>
                <a:cs typeface="DM Sans" pitchFamily="34" charset="-120"/>
              </a:rPr>
              <a:t>Create session</a:t>
            </a:r>
            <a:r>
              <a:rPr lang="en-US" sz="1400" dirty="0">
                <a:solidFill>
                  <a:srgbClr val="3D4A5C"/>
                </a:solidFill>
                <a:latin typeface="DM Sans" pitchFamily="34" charset="0"/>
                <a:ea typeface="DM Sans" pitchFamily="34" charset="-122"/>
                <a:cs typeface="DM Sans" pitchFamily="34" charset="-120"/>
              </a:rPr>
              <a:t>.</a:t>
            </a:r>
            <a:endParaRPr lang="en-US" sz="1400" dirty="0"/>
          </a:p>
        </p:txBody>
      </p:sp>
      <p:sp>
        <p:nvSpPr>
          <p:cNvPr id="6" name="Text 4"/>
          <p:cNvSpPr/>
          <p:nvPr/>
        </p:nvSpPr>
        <p:spPr>
          <a:xfrm>
            <a:off x="819150" y="3016250"/>
            <a:ext cx="3898900" cy="952500"/>
          </a:xfrm>
          <a:prstGeom prst="roundRect">
            <a:avLst>
              <a:gd name="adj" fmla="val 10000"/>
            </a:avLst>
          </a:prstGeom>
          <a:solidFill>
            <a:srgbClr val="FFFDF9"/>
          </a:solidFill>
          <a:ln w="12700">
            <a:solidFill>
              <a:srgbClr val="E4DED3"/>
            </a:solidFill>
            <a:prstDash val="solid"/>
          </a:ln>
        </p:spPr>
        <p:txBody>
          <a:bodyPr wrap="square" lIns="153712" tIns="128312" rIns="47642" bIns="102912" rtlCol="0" anchor="t">
            <a:normAutofit/>
          </a:bodyPr>
          <a:lstStyle/>
          <a:p>
            <a:pPr algn="l" indent="0" marL="0">
              <a:lnSpc>
                <a:spcPts val="1680"/>
              </a:lnSpc>
              <a:buNone/>
            </a:pPr>
            <a:r>
              <a:rPr lang="en-US" sz="1200" b="1" dirty="0">
                <a:solidFill>
                  <a:srgbClr val="3D4A5C"/>
                </a:solidFill>
                <a:latin typeface="DM Sans" pitchFamily="34" charset="0"/>
                <a:ea typeface="DM Sans" pitchFamily="34" charset="-122"/>
                <a:cs typeface="DM Sans" pitchFamily="34" charset="-120"/>
              </a:rPr>
              <a:t>One-off changes:</a:t>
            </a:r>
            <a:r>
              <a:rPr lang="en-US" sz="1200" dirty="0">
                <a:solidFill>
                  <a:srgbClr val="3D4A5C"/>
                </a:solidFill>
                <a:latin typeface="DM Sans" pitchFamily="34" charset="0"/>
                <a:ea typeface="DM Sans" pitchFamily="34" charset="-122"/>
                <a:cs typeface="DM Sans" pitchFamily="34" charset="-120"/>
              </a:rPr>
              <a:t> in </a:t>
            </a:r>
            <a:r>
              <a:rPr lang="en-US" sz="1200" b="1" dirty="0">
                <a:solidFill>
                  <a:srgbClr val="3D4A5C"/>
                </a:solidFill>
                <a:latin typeface="DM Sans" pitchFamily="34" charset="0"/>
                <a:ea typeface="DM Sans" pitchFamily="34" charset="-122"/>
                <a:cs typeface="DM Sans" pitchFamily="34" charset="-120"/>
              </a:rPr>
              <a:t>Calendar</a:t>
            </a:r>
            <a:r>
              <a:rPr lang="en-US" sz="1200" dirty="0">
                <a:solidFill>
                  <a:srgbClr val="3D4A5C"/>
                </a:solidFill>
                <a:latin typeface="DM Sans" pitchFamily="34" charset="0"/>
                <a:ea typeface="DM Sans" pitchFamily="34" charset="-122"/>
                <a:cs typeface="DM Sans" pitchFamily="34" charset="-120"/>
              </a:rPr>
              <a:t>, click a day. </a:t>
            </a:r>
            <a:r>
              <a:rPr lang="en-US" sz="1200" b="1" dirty="0">
                <a:solidFill>
                  <a:srgbClr val="3D4A5C"/>
                </a:solidFill>
                <a:latin typeface="DM Sans" pitchFamily="34" charset="0"/>
                <a:ea typeface="DM Sans" pitchFamily="34" charset="-122"/>
                <a:cs typeface="DM Sans" pitchFamily="34" charset="-120"/>
              </a:rPr>
              <a:t>Open</a:t>
            </a:r>
            <a:r>
              <a:rPr lang="en-US" sz="1200" dirty="0">
                <a:solidFill>
                  <a:srgbClr val="3D4A5C"/>
                </a:solidFill>
                <a:latin typeface="DM Sans" pitchFamily="34" charset="0"/>
                <a:ea typeface="DM Sans" pitchFamily="34" charset="-122"/>
                <a:cs typeface="DM Sans" pitchFamily="34" charset="-120"/>
              </a:rPr>
              <a:t> changes just that session; </a:t>
            </a:r>
            <a:r>
              <a:rPr lang="en-US" sz="1200" b="1" dirty="0">
                <a:solidFill>
                  <a:srgbClr val="3D4A5C"/>
                </a:solidFill>
                <a:latin typeface="DM Sans" pitchFamily="34" charset="0"/>
                <a:ea typeface="DM Sans" pitchFamily="34" charset="-122"/>
                <a:cs typeface="DM Sans" pitchFamily="34" charset="-120"/>
              </a:rPr>
              <a:t>Delete</a:t>
            </a:r>
            <a:r>
              <a:rPr lang="en-US" sz="1200" dirty="0">
                <a:solidFill>
                  <a:srgbClr val="3D4A5C"/>
                </a:solidFill>
                <a:latin typeface="DM Sans" pitchFamily="34" charset="0"/>
                <a:ea typeface="DM Sans" pitchFamily="34" charset="-122"/>
                <a:cs typeface="DM Sans" pitchFamily="34" charset="-120"/>
              </a:rPr>
              <a:t> removes just that one.</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Repeat options: every week, every 2 weeks and Repeat until, ringed">    </p:cNvPr>
          <p:cNvPicPr>
            <a:picLocks noChangeAspect="1"/>
          </p:cNvPicPr>
          <p:nvPr/>
        </p:nvPicPr>
        <p:blipFill>
          <a:blip r:embed="rId1"/>
          <a:srcRect l="-121" r="-121" t="0" b="0"/>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r>
          <p:cNvPicPr>
            <a:picLocks noChangeAspect="1"/>
          </p:cNvPicPr>
          <p:nvPr/>
        </p:nvPicPr>
        <p:blipFill>
          <a:blip r:embed="rId2"/>
          <a:srcRect l="0" r="0" t="-149" b="-149"/>
          <a:stretch/>
        </p:blipFill>
        <p:spPr>
          <a:xfrm>
            <a:off x="10109200" y="6229350"/>
            <a:ext cx="1270000" cy="2857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97316"/>
          </a:solidFill>
          <a:ln/>
        </p:spPr>
      </p:sp>
      <p:sp>
        <p:nvSpPr>
          <p:cNvPr id="3" name="Text 1"/>
          <p:cNvSpPr/>
          <p:nvPr/>
        </p:nvSpPr>
        <p:spPr>
          <a:xfrm>
            <a:off x="812800" y="2105658"/>
            <a:ext cx="10883392"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97316"/>
                </a:solidFill>
                <a:latin typeface="Poppins" pitchFamily="34" charset="0"/>
                <a:ea typeface="Poppins" pitchFamily="34" charset="-122"/>
                <a:cs typeface="Poppins" pitchFamily="34" charset="-120"/>
              </a:rPr>
              <a:t>4</a:t>
            </a:r>
            <a:endParaRPr lang="en-US" sz="6000" dirty="0"/>
          </a:p>
        </p:txBody>
      </p:sp>
      <p:sp>
        <p:nvSpPr>
          <p:cNvPr id="4" name="Text 2"/>
          <p:cNvSpPr/>
          <p:nvPr>
            <p:ph type="title"/>
          </p:nvPr>
        </p:nvSpPr>
        <p:spPr>
          <a:xfrm>
            <a:off x="812800" y="3070858"/>
            <a:ext cx="10883392" cy="66548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6F4EF"/>
                </a:solidFill>
                <a:latin typeface="Poppins" pitchFamily="34" charset="0"/>
                <a:ea typeface="Poppins" pitchFamily="34" charset="-122"/>
                <a:cs typeface="Poppins" pitchFamily="34" charset="-120"/>
              </a:rPr>
              <a:t>Money and reports</a:t>
            </a:r>
            <a:endParaRPr lang="en-US" sz="4800" dirty="0"/>
          </a:p>
        </p:txBody>
      </p:sp>
      <p:sp>
        <p:nvSpPr>
          <p:cNvPr id="5" name="Text 3"/>
          <p:cNvSpPr/>
          <p:nvPr/>
        </p:nvSpPr>
        <p:spPr>
          <a:xfrm>
            <a:off x="812800" y="3914142"/>
            <a:ext cx="8502650" cy="32766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9D2E0"/>
                </a:solidFill>
                <a:latin typeface="DM Sans" pitchFamily="34" charset="0"/>
                <a:ea typeface="DM Sans" pitchFamily="34" charset="-122"/>
                <a:cs typeface="DM Sans" pitchFamily="34" charset="-120"/>
              </a:rPr>
              <a:t>Members’ wallets, adjusting a balance, and the money report for the treasurer.</a:t>
            </a:r>
            <a:endParaRPr lang="en-US" sz="1700" dirty="0"/>
          </a:p>
        </p:txBody>
      </p:sp>
      <p:sp>
        <p:nvSpPr>
          <p:cNvPr id="6" name="Text 4"/>
          <p:cNvSpPr/>
          <p:nvPr/>
        </p:nvSpPr>
        <p:spPr>
          <a:xfrm>
            <a:off x="812800" y="4419600"/>
            <a:ext cx="2194877" cy="332740"/>
          </a:xfrm>
          <a:prstGeom prst="roundRect">
            <a:avLst>
              <a:gd name="adj" fmla="val 50000"/>
            </a:avLst>
          </a:prstGeom>
          <a:solidFill>
            <a:srgbClr val="F97316"/>
          </a:solidFill>
          <a:ln/>
        </p:spPr>
        <p:txBody>
          <a:bodyPr wrap="none" lIns="0" tIns="0" rIns="0" bIns="0" rtlCol="0" anchor="ctr">
            <a:normAutofit/>
          </a:bodyPr>
          <a:lstStyle/>
          <a:p>
            <a:pPr algn="ctr" indent="0" marL="0">
              <a:lnSpc>
                <a:spcPts val="1820"/>
              </a:lnSpc>
              <a:buNone/>
            </a:pPr>
            <a:r>
              <a:rPr lang="en-US" sz="1300" b="1" dirty="0">
                <a:solidFill>
                  <a:srgbClr val="101828"/>
                </a:solidFill>
                <a:latin typeface="DM Sans" pitchFamily="34" charset="0"/>
                <a:ea typeface="DM Sans" pitchFamily="34" charset="-122"/>
                <a:cs typeface="DM Sans" pitchFamily="34" charset="-120"/>
              </a:rPr>
              <a:t>For: Committee · Senior</a:t>
            </a:r>
            <a:endParaRPr lang="en-US" sz="1300" dirty="0"/>
          </a:p>
        </p:txBody>
      </p:sp>
      <p:pic>
        <p:nvPicPr>
          <p:cNvPr id="7" name="Image 0" descr="twoclear">    </p:cNvPr>
          <p:cNvPicPr>
            <a:picLocks noChangeAspect="1"/>
          </p:cNvPicPr>
          <p:nvPr/>
        </p:nvPicPr>
        <p:blipFill>
          <a:blip r:embed="rId1"/>
          <a:srcRect l="-224" r="-224" t="0" b="0"/>
          <a:stretch/>
        </p:blipFill>
        <p:spPr>
          <a:xfrm>
            <a:off x="9474200" y="5822950"/>
            <a:ext cx="1905000" cy="42545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635000"/>
            <a:ext cx="2337038"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DM Sans" pitchFamily="34" charset="0"/>
                <a:ea typeface="DM Sans" pitchFamily="34" charset="-122"/>
                <a:cs typeface="DM Sans" pitchFamily="34" charset="-120"/>
              </a:rPr>
              <a:t>4 · MONEY AND REPORTS</a:t>
            </a:r>
            <a:endParaRPr lang="en-US" sz="1200" dirty="0"/>
          </a:p>
        </p:txBody>
      </p:sp>
      <p:sp>
        <p:nvSpPr>
          <p:cNvPr id="3" name="Text 1"/>
          <p:cNvSpPr/>
          <p:nvPr/>
        </p:nvSpPr>
        <p:spPr>
          <a:xfrm>
            <a:off x="3149838" y="609600"/>
            <a:ext cx="678101" cy="264160"/>
          </a:xfrm>
          <a:custGeom>
            <a:avLst/>
            <a:gdLst/>
            <a:ahLst/>
            <a:cxnLst/>
            <a:rect l="l" t="t" r="r" b="b"/>
            <a:pathLst>
              <a:path w="678101" h="264160">
                <a:moveTo>
                  <a:pt x="132080" y="0"/>
                </a:moveTo>
                <a:lnTo>
                  <a:pt x="546021" y="0"/>
                </a:lnTo>
                <a:arcTo hR="132080" wR="132080" stAng="16200000" swAng="5400000"/>
                <a:lnTo>
                  <a:pt x="678101" y="132080"/>
                </a:lnTo>
                <a:arcTo hR="132080" wR="132080" stAng="0" swAng="5400000"/>
                <a:lnTo>
                  <a:pt x="132080" y="264160"/>
                </a:lnTo>
                <a:arcTo hR="132080" wR="132080" stAng="5400000" swAng="5400000"/>
                <a:lnTo>
                  <a:pt x="0" y="132080"/>
                </a:lnTo>
                <a:arcTo hR="132080" wR="132080" stAng="10800000" swAng="5400000"/>
                <a:close/>
              </a:path>
            </a:pathLst>
          </a:custGeom>
          <a:solidFill>
            <a:srgbClr val="E8E3D8"/>
          </a:solidFill>
          <a:ln/>
        </p:spPr>
        <p:txBody>
          <a:bodyPr wrap="none" lIns="0" tIns="0" rIns="0" bIns="0" rtlCol="0" anchor="ctr">
            <a:normAutofit/>
          </a:bodyPr>
          <a:lstStyle/>
          <a:p>
            <a:pPr algn="ctr" indent="0" marL="0">
              <a:lnSpc>
                <a:spcPts val="1680"/>
              </a:lnSpc>
              <a:buNone/>
            </a:pPr>
            <a:r>
              <a:rPr lang="en-US" sz="1200" b="1" dirty="0">
                <a:solidFill>
                  <a:srgbClr val="101828"/>
                </a:solidFill>
                <a:latin typeface="DM Sans" pitchFamily="34" charset="0"/>
                <a:ea typeface="DM Sans" pitchFamily="34" charset="-122"/>
                <a:cs typeface="DM Sans" pitchFamily="34" charset="-120"/>
              </a:rPr>
              <a:t>Senior</a:t>
            </a:r>
            <a:endParaRPr lang="en-US" sz="1200" dirty="0"/>
          </a:p>
        </p:txBody>
      </p:sp>
      <p:sp>
        <p:nvSpPr>
          <p:cNvPr id="4" name="Text 2"/>
          <p:cNvSpPr/>
          <p:nvPr>
            <p:ph type="title"/>
          </p:nvPr>
        </p:nvSpPr>
        <p:spPr>
          <a:xfrm>
            <a:off x="812800" y="949958"/>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01828"/>
                </a:solidFill>
                <a:latin typeface="Poppins" pitchFamily="34" charset="0"/>
                <a:ea typeface="Poppins" pitchFamily="34" charset="-122"/>
                <a:cs typeface="Poppins" pitchFamily="34" charset="-120"/>
              </a:rPr>
              <a:t>Members’ wallets</a:t>
            </a:r>
            <a:endParaRPr lang="en-US" sz="2800" dirty="0"/>
          </a:p>
        </p:txBody>
      </p:sp>
      <p:sp>
        <p:nvSpPr>
          <p:cNvPr id="5" name="Text 3"/>
          <p:cNvSpPr/>
          <p:nvPr/>
        </p:nvSpPr>
        <p:spPr>
          <a:xfrm>
            <a:off x="879157" y="1612900"/>
            <a:ext cx="3954971" cy="1518920"/>
          </a:xfrm>
          <a:prstGeom prst="rect">
            <a:avLst/>
          </a:prstGeom>
          <a:noFill/>
          <a:ln/>
        </p:spPr>
        <p:txBody>
          <a:bodyPr wrap="square" lIns="0" tIns="0" rIns="0" bIns="0" rtlCol="0" anchor="t">
            <a:normAutofit/>
          </a:bodyPr>
          <a:lstStyle/>
          <a:p>
            <a:pPr algn="l" marL="187643" indent="-187643">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Players &amp; logins</a:t>
            </a:r>
            <a:r>
              <a:rPr lang="en-US" sz="1400" dirty="0">
                <a:solidFill>
                  <a:srgbClr val="3D4A5C"/>
                </a:solidFill>
                <a:latin typeface="DM Sans" pitchFamily="34" charset="0"/>
                <a:ea typeface="DM Sans" pitchFamily="34" charset="-122"/>
                <a:cs typeface="DM Sans" pitchFamily="34" charset="-120"/>
              </a:rPr>
              <a:t> → </a:t>
            </a:r>
            <a:r>
              <a:rPr lang="en-US" sz="1400" b="1" dirty="0">
                <a:solidFill>
                  <a:srgbClr val="3D4A5C"/>
                </a:solidFill>
                <a:latin typeface="DM Sans" pitchFamily="34" charset="0"/>
                <a:ea typeface="DM Sans" pitchFamily="34" charset="-122"/>
                <a:cs typeface="DM Sans" pitchFamily="34" charset="-120"/>
              </a:rPr>
              <a:t>Who can sign in</a:t>
            </a:r>
            <a:r>
              <a:rPr lang="en-US" sz="1400" dirty="0">
                <a:solidFill>
                  <a:srgbClr val="3D4A5C"/>
                </a:solidFill>
                <a:latin typeface="DM Sans" pitchFamily="34" charset="0"/>
                <a:ea typeface="DM Sans" pitchFamily="34" charset="-122"/>
                <a:cs typeface="DM Sans" pitchFamily="34" charset="-120"/>
              </a:rPr>
              <a:t> lists everyone with their balance.</a:t>
            </a:r>
            <a:endParaRPr lang="en-US" sz="1400" dirty="0"/>
          </a:p>
          <a:p>
            <a:pPr algn="l" marL="187643" indent="-187643">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Adjust</a:t>
            </a:r>
            <a:r>
              <a:rPr lang="en-US" sz="1400" dirty="0">
                <a:solidFill>
                  <a:srgbClr val="3D4A5C"/>
                </a:solidFill>
                <a:latin typeface="DM Sans" pitchFamily="34" charset="0"/>
                <a:ea typeface="DM Sans" pitchFamily="34" charset="-122"/>
                <a:cs typeface="DM Sans" pitchFamily="34" charset="-120"/>
              </a:rPr>
              <a:t> adds or takes off credit: the amount, then the reason.</a:t>
            </a:r>
            <a:endParaRPr lang="en-US" sz="1400" dirty="0"/>
          </a:p>
          <a:p>
            <a:pPr algn="l" marL="187643" indent="-187643">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Card top-ups arrive in wallets by themselves.</a:t>
            </a:r>
            <a:endParaRPr lang="en-US" sz="1400" dirty="0"/>
          </a:p>
        </p:txBody>
      </p:sp>
      <p:sp>
        <p:nvSpPr>
          <p:cNvPr id="6" name="Text 4"/>
          <p:cNvSpPr/>
          <p:nvPr/>
        </p:nvSpPr>
        <p:spPr>
          <a:xfrm>
            <a:off x="819150" y="3265177"/>
            <a:ext cx="3898900" cy="952500"/>
          </a:xfrm>
          <a:prstGeom prst="roundRect">
            <a:avLst>
              <a:gd name="adj" fmla="val 10000"/>
            </a:avLst>
          </a:prstGeom>
          <a:solidFill>
            <a:srgbClr val="FFFDF9"/>
          </a:solidFill>
          <a:ln w="12700">
            <a:solidFill>
              <a:srgbClr val="E4DED3"/>
            </a:solidFill>
            <a:prstDash val="solid"/>
          </a:ln>
        </p:spPr>
        <p:txBody>
          <a:bodyPr wrap="square" lIns="153712" tIns="128312" rIns="47642" bIns="102912" rtlCol="0" anchor="t">
            <a:normAutofit/>
          </a:bodyPr>
          <a:lstStyle/>
          <a:p>
            <a:pPr algn="l" indent="0" marL="0">
              <a:lnSpc>
                <a:spcPts val="1680"/>
              </a:lnSpc>
              <a:buNone/>
            </a:pPr>
            <a:r>
              <a:rPr lang="en-US" sz="1200" b="1" dirty="0">
                <a:solidFill>
                  <a:srgbClr val="3D4A5C"/>
                </a:solidFill>
                <a:latin typeface="DM Sans" pitchFamily="34" charset="0"/>
                <a:ea typeface="DM Sans" pitchFamily="34" charset="-122"/>
                <a:cs typeface="DM Sans" pitchFamily="34" charset="-120"/>
              </a:rPr>
              <a:t>When to adjust:</a:t>
            </a:r>
            <a:r>
              <a:rPr lang="en-US" sz="1200" dirty="0">
                <a:solidFill>
                  <a:srgbClr val="3D4A5C"/>
                </a:solidFill>
                <a:latin typeface="DM Sans" pitchFamily="34" charset="0"/>
                <a:ea typeface="DM Sans" pitchFamily="34" charset="-122"/>
                <a:cs typeface="DM Sans" pitchFamily="34" charset="-120"/>
              </a:rPr>
              <a:t> a refund made outside Stripe, or putting a mistake right. The reason is saved with it.</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Who can sign in, listing members with their wallet balances">    </p:cNvPr>
          <p:cNvPicPr>
            <a:picLocks noChangeAspect="1"/>
          </p:cNvPicPr>
          <p:nvPr/>
        </p:nvPicPr>
        <p:blipFill>
          <a:blip r:embed="rId1"/>
          <a:srcRect l="-121" r="-121" t="0" b="0"/>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r>
          <p:cNvPicPr>
            <a:picLocks noChangeAspect="1"/>
          </p:cNvPicPr>
          <p:nvPr/>
        </p:nvPicPr>
        <p:blipFill>
          <a:blip r:embed="rId2"/>
          <a:srcRect l="0" r="0" t="-149" b="-149"/>
          <a:stretch/>
        </p:blipFill>
        <p:spPr>
          <a:xfrm>
            <a:off x="10109200" y="6229350"/>
            <a:ext cx="1270000" cy="2857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635000"/>
            <a:ext cx="2337038"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DM Sans" pitchFamily="34" charset="0"/>
                <a:ea typeface="DM Sans" pitchFamily="34" charset="-122"/>
                <a:cs typeface="DM Sans" pitchFamily="34" charset="-120"/>
              </a:rPr>
              <a:t>4 · MONEY AND REPORTS</a:t>
            </a:r>
            <a:endParaRPr lang="en-US" sz="1200" dirty="0"/>
          </a:p>
        </p:txBody>
      </p:sp>
      <p:sp>
        <p:nvSpPr>
          <p:cNvPr id="3" name="Text 1"/>
          <p:cNvSpPr/>
          <p:nvPr/>
        </p:nvSpPr>
        <p:spPr>
          <a:xfrm>
            <a:off x="3149838" y="609600"/>
            <a:ext cx="1635998" cy="264160"/>
          </a:xfrm>
          <a:custGeom>
            <a:avLst/>
            <a:gdLst/>
            <a:ahLst/>
            <a:cxnLst/>
            <a:rect l="l" t="t" r="r" b="b"/>
            <a:pathLst>
              <a:path w="1635998" h="264160">
                <a:moveTo>
                  <a:pt x="132080" y="0"/>
                </a:moveTo>
                <a:lnTo>
                  <a:pt x="1503918" y="0"/>
                </a:lnTo>
                <a:arcTo hR="132080" wR="132080" stAng="16200000" swAng="5400000"/>
                <a:lnTo>
                  <a:pt x="1635998" y="132080"/>
                </a:lnTo>
                <a:arcTo hR="132080" wR="132080" stAng="0" swAng="5400000"/>
                <a:lnTo>
                  <a:pt x="132080" y="264160"/>
                </a:lnTo>
                <a:arcTo hR="132080" wR="132080" stAng="5400000" swAng="5400000"/>
                <a:lnTo>
                  <a:pt x="0" y="132080"/>
                </a:lnTo>
                <a:arcTo hR="132080" wR="132080" stAng="10800000" swAng="5400000"/>
                <a:close/>
              </a:path>
            </a:pathLst>
          </a:custGeom>
          <a:solidFill>
            <a:srgbClr val="E8E3D8"/>
          </a:solidFill>
          <a:ln/>
        </p:spPr>
        <p:txBody>
          <a:bodyPr wrap="none" lIns="0" tIns="0" rIns="0" bIns="0" rtlCol="0" anchor="ctr">
            <a:normAutofit/>
          </a:bodyPr>
          <a:lstStyle/>
          <a:p>
            <a:pPr algn="ctr" indent="0" marL="0">
              <a:lnSpc>
                <a:spcPts val="1680"/>
              </a:lnSpc>
              <a:buNone/>
            </a:pPr>
            <a:r>
              <a:rPr lang="en-US" sz="1200" b="1" dirty="0">
                <a:solidFill>
                  <a:srgbClr val="101828"/>
                </a:solidFill>
                <a:latin typeface="DM Sans" pitchFamily="34" charset="0"/>
                <a:ea typeface="DM Sans" pitchFamily="34" charset="-122"/>
                <a:cs typeface="DM Sans" pitchFamily="34" charset="-120"/>
              </a:rPr>
              <a:t>Committee · Senior</a:t>
            </a:r>
            <a:endParaRPr lang="en-US" sz="1200" dirty="0"/>
          </a:p>
        </p:txBody>
      </p:sp>
      <p:sp>
        <p:nvSpPr>
          <p:cNvPr id="4" name="Text 2"/>
          <p:cNvSpPr/>
          <p:nvPr>
            <p:ph type="title"/>
          </p:nvPr>
        </p:nvSpPr>
        <p:spPr>
          <a:xfrm>
            <a:off x="812800" y="949958"/>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01828"/>
                </a:solidFill>
                <a:latin typeface="Poppins" pitchFamily="34" charset="0"/>
                <a:ea typeface="Poppins" pitchFamily="34" charset="-122"/>
                <a:cs typeface="Poppins" pitchFamily="34" charset="-120"/>
              </a:rPr>
              <a:t>The money report</a:t>
            </a:r>
            <a:endParaRPr lang="en-US" sz="2800" dirty="0"/>
          </a:p>
        </p:txBody>
      </p:sp>
      <p:sp>
        <p:nvSpPr>
          <p:cNvPr id="5" name="Text 3"/>
          <p:cNvSpPr/>
          <p:nvPr/>
        </p:nvSpPr>
        <p:spPr>
          <a:xfrm>
            <a:off x="876300" y="1612900"/>
            <a:ext cx="3957828" cy="1767840"/>
          </a:xfrm>
          <a:prstGeom prst="rect">
            <a:avLst/>
          </a:prstGeom>
          <a:noFill/>
          <a:ln/>
        </p:spPr>
        <p:txBody>
          <a:bodyPr wrap="square" lIns="0" tIns="0" rIns="0" bIns="0" rtlCol="0" anchor="t">
            <a:normAutofit/>
          </a:bodyPr>
          <a:lstStyle/>
          <a:p>
            <a:pPr algn="l" marL="190500" indent="-190500">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Reports</a:t>
            </a:r>
            <a:r>
              <a:rPr lang="en-US" sz="1400" dirty="0">
                <a:solidFill>
                  <a:srgbClr val="3D4A5C"/>
                </a:solidFill>
                <a:latin typeface="DM Sans" pitchFamily="34" charset="0"/>
                <a:ea typeface="DM Sans" pitchFamily="34" charset="-122"/>
                <a:cs typeface="DM Sans" pitchFamily="34" charset="-120"/>
              </a:rPr>
              <a:t> → </a:t>
            </a:r>
            <a:r>
              <a:rPr lang="en-US" sz="1400" b="1" dirty="0">
                <a:solidFill>
                  <a:srgbClr val="3D4A5C"/>
                </a:solidFill>
                <a:latin typeface="DM Sans" pitchFamily="34" charset="0"/>
                <a:ea typeface="DM Sans" pitchFamily="34" charset="-122"/>
                <a:cs typeface="DM Sans" pitchFamily="34" charset="-120"/>
              </a:rPr>
              <a:t>Wallet &amp; money</a:t>
            </a:r>
            <a:r>
              <a:rPr lang="en-US" sz="1400" dirty="0">
                <a:solidFill>
                  <a:srgbClr val="3D4A5C"/>
                </a:solidFill>
                <a:latin typeface="DM Sans" pitchFamily="34" charset="0"/>
                <a:ea typeface="DM Sans" pitchFamily="34" charset="-122"/>
                <a:cs typeface="DM Sans" pitchFamily="34" charset="-120"/>
              </a:rPr>
              <a:t>.</a:t>
            </a:r>
            <a:endParaRPr lang="en-US" sz="1400" dirty="0"/>
          </a:p>
          <a:p>
            <a:pPr algn="l" marL="190500" indent="-190500">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Choose the dates (or </a:t>
            </a:r>
            <a:r>
              <a:rPr lang="en-US" sz="1400" b="1" dirty="0">
                <a:solidFill>
                  <a:srgbClr val="3D4A5C"/>
                </a:solidFill>
                <a:latin typeface="DM Sans" pitchFamily="34" charset="0"/>
                <a:ea typeface="DM Sans" pitchFamily="34" charset="-122"/>
                <a:cs typeface="DM Sans" pitchFamily="34" charset="-120"/>
              </a:rPr>
              <a:t>Last month</a:t>
            </a:r>
            <a:r>
              <a:rPr lang="en-US" sz="1400" dirty="0">
                <a:solidFill>
                  <a:srgbClr val="3D4A5C"/>
                </a:solidFill>
                <a:latin typeface="DM Sans" pitchFamily="34" charset="0"/>
                <a:ea typeface="DM Sans" pitchFamily="34" charset="-122"/>
                <a:cs typeface="DM Sans" pitchFamily="34" charset="-120"/>
              </a:rPr>
              <a:t>) and </a:t>
            </a:r>
            <a:r>
              <a:rPr lang="en-US" sz="1400" b="1" dirty="0">
                <a:solidFill>
                  <a:srgbClr val="3D4A5C"/>
                </a:solidFill>
                <a:latin typeface="DM Sans" pitchFamily="34" charset="0"/>
                <a:ea typeface="DM Sans" pitchFamily="34" charset="-122"/>
                <a:cs typeface="DM Sans" pitchFamily="34" charset="-120"/>
              </a:rPr>
              <a:t>Run report</a:t>
            </a:r>
            <a:r>
              <a:rPr lang="en-US" sz="1400" dirty="0">
                <a:solidFill>
                  <a:srgbClr val="3D4A5C"/>
                </a:solidFill>
                <a:latin typeface="DM Sans" pitchFamily="34" charset="0"/>
                <a:ea typeface="DM Sans" pitchFamily="34" charset="-122"/>
                <a:cs typeface="DM Sans" pitchFamily="34" charset="-120"/>
              </a:rPr>
              <a:t>.</a:t>
            </a:r>
            <a:endParaRPr lang="en-US" sz="1400" dirty="0"/>
          </a:p>
          <a:p>
            <a:pPr algn="l" marL="190500" indent="-190500">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Totals in and out, and a line confirming it adds up.</a:t>
            </a:r>
            <a:endParaRPr lang="en-US" sz="1400" dirty="0"/>
          </a:p>
          <a:p>
            <a:pPr algn="l" marL="190500" indent="-190500">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Download transactions (CSV)</a:t>
            </a:r>
            <a:r>
              <a:rPr lang="en-US" sz="1400" dirty="0">
                <a:solidFill>
                  <a:srgbClr val="3D4A5C"/>
                </a:solidFill>
                <a:latin typeface="DM Sans" pitchFamily="34" charset="0"/>
                <a:ea typeface="DM Sans" pitchFamily="34" charset="-122"/>
                <a:cs typeface="DM Sans" pitchFamily="34" charset="-120"/>
              </a:rPr>
              <a:t> for the treasurer.</a:t>
            </a:r>
            <a:endParaRPr lang="en-US" sz="1400" dirty="0"/>
          </a:p>
        </p:txBody>
      </p:sp>
      <p:sp>
        <p:nvSpPr>
          <p:cNvPr id="6" name="Text 4"/>
          <p:cNvSpPr/>
          <p:nvPr/>
        </p:nvSpPr>
        <p:spPr>
          <a:xfrm>
            <a:off x="819150" y="3514092"/>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algn="l" indent="0" marL="0">
              <a:lnSpc>
                <a:spcPts val="1680"/>
              </a:lnSpc>
              <a:buNone/>
            </a:pPr>
            <a:r>
              <a:rPr lang="en-US" sz="1200" b="1" dirty="0">
                <a:solidFill>
                  <a:srgbClr val="3D4A5C"/>
                </a:solidFill>
                <a:latin typeface="DM Sans" pitchFamily="34" charset="0"/>
                <a:ea typeface="DM Sans" pitchFamily="34" charset="-122"/>
                <a:cs typeface="DM Sans" pitchFamily="34" charset="-120"/>
              </a:rPr>
              <a:t>Memberships</a:t>
            </a:r>
            <a:r>
              <a:rPr lang="en-US" sz="1200" dirty="0">
                <a:solidFill>
                  <a:srgbClr val="3D4A5C"/>
                </a:solidFill>
                <a:latin typeface="DM Sans" pitchFamily="34" charset="0"/>
                <a:ea typeface="DM Sans" pitchFamily="34" charset="-122"/>
                <a:cs typeface="DM Sans" pitchFamily="34" charset="-120"/>
              </a:rPr>
              <a:t> have their own tab in Reports (section 6).</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The Wallet and money report with its totals ringed">    </p:cNvPr>
          <p:cNvPicPr>
            <a:picLocks noChangeAspect="1"/>
          </p:cNvPicPr>
          <p:nvPr/>
        </p:nvPicPr>
        <p:blipFill>
          <a:blip r:embed="rId1"/>
          <a:srcRect l="-121" r="-121" t="0" b="0"/>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r>
          <p:cNvPicPr>
            <a:picLocks noChangeAspect="1"/>
          </p:cNvPicPr>
          <p:nvPr/>
        </p:nvPicPr>
        <p:blipFill>
          <a:blip r:embed="rId2"/>
          <a:srcRect l="0" r="0" t="-149" b="-149"/>
          <a:stretch/>
        </p:blipFill>
        <p:spPr>
          <a:xfrm>
            <a:off x="10109200" y="6229350"/>
            <a:ext cx="1270000" cy="28575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97316"/>
          </a:solidFill>
          <a:ln/>
        </p:spPr>
      </p:sp>
      <p:sp>
        <p:nvSpPr>
          <p:cNvPr id="3" name="Text 1"/>
          <p:cNvSpPr/>
          <p:nvPr/>
        </p:nvSpPr>
        <p:spPr>
          <a:xfrm>
            <a:off x="812800" y="1954535"/>
            <a:ext cx="10883392"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97316"/>
                </a:solidFill>
                <a:latin typeface="Poppins" pitchFamily="34" charset="0"/>
                <a:ea typeface="Poppins" pitchFamily="34" charset="-122"/>
                <a:cs typeface="Poppins" pitchFamily="34" charset="-120"/>
              </a:rPr>
              <a:t>5</a:t>
            </a:r>
            <a:endParaRPr lang="en-US" sz="6000" dirty="0"/>
          </a:p>
        </p:txBody>
      </p:sp>
      <p:sp>
        <p:nvSpPr>
          <p:cNvPr id="4" name="Text 2"/>
          <p:cNvSpPr/>
          <p:nvPr>
            <p:ph type="title"/>
          </p:nvPr>
        </p:nvSpPr>
        <p:spPr>
          <a:xfrm>
            <a:off x="812800" y="2919735"/>
            <a:ext cx="10883392" cy="66548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6F4EF"/>
                </a:solidFill>
                <a:latin typeface="Poppins" pitchFamily="34" charset="0"/>
                <a:ea typeface="Poppins" pitchFamily="34" charset="-122"/>
                <a:cs typeface="Poppins" pitchFamily="34" charset="-120"/>
              </a:rPr>
              <a:t>Club settings</a:t>
            </a:r>
            <a:endParaRPr lang="en-US" sz="4800" dirty="0"/>
          </a:p>
        </p:txBody>
      </p:sp>
      <p:sp>
        <p:nvSpPr>
          <p:cNvPr id="5" name="Text 3"/>
          <p:cNvSpPr/>
          <p:nvPr/>
        </p:nvSpPr>
        <p:spPr>
          <a:xfrm>
            <a:off x="812800" y="3763008"/>
            <a:ext cx="8502650" cy="6299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9D2E0"/>
                </a:solidFill>
                <a:latin typeface="DM Sans" pitchFamily="34" charset="0"/>
                <a:ea typeface="DM Sans" pitchFamily="34" charset="-122"/>
                <a:cs typeface="DM Sans" pitchFamily="34" charset="-120"/>
              </a:rPr>
              <a:t>Booking rules, joining online, children, and emergency contacts for everyone who plays.</a:t>
            </a:r>
            <a:endParaRPr lang="en-US" sz="1700" dirty="0"/>
          </a:p>
        </p:txBody>
      </p:sp>
      <p:sp>
        <p:nvSpPr>
          <p:cNvPr id="6" name="Text 4"/>
          <p:cNvSpPr/>
          <p:nvPr/>
        </p:nvSpPr>
        <p:spPr>
          <a:xfrm>
            <a:off x="812800" y="4570735"/>
            <a:ext cx="1157208" cy="332740"/>
          </a:xfrm>
          <a:prstGeom prst="roundRect">
            <a:avLst>
              <a:gd name="adj" fmla="val 50000"/>
            </a:avLst>
          </a:prstGeom>
          <a:solidFill>
            <a:srgbClr val="F97316"/>
          </a:solidFill>
          <a:ln/>
        </p:spPr>
        <p:txBody>
          <a:bodyPr wrap="none" lIns="0" tIns="0" rIns="0" bIns="0" rtlCol="0" anchor="ctr">
            <a:normAutofit/>
          </a:bodyPr>
          <a:lstStyle/>
          <a:p>
            <a:pPr algn="ctr" indent="0" marL="0">
              <a:lnSpc>
                <a:spcPts val="1820"/>
              </a:lnSpc>
              <a:buNone/>
            </a:pPr>
            <a:r>
              <a:rPr lang="en-US" sz="1300" b="1" dirty="0">
                <a:solidFill>
                  <a:srgbClr val="101828"/>
                </a:solidFill>
                <a:latin typeface="DM Sans" pitchFamily="34" charset="0"/>
                <a:ea typeface="DM Sans" pitchFamily="34" charset="-122"/>
                <a:cs typeface="DM Sans" pitchFamily="34" charset="-120"/>
              </a:rPr>
              <a:t>For: Senior</a:t>
            </a:r>
            <a:endParaRPr lang="en-US" sz="1300" dirty="0"/>
          </a:p>
        </p:txBody>
      </p:sp>
      <p:pic>
        <p:nvPicPr>
          <p:cNvPr id="7" name="Image 0" descr="twoclear">    </p:cNvPr>
          <p:cNvPicPr>
            <a:picLocks noChangeAspect="1"/>
          </p:cNvPicPr>
          <p:nvPr/>
        </p:nvPicPr>
        <p:blipFill>
          <a:blip r:embed="rId1"/>
          <a:srcRect l="-224" r="-224" t="0" b="0"/>
          <a:stretch/>
        </p:blipFill>
        <p:spPr>
          <a:xfrm>
            <a:off x="9474200" y="5822950"/>
            <a:ext cx="1905000" cy="42545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635000"/>
            <a:ext cx="1787208"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DM Sans" pitchFamily="34" charset="0"/>
                <a:ea typeface="DM Sans" pitchFamily="34" charset="-122"/>
                <a:cs typeface="DM Sans" pitchFamily="34" charset="-120"/>
              </a:rPr>
              <a:t>5 · CLUB SETTINGS</a:t>
            </a:r>
            <a:endParaRPr lang="en-US" sz="1200" dirty="0"/>
          </a:p>
        </p:txBody>
      </p:sp>
      <p:sp>
        <p:nvSpPr>
          <p:cNvPr id="3" name="Text 1"/>
          <p:cNvSpPr/>
          <p:nvPr/>
        </p:nvSpPr>
        <p:spPr>
          <a:xfrm>
            <a:off x="2600008" y="609600"/>
            <a:ext cx="678101" cy="264160"/>
          </a:xfrm>
          <a:custGeom>
            <a:avLst/>
            <a:gdLst/>
            <a:ahLst/>
            <a:cxnLst/>
            <a:rect l="l" t="t" r="r" b="b"/>
            <a:pathLst>
              <a:path w="678101" h="264160">
                <a:moveTo>
                  <a:pt x="132080" y="0"/>
                </a:moveTo>
                <a:lnTo>
                  <a:pt x="546021" y="0"/>
                </a:lnTo>
                <a:arcTo hR="132080" wR="132080" stAng="16200000" swAng="5400000"/>
                <a:lnTo>
                  <a:pt x="678101" y="132080"/>
                </a:lnTo>
                <a:arcTo hR="132080" wR="132080" stAng="0" swAng="5400000"/>
                <a:lnTo>
                  <a:pt x="132080" y="264160"/>
                </a:lnTo>
                <a:arcTo hR="132080" wR="132080" stAng="5400000" swAng="5400000"/>
                <a:lnTo>
                  <a:pt x="0" y="132080"/>
                </a:lnTo>
                <a:arcTo hR="132080" wR="132080" stAng="10800000" swAng="5400000"/>
                <a:close/>
              </a:path>
            </a:pathLst>
          </a:custGeom>
          <a:solidFill>
            <a:srgbClr val="E8E3D8"/>
          </a:solidFill>
          <a:ln/>
        </p:spPr>
        <p:txBody>
          <a:bodyPr wrap="none" lIns="0" tIns="0" rIns="0" bIns="0" rtlCol="0" anchor="ctr">
            <a:normAutofit/>
          </a:bodyPr>
          <a:lstStyle/>
          <a:p>
            <a:pPr algn="ctr" indent="0" marL="0">
              <a:lnSpc>
                <a:spcPts val="1680"/>
              </a:lnSpc>
              <a:buNone/>
            </a:pPr>
            <a:r>
              <a:rPr lang="en-US" sz="1200" b="1" dirty="0">
                <a:solidFill>
                  <a:srgbClr val="101828"/>
                </a:solidFill>
                <a:latin typeface="DM Sans" pitchFamily="34" charset="0"/>
                <a:ea typeface="DM Sans" pitchFamily="34" charset="-122"/>
                <a:cs typeface="DM Sans" pitchFamily="34" charset="-120"/>
              </a:rPr>
              <a:t>Senior</a:t>
            </a:r>
            <a:endParaRPr lang="en-US" sz="1200" dirty="0"/>
          </a:p>
        </p:txBody>
      </p:sp>
      <p:sp>
        <p:nvSpPr>
          <p:cNvPr id="4" name="Text 2"/>
          <p:cNvSpPr/>
          <p:nvPr>
            <p:ph type="title"/>
          </p:nvPr>
        </p:nvSpPr>
        <p:spPr>
          <a:xfrm>
            <a:off x="812800" y="949958"/>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01828"/>
                </a:solidFill>
                <a:latin typeface="Poppins" pitchFamily="34" charset="0"/>
                <a:ea typeface="Poppins" pitchFamily="34" charset="-122"/>
                <a:cs typeface="Poppins" pitchFamily="34" charset="-120"/>
              </a:rPr>
              <a:t>Booking rules</a:t>
            </a:r>
            <a:endParaRPr lang="en-US" sz="2800" dirty="0"/>
          </a:p>
        </p:txBody>
      </p:sp>
      <p:sp>
        <p:nvSpPr>
          <p:cNvPr id="5" name="Text 3"/>
          <p:cNvSpPr/>
          <p:nvPr/>
        </p:nvSpPr>
        <p:spPr>
          <a:xfrm>
            <a:off x="876300" y="1612900"/>
            <a:ext cx="3957828" cy="1518920"/>
          </a:xfrm>
          <a:prstGeom prst="rect">
            <a:avLst/>
          </a:prstGeom>
          <a:noFill/>
          <a:ln/>
        </p:spPr>
        <p:txBody>
          <a:bodyPr wrap="square" lIns="0" tIns="0" rIns="0" bIns="0" rtlCol="0" anchor="t">
            <a:normAutofit/>
          </a:bodyPr>
          <a:lstStyle/>
          <a:p>
            <a:pPr algn="l" marL="190500" indent="-190500">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The usual price a new session starts at.</a:t>
            </a:r>
            <a:endParaRPr lang="en-US" sz="1400" dirty="0"/>
          </a:p>
          <a:p>
            <a:pPr algn="l" marL="190500" indent="-190500">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How many days before a session booking opens.</a:t>
            </a:r>
            <a:endParaRPr lang="en-US" sz="1400" dirty="0"/>
          </a:p>
          <a:p>
            <a:pPr algn="l" marL="190500" indent="-190500">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Lock sessions before the start</a:t>
            </a:r>
            <a:r>
              <a:rPr lang="en-US" sz="1400" dirty="0">
                <a:solidFill>
                  <a:srgbClr val="3D4A5C"/>
                </a:solidFill>
                <a:latin typeface="DM Sans" pitchFamily="34" charset="0"/>
                <a:ea typeface="DM Sans" pitchFamily="34" charset="-122"/>
                <a:cs typeface="DM Sans" pitchFamily="34" charset="-120"/>
              </a:rPr>
              <a:t>: the list freezes and late cancellers lose their fee.</a:t>
            </a:r>
            <a:endParaRPr lang="en-US" sz="1400" dirty="0"/>
          </a:p>
          <a:p>
            <a:pPr algn="l" marL="190500" indent="-190500">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Whether visitors can see who’s booked.</a:t>
            </a:r>
            <a:endParaRPr lang="en-US" sz="1400" dirty="0"/>
          </a:p>
        </p:txBody>
      </p:sp>
      <p:sp>
        <p:nvSpPr>
          <p:cNvPr id="6" name="Text 4"/>
          <p:cNvSpPr/>
          <p:nvPr/>
        </p:nvSpPr>
        <p:spPr>
          <a:xfrm>
            <a:off x="819150" y="3265177"/>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algn="l" indent="0" marL="0">
              <a:lnSpc>
                <a:spcPts val="1680"/>
              </a:lnSpc>
              <a:buNone/>
            </a:pPr>
            <a:r>
              <a:rPr lang="en-US" sz="1200" b="1" dirty="0">
                <a:solidFill>
                  <a:srgbClr val="3D4A5C"/>
                </a:solidFill>
                <a:latin typeface="DM Sans" pitchFamily="34" charset="0"/>
                <a:ea typeface="DM Sans" pitchFamily="34" charset="-122"/>
                <a:cs typeface="DM Sans" pitchFamily="34" charset="-120"/>
              </a:rPr>
              <a:t>Save club settings</a:t>
            </a:r>
            <a:r>
              <a:rPr lang="en-US" sz="1200" dirty="0">
                <a:solidFill>
                  <a:srgbClr val="3D4A5C"/>
                </a:solidFill>
                <a:latin typeface="DM Sans" pitchFamily="34" charset="0"/>
                <a:ea typeface="DM Sans" pitchFamily="34" charset="-122"/>
                <a:cs typeface="DM Sans" pitchFamily="34" charset="-120"/>
              </a:rPr>
              <a:t> when you’ve finished. Only what you changed is saved.</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The Lock sessions before the start setting, ringed">    </p:cNvPr>
          <p:cNvPicPr>
            <a:picLocks noChangeAspect="1"/>
          </p:cNvPicPr>
          <p:nvPr/>
        </p:nvPicPr>
        <p:blipFill>
          <a:blip r:embed="rId1"/>
          <a:srcRect l="-121" r="-121" t="0" b="0"/>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r>
          <p:cNvPicPr>
            <a:picLocks noChangeAspect="1"/>
          </p:cNvPicPr>
          <p:nvPr/>
        </p:nvPicPr>
        <p:blipFill>
          <a:blip r:embed="rId2"/>
          <a:srcRect l="0" r="0" t="-149" b="-149"/>
          <a:stretch/>
        </p:blipFill>
        <p:spPr>
          <a:xfrm>
            <a:off x="10109200" y="6229350"/>
            <a:ext cx="1270000" cy="28575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635000"/>
            <a:ext cx="1787208"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DM Sans" pitchFamily="34" charset="0"/>
                <a:ea typeface="DM Sans" pitchFamily="34" charset="-122"/>
                <a:cs typeface="DM Sans" pitchFamily="34" charset="-120"/>
              </a:rPr>
              <a:t>5 · CLUB SETTINGS</a:t>
            </a:r>
            <a:endParaRPr lang="en-US" sz="1200" dirty="0"/>
          </a:p>
        </p:txBody>
      </p:sp>
      <p:sp>
        <p:nvSpPr>
          <p:cNvPr id="3" name="Text 1"/>
          <p:cNvSpPr/>
          <p:nvPr/>
        </p:nvSpPr>
        <p:spPr>
          <a:xfrm>
            <a:off x="2600008" y="609600"/>
            <a:ext cx="678101" cy="264160"/>
          </a:xfrm>
          <a:custGeom>
            <a:avLst/>
            <a:gdLst/>
            <a:ahLst/>
            <a:cxnLst/>
            <a:rect l="l" t="t" r="r" b="b"/>
            <a:pathLst>
              <a:path w="678101" h="264160">
                <a:moveTo>
                  <a:pt x="132080" y="0"/>
                </a:moveTo>
                <a:lnTo>
                  <a:pt x="546021" y="0"/>
                </a:lnTo>
                <a:arcTo hR="132080" wR="132080" stAng="16200000" swAng="5400000"/>
                <a:lnTo>
                  <a:pt x="678101" y="132080"/>
                </a:lnTo>
                <a:arcTo hR="132080" wR="132080" stAng="0" swAng="5400000"/>
                <a:lnTo>
                  <a:pt x="132080" y="264160"/>
                </a:lnTo>
                <a:arcTo hR="132080" wR="132080" stAng="5400000" swAng="5400000"/>
                <a:lnTo>
                  <a:pt x="0" y="132080"/>
                </a:lnTo>
                <a:arcTo hR="132080" wR="132080" stAng="10800000" swAng="5400000"/>
                <a:close/>
              </a:path>
            </a:pathLst>
          </a:custGeom>
          <a:solidFill>
            <a:srgbClr val="E8E3D8"/>
          </a:solidFill>
          <a:ln/>
        </p:spPr>
        <p:txBody>
          <a:bodyPr wrap="none" lIns="0" tIns="0" rIns="0" bIns="0" rtlCol="0" anchor="ctr">
            <a:normAutofit/>
          </a:bodyPr>
          <a:lstStyle/>
          <a:p>
            <a:pPr algn="ctr" indent="0" marL="0">
              <a:lnSpc>
                <a:spcPts val="1680"/>
              </a:lnSpc>
              <a:buNone/>
            </a:pPr>
            <a:r>
              <a:rPr lang="en-US" sz="1200" b="1" dirty="0">
                <a:solidFill>
                  <a:srgbClr val="101828"/>
                </a:solidFill>
                <a:latin typeface="DM Sans" pitchFamily="34" charset="0"/>
                <a:ea typeface="DM Sans" pitchFamily="34" charset="-122"/>
                <a:cs typeface="DM Sans" pitchFamily="34" charset="-120"/>
              </a:rPr>
              <a:t>Senior</a:t>
            </a:r>
            <a:endParaRPr lang="en-US" sz="1200" dirty="0"/>
          </a:p>
        </p:txBody>
      </p:sp>
      <p:sp>
        <p:nvSpPr>
          <p:cNvPr id="4" name="Text 2"/>
          <p:cNvSpPr/>
          <p:nvPr>
            <p:ph type="title"/>
          </p:nvPr>
        </p:nvSpPr>
        <p:spPr>
          <a:xfrm>
            <a:off x="812800" y="949958"/>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01828"/>
                </a:solidFill>
                <a:latin typeface="Poppins" pitchFamily="34" charset="0"/>
                <a:ea typeface="Poppins" pitchFamily="34" charset="-122"/>
                <a:cs typeface="Poppins" pitchFamily="34" charset="-120"/>
              </a:rPr>
              <a:t>Joining, children and emergency contacts</a:t>
            </a:r>
            <a:endParaRPr lang="en-US" sz="2800" dirty="0"/>
          </a:p>
        </p:txBody>
      </p:sp>
      <p:sp>
        <p:nvSpPr>
          <p:cNvPr id="5" name="Text 3"/>
          <p:cNvSpPr/>
          <p:nvPr/>
        </p:nvSpPr>
        <p:spPr>
          <a:xfrm>
            <a:off x="879157" y="1612900"/>
            <a:ext cx="3954971" cy="1767840"/>
          </a:xfrm>
          <a:prstGeom prst="rect">
            <a:avLst/>
          </a:prstGeom>
          <a:noFill/>
          <a:ln/>
        </p:spPr>
        <p:txBody>
          <a:bodyPr wrap="square" lIns="0" tIns="0" rIns="0" bIns="0" rtlCol="0" anchor="t">
            <a:normAutofit/>
          </a:bodyPr>
          <a:lstStyle/>
          <a:p>
            <a:pPr algn="l" marL="187643" indent="-187643">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Let new players join online</a:t>
            </a:r>
            <a:r>
              <a:rPr lang="en-US" sz="1400" dirty="0">
                <a:solidFill>
                  <a:srgbClr val="3D4A5C"/>
                </a:solidFill>
                <a:latin typeface="DM Sans" pitchFamily="34" charset="0"/>
                <a:ea typeface="DM Sans" pitchFamily="34" charset="-122"/>
                <a:cs typeface="DM Sans" pitchFamily="34" charset="-120"/>
              </a:rPr>
              <a:t> gives you a join link to share.</a:t>
            </a:r>
            <a:endParaRPr lang="en-US" sz="1400" dirty="0"/>
          </a:p>
          <a:p>
            <a:pPr algn="l" marL="187643" indent="-187643">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Members can add people they look after</a:t>
            </a:r>
            <a:r>
              <a:rPr lang="en-US" sz="1400" dirty="0">
                <a:solidFill>
                  <a:srgbClr val="3D4A5C"/>
                </a:solidFill>
                <a:latin typeface="DM Sans" pitchFamily="34" charset="0"/>
                <a:ea typeface="DM Sans" pitchFamily="34" charset="-122"/>
                <a:cs typeface="DM Sans" pitchFamily="34" charset="-120"/>
              </a:rPr>
              <a:t>: switch off if the club doesn’t take children.</a:t>
            </a:r>
            <a:endParaRPr lang="en-US" sz="1400" dirty="0"/>
          </a:p>
          <a:p>
            <a:pPr algn="l" marL="187643" indent="-187643">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Ask everyone who books for an emergency contact</a:t>
            </a:r>
            <a:r>
              <a:rPr lang="en-US" sz="1400" dirty="0">
                <a:solidFill>
                  <a:srgbClr val="3D4A5C"/>
                </a:solidFill>
                <a:latin typeface="DM Sans" pitchFamily="34" charset="0"/>
                <a:ea typeface="DM Sans" pitchFamily="34" charset="-122"/>
                <a:cs typeface="DM Sans" pitchFamily="34" charset="-120"/>
              </a:rPr>
              <a:t>: visitors too, before their first booking.</a:t>
            </a:r>
            <a:endParaRPr lang="en-US" sz="1400" dirty="0"/>
          </a:p>
        </p:txBody>
      </p:sp>
      <p:sp>
        <p:nvSpPr>
          <p:cNvPr id="6" name="Text 4"/>
          <p:cNvSpPr/>
          <p:nvPr/>
        </p:nvSpPr>
        <p:spPr>
          <a:xfrm>
            <a:off x="819150" y="3514092"/>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algn="l" indent="0" marL="0">
              <a:lnSpc>
                <a:spcPts val="1680"/>
              </a:lnSpc>
              <a:buNone/>
            </a:pPr>
            <a:r>
              <a:rPr lang="en-US" sz="1200" dirty="0">
                <a:solidFill>
                  <a:srgbClr val="3D4A5C"/>
                </a:solidFill>
                <a:latin typeface="DM Sans" pitchFamily="34" charset="0"/>
                <a:ea typeface="DM Sans" pitchFamily="34" charset="-122"/>
                <a:cs typeface="DM Sans" pitchFamily="34" charset="-120"/>
              </a:rPr>
              <a:t>Asking everyone for a contact? Add a line about it to the club’s privacy notice.</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The children and emergency contact switches in Club settings, the emergency contact switch ringed">    </p:cNvPr>
          <p:cNvPicPr>
            <a:picLocks noChangeAspect="1"/>
          </p:cNvPicPr>
          <p:nvPr/>
        </p:nvPicPr>
        <p:blipFill>
          <a:blip r:embed="rId1"/>
          <a:srcRect l="-121" r="-121" t="0" b="0"/>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r>
          <p:cNvPicPr>
            <a:picLocks noChangeAspect="1"/>
          </p:cNvPicPr>
          <p:nvPr/>
        </p:nvPicPr>
        <p:blipFill>
          <a:blip r:embed="rId2"/>
          <a:srcRect l="0" r="0" t="-149" b="-149"/>
          <a:stretch/>
        </p:blipFill>
        <p:spPr>
          <a:xfrm>
            <a:off x="10109200" y="6229350"/>
            <a:ext cx="1270000" cy="28575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97316"/>
          </a:solidFill>
          <a:ln/>
        </p:spPr>
      </p:sp>
      <p:sp>
        <p:nvSpPr>
          <p:cNvPr id="3" name="Text 1"/>
          <p:cNvSpPr/>
          <p:nvPr/>
        </p:nvSpPr>
        <p:spPr>
          <a:xfrm>
            <a:off x="812800" y="1954535"/>
            <a:ext cx="10883392"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97316"/>
                </a:solidFill>
                <a:latin typeface="Poppins" pitchFamily="34" charset="0"/>
                <a:ea typeface="Poppins" pitchFamily="34" charset="-122"/>
                <a:cs typeface="Poppins" pitchFamily="34" charset="-120"/>
              </a:rPr>
              <a:t>6</a:t>
            </a:r>
            <a:endParaRPr lang="en-US" sz="6000" dirty="0"/>
          </a:p>
        </p:txBody>
      </p:sp>
      <p:sp>
        <p:nvSpPr>
          <p:cNvPr id="4" name="Text 2"/>
          <p:cNvSpPr/>
          <p:nvPr>
            <p:ph type="title"/>
          </p:nvPr>
        </p:nvSpPr>
        <p:spPr>
          <a:xfrm>
            <a:off x="812800" y="2919735"/>
            <a:ext cx="10883392" cy="66548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6F4EF"/>
                </a:solidFill>
                <a:latin typeface="Poppins" pitchFamily="34" charset="0"/>
                <a:ea typeface="Poppins" pitchFamily="34" charset="-122"/>
                <a:cs typeface="Poppins" pitchFamily="34" charset="-120"/>
              </a:rPr>
              <a:t>Memberships</a:t>
            </a:r>
            <a:endParaRPr lang="en-US" sz="4800" dirty="0"/>
          </a:p>
        </p:txBody>
      </p:sp>
      <p:sp>
        <p:nvSpPr>
          <p:cNvPr id="5" name="Text 3"/>
          <p:cNvSpPr/>
          <p:nvPr/>
        </p:nvSpPr>
        <p:spPr>
          <a:xfrm>
            <a:off x="812800" y="3763008"/>
            <a:ext cx="8502650" cy="6299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9D2E0"/>
                </a:solidFill>
                <a:latin typeface="DM Sans" pitchFamily="34" charset="0"/>
                <a:ea typeface="DM Sans" pitchFamily="34" charset="-122"/>
                <a:cs typeface="DM Sans" pitchFamily="34" charset="-120"/>
              </a:rPr>
              <a:t>Membership types and prices, money paid to the club, the renewal round, and the treasurer’s report.</a:t>
            </a:r>
            <a:endParaRPr lang="en-US" sz="1700" dirty="0"/>
          </a:p>
        </p:txBody>
      </p:sp>
      <p:sp>
        <p:nvSpPr>
          <p:cNvPr id="6" name="Text 4"/>
          <p:cNvSpPr/>
          <p:nvPr/>
        </p:nvSpPr>
        <p:spPr>
          <a:xfrm>
            <a:off x="812800" y="4570735"/>
            <a:ext cx="3324225" cy="332740"/>
          </a:xfrm>
          <a:prstGeom prst="roundRect">
            <a:avLst>
              <a:gd name="adj" fmla="val 50000"/>
            </a:avLst>
          </a:prstGeom>
          <a:solidFill>
            <a:srgbClr val="F97316"/>
          </a:solidFill>
          <a:ln/>
        </p:spPr>
        <p:txBody>
          <a:bodyPr wrap="none" lIns="0" tIns="0" rIns="0" bIns="0" rtlCol="0" anchor="ctr">
            <a:normAutofit/>
          </a:bodyPr>
          <a:lstStyle/>
          <a:p>
            <a:pPr algn="ctr" indent="0" marL="0">
              <a:lnSpc>
                <a:spcPts val="1820"/>
              </a:lnSpc>
              <a:buNone/>
            </a:pPr>
            <a:r>
              <a:rPr lang="en-US" sz="1300" b="1" dirty="0">
                <a:solidFill>
                  <a:srgbClr val="101828"/>
                </a:solidFill>
                <a:latin typeface="DM Sans" pitchFamily="34" charset="0"/>
                <a:ea typeface="DM Sans" pitchFamily="34" charset="-122"/>
                <a:cs typeface="DM Sans" pitchFamily="34" charset="-120"/>
              </a:rPr>
              <a:t>For: Senior · Committee for the report</a:t>
            </a:r>
            <a:endParaRPr lang="en-US" sz="1300" dirty="0"/>
          </a:p>
        </p:txBody>
      </p:sp>
      <p:pic>
        <p:nvPicPr>
          <p:cNvPr id="7" name="Image 0" descr="twoclear">    </p:cNvPr>
          <p:cNvPicPr>
            <a:picLocks noChangeAspect="1"/>
          </p:cNvPicPr>
          <p:nvPr/>
        </p:nvPicPr>
        <p:blipFill>
          <a:blip r:embed="rId1"/>
          <a:srcRect l="-224" r="-224" t="0" b="0"/>
          <a:stretch/>
        </p:blipFill>
        <p:spPr>
          <a:xfrm>
            <a:off x="9474200" y="5822950"/>
            <a:ext cx="1905000" cy="42545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635000"/>
            <a:ext cx="166346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DM Sans" pitchFamily="34" charset="0"/>
                <a:ea typeface="DM Sans" pitchFamily="34" charset="-122"/>
                <a:cs typeface="DM Sans" pitchFamily="34" charset="-120"/>
              </a:rPr>
              <a:t>6 · MEMBERSHIPS</a:t>
            </a:r>
            <a:endParaRPr lang="en-US" sz="1200" dirty="0"/>
          </a:p>
        </p:txBody>
      </p:sp>
      <p:sp>
        <p:nvSpPr>
          <p:cNvPr id="3" name="Text 1"/>
          <p:cNvSpPr/>
          <p:nvPr/>
        </p:nvSpPr>
        <p:spPr>
          <a:xfrm>
            <a:off x="2476262" y="609600"/>
            <a:ext cx="678101" cy="264160"/>
          </a:xfrm>
          <a:custGeom>
            <a:avLst/>
            <a:gdLst/>
            <a:ahLst/>
            <a:cxnLst/>
            <a:rect l="l" t="t" r="r" b="b"/>
            <a:pathLst>
              <a:path w="678101" h="264160">
                <a:moveTo>
                  <a:pt x="132080" y="0"/>
                </a:moveTo>
                <a:lnTo>
                  <a:pt x="546021" y="0"/>
                </a:lnTo>
                <a:arcTo hR="132080" wR="132080" stAng="16200000" swAng="5400000"/>
                <a:lnTo>
                  <a:pt x="678101" y="132080"/>
                </a:lnTo>
                <a:arcTo hR="132080" wR="132080" stAng="0" swAng="5400000"/>
                <a:lnTo>
                  <a:pt x="132080" y="264160"/>
                </a:lnTo>
                <a:arcTo hR="132080" wR="132080" stAng="5400000" swAng="5400000"/>
                <a:lnTo>
                  <a:pt x="0" y="132080"/>
                </a:lnTo>
                <a:arcTo hR="132080" wR="132080" stAng="10800000" swAng="5400000"/>
                <a:close/>
              </a:path>
            </a:pathLst>
          </a:custGeom>
          <a:solidFill>
            <a:srgbClr val="E8E3D8"/>
          </a:solidFill>
          <a:ln/>
        </p:spPr>
        <p:txBody>
          <a:bodyPr wrap="none" lIns="0" tIns="0" rIns="0" bIns="0" rtlCol="0" anchor="ctr">
            <a:normAutofit/>
          </a:bodyPr>
          <a:lstStyle/>
          <a:p>
            <a:pPr algn="ctr" indent="0" marL="0">
              <a:lnSpc>
                <a:spcPts val="1680"/>
              </a:lnSpc>
              <a:buNone/>
            </a:pPr>
            <a:r>
              <a:rPr lang="en-US" sz="1200" b="1" dirty="0">
                <a:solidFill>
                  <a:srgbClr val="101828"/>
                </a:solidFill>
                <a:latin typeface="DM Sans" pitchFamily="34" charset="0"/>
                <a:ea typeface="DM Sans" pitchFamily="34" charset="-122"/>
                <a:cs typeface="DM Sans" pitchFamily="34" charset="-120"/>
              </a:rPr>
              <a:t>Senior</a:t>
            </a:r>
            <a:endParaRPr lang="en-US" sz="1200" dirty="0"/>
          </a:p>
        </p:txBody>
      </p:sp>
      <p:sp>
        <p:nvSpPr>
          <p:cNvPr id="4" name="Text 2"/>
          <p:cNvSpPr/>
          <p:nvPr>
            <p:ph type="title"/>
          </p:nvPr>
        </p:nvSpPr>
        <p:spPr>
          <a:xfrm>
            <a:off x="812800" y="949958"/>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01828"/>
                </a:solidFill>
                <a:latin typeface="Poppins" pitchFamily="34" charset="0"/>
                <a:ea typeface="Poppins" pitchFamily="34" charset="-122"/>
                <a:cs typeface="Poppins" pitchFamily="34" charset="-120"/>
              </a:rPr>
              <a:t>Membership types and prices</a:t>
            </a:r>
            <a:endParaRPr lang="en-US" sz="2800" dirty="0"/>
          </a:p>
        </p:txBody>
      </p:sp>
      <p:sp>
        <p:nvSpPr>
          <p:cNvPr id="5" name="Text 3"/>
          <p:cNvSpPr/>
          <p:nvPr/>
        </p:nvSpPr>
        <p:spPr>
          <a:xfrm>
            <a:off x="876300" y="1612900"/>
            <a:ext cx="3957828" cy="1518920"/>
          </a:xfrm>
          <a:prstGeom prst="rect">
            <a:avLst/>
          </a:prstGeom>
          <a:noFill/>
          <a:ln/>
        </p:spPr>
        <p:txBody>
          <a:bodyPr wrap="square" lIns="0" tIns="0" rIns="0" bIns="0" rtlCol="0" anchor="t">
            <a:normAutofit/>
          </a:bodyPr>
          <a:lstStyle/>
          <a:p>
            <a:pPr algn="l" marL="190500" indent="-190500">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Memberships</a:t>
            </a:r>
            <a:r>
              <a:rPr lang="en-US" sz="1400" dirty="0">
                <a:solidFill>
                  <a:srgbClr val="3D4A5C"/>
                </a:solidFill>
                <a:latin typeface="DM Sans" pitchFamily="34" charset="0"/>
                <a:ea typeface="DM Sans" pitchFamily="34" charset="-122"/>
                <a:cs typeface="DM Sans" pitchFamily="34" charset="-120"/>
              </a:rPr>
              <a:t> → </a:t>
            </a:r>
            <a:r>
              <a:rPr lang="en-US" sz="1400" b="1" dirty="0">
                <a:solidFill>
                  <a:srgbClr val="3D4A5C"/>
                </a:solidFill>
                <a:latin typeface="DM Sans" pitchFamily="34" charset="0"/>
                <a:ea typeface="DM Sans" pitchFamily="34" charset="-122"/>
                <a:cs typeface="DM Sans" pitchFamily="34" charset="-120"/>
              </a:rPr>
              <a:t>Edit</a:t>
            </a:r>
            <a:r>
              <a:rPr lang="en-US" sz="1400" dirty="0">
                <a:solidFill>
                  <a:srgbClr val="3D4A5C"/>
                </a:solidFill>
                <a:latin typeface="DM Sans" pitchFamily="34" charset="0"/>
                <a:ea typeface="DM Sans" pitchFamily="34" charset="-122"/>
                <a:cs typeface="DM Sans" pitchFamily="34" charset="-120"/>
              </a:rPr>
              <a:t> on a type.</a:t>
            </a:r>
            <a:endParaRPr lang="en-US" sz="1400" dirty="0"/>
          </a:p>
          <a:p>
            <a:pPr algn="l" marL="190500" indent="-190500">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Name and who it’s for, then its </a:t>
            </a:r>
            <a:r>
              <a:rPr lang="en-US" sz="1400" b="1" dirty="0">
                <a:solidFill>
                  <a:srgbClr val="3D4A5C"/>
                </a:solidFill>
                <a:latin typeface="DM Sans" pitchFamily="34" charset="0"/>
                <a:ea typeface="DM Sans" pitchFamily="34" charset="-122"/>
                <a:cs typeface="DM Sans" pitchFamily="34" charset="-120"/>
              </a:rPr>
              <a:t>Save</a:t>
            </a:r>
            <a:r>
              <a:rPr lang="en-US" sz="1400" dirty="0">
                <a:solidFill>
                  <a:srgbClr val="3D4A5C"/>
                </a:solidFill>
                <a:latin typeface="DM Sans" pitchFamily="34" charset="0"/>
                <a:ea typeface="DM Sans" pitchFamily="34" charset="-122"/>
                <a:cs typeface="DM Sans" pitchFamily="34" charset="-120"/>
              </a:rPr>
              <a:t>.</a:t>
            </a:r>
            <a:endParaRPr lang="en-US" sz="1400" dirty="0"/>
          </a:p>
          <a:p>
            <a:pPr algn="l" marL="190500" indent="-190500">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Correct the price</a:t>
            </a:r>
            <a:r>
              <a:rPr lang="en-US" sz="1400" dirty="0">
                <a:solidFill>
                  <a:srgbClr val="3D4A5C"/>
                </a:solidFill>
                <a:latin typeface="DM Sans" pitchFamily="34" charset="0"/>
                <a:ea typeface="DM Sans" pitchFamily="34" charset="-122"/>
                <a:cs typeface="DM Sans" pitchFamily="34" charset="-120"/>
              </a:rPr>
              <a:t> (nobody has joined) or </a:t>
            </a:r>
            <a:r>
              <a:rPr lang="en-US" sz="1400" b="1" dirty="0">
                <a:solidFill>
                  <a:srgbClr val="3D4A5C"/>
                </a:solidFill>
                <a:latin typeface="DM Sans" pitchFamily="34" charset="0"/>
                <a:ea typeface="DM Sans" pitchFamily="34" charset="-122"/>
                <a:cs typeface="DM Sans" pitchFamily="34" charset="-120"/>
              </a:rPr>
              <a:t>Set a new price</a:t>
            </a:r>
            <a:r>
              <a:rPr lang="en-US" sz="1400" dirty="0">
                <a:solidFill>
                  <a:srgbClr val="3D4A5C"/>
                </a:solidFill>
                <a:latin typeface="DM Sans" pitchFamily="34" charset="0"/>
                <a:ea typeface="DM Sans" pitchFamily="34" charset="-122"/>
                <a:cs typeface="DM Sans" pitchFamily="34" charset="-120"/>
              </a:rPr>
              <a:t>.</a:t>
            </a:r>
            <a:endParaRPr lang="en-US" sz="1400" dirty="0"/>
          </a:p>
          <a:p>
            <a:pPr algn="l" marL="190500" indent="-190500">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Joining part-way through the year: </a:t>
            </a:r>
            <a:r>
              <a:rPr lang="en-US" sz="1400" b="1" dirty="0">
                <a:solidFill>
                  <a:srgbClr val="3D4A5C"/>
                </a:solidFill>
                <a:latin typeface="DM Sans" pitchFamily="34" charset="0"/>
                <a:ea typeface="DM Sans" pitchFamily="34" charset="-122"/>
                <a:cs typeface="DM Sans" pitchFamily="34" charset="-120"/>
              </a:rPr>
              <a:t>by the day</a:t>
            </a:r>
            <a:r>
              <a:rPr lang="en-US" sz="1400" dirty="0">
                <a:solidFill>
                  <a:srgbClr val="3D4A5C"/>
                </a:solidFill>
                <a:latin typeface="DM Sans" pitchFamily="34" charset="0"/>
                <a:ea typeface="DM Sans" pitchFamily="34" charset="-122"/>
                <a:cs typeface="DM Sans" pitchFamily="34" charset="-120"/>
              </a:rPr>
              <a:t>, </a:t>
            </a:r>
            <a:r>
              <a:rPr lang="en-US" sz="1400" b="1" dirty="0">
                <a:solidFill>
                  <a:srgbClr val="3D4A5C"/>
                </a:solidFill>
                <a:latin typeface="DM Sans" pitchFamily="34" charset="0"/>
                <a:ea typeface="DM Sans" pitchFamily="34" charset="-122"/>
                <a:cs typeface="DM Sans" pitchFamily="34" charset="-120"/>
              </a:rPr>
              <a:t>prices from a month</a:t>
            </a:r>
            <a:r>
              <a:rPr lang="en-US" sz="1400" dirty="0">
                <a:solidFill>
                  <a:srgbClr val="3D4A5C"/>
                </a:solidFill>
                <a:latin typeface="DM Sans" pitchFamily="34" charset="0"/>
                <a:ea typeface="DM Sans" pitchFamily="34" charset="-122"/>
                <a:cs typeface="DM Sans" pitchFamily="34" charset="-120"/>
              </a:rPr>
              <a:t>, or the </a:t>
            </a:r>
            <a:r>
              <a:rPr lang="en-US" sz="1400" b="1" dirty="0">
                <a:solidFill>
                  <a:srgbClr val="3D4A5C"/>
                </a:solidFill>
                <a:latin typeface="DM Sans" pitchFamily="34" charset="0"/>
                <a:ea typeface="DM Sans" pitchFamily="34" charset="-122"/>
                <a:cs typeface="DM Sans" pitchFamily="34" charset="-120"/>
              </a:rPr>
              <a:t>full price</a:t>
            </a:r>
            <a:r>
              <a:rPr lang="en-US" sz="1400" dirty="0">
                <a:solidFill>
                  <a:srgbClr val="3D4A5C"/>
                </a:solidFill>
                <a:latin typeface="DM Sans" pitchFamily="34" charset="0"/>
                <a:ea typeface="DM Sans" pitchFamily="34" charset="-122"/>
                <a:cs typeface="DM Sans" pitchFamily="34" charset="-120"/>
              </a:rPr>
              <a:t>.</a:t>
            </a:r>
            <a:endParaRPr lang="en-US" sz="1400" dirty="0"/>
          </a:p>
        </p:txBody>
      </p:sp>
      <p:sp>
        <p:nvSpPr>
          <p:cNvPr id="6" name="Text 4"/>
          <p:cNvSpPr/>
          <p:nvPr/>
        </p:nvSpPr>
        <p:spPr>
          <a:xfrm>
            <a:off x="819150" y="3265177"/>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algn="l" indent="0" marL="0">
              <a:lnSpc>
                <a:spcPts val="1680"/>
              </a:lnSpc>
              <a:buNone/>
            </a:pPr>
            <a:r>
              <a:rPr lang="en-US" sz="1200" dirty="0">
                <a:solidFill>
                  <a:srgbClr val="3D4A5C"/>
                </a:solidFill>
                <a:latin typeface="DM Sans" pitchFamily="34" charset="0"/>
                <a:ea typeface="DM Sans" pitchFamily="34" charset="-122"/>
                <a:cs typeface="DM Sans" pitchFamily="34" charset="-120"/>
              </a:rPr>
              <a:t>Everyone renews at the full price on 1 January. December joiners pay nothing until then.</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Editing a membership type, with Full price whenever they join chosen">    </p:cNvPr>
          <p:cNvPicPr>
            <a:picLocks noChangeAspect="1"/>
          </p:cNvPicPr>
          <p:nvPr/>
        </p:nvPicPr>
        <p:blipFill>
          <a:blip r:embed="rId1"/>
          <a:srcRect l="-121" r="-121" t="0" b="0"/>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r>
          <p:cNvPicPr>
            <a:picLocks noChangeAspect="1"/>
          </p:cNvPicPr>
          <p:nvPr/>
        </p:nvPicPr>
        <p:blipFill>
          <a:blip r:embed="rId2"/>
          <a:srcRect l="0" r="0" t="-149" b="-149"/>
          <a:stretch/>
        </p:blipFill>
        <p:spPr>
          <a:xfrm>
            <a:off x="10109200" y="6229350"/>
            <a:ext cx="1270000" cy="28575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635000"/>
            <a:ext cx="166346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DM Sans" pitchFamily="34" charset="0"/>
                <a:ea typeface="DM Sans" pitchFamily="34" charset="-122"/>
                <a:cs typeface="DM Sans" pitchFamily="34" charset="-120"/>
              </a:rPr>
              <a:t>6 · MEMBERSHIPS</a:t>
            </a:r>
            <a:endParaRPr lang="en-US" sz="1200" dirty="0"/>
          </a:p>
        </p:txBody>
      </p:sp>
      <p:sp>
        <p:nvSpPr>
          <p:cNvPr id="3" name="Text 1"/>
          <p:cNvSpPr/>
          <p:nvPr/>
        </p:nvSpPr>
        <p:spPr>
          <a:xfrm>
            <a:off x="2476262" y="609600"/>
            <a:ext cx="678101" cy="264160"/>
          </a:xfrm>
          <a:custGeom>
            <a:avLst/>
            <a:gdLst/>
            <a:ahLst/>
            <a:cxnLst/>
            <a:rect l="l" t="t" r="r" b="b"/>
            <a:pathLst>
              <a:path w="678101" h="264160">
                <a:moveTo>
                  <a:pt x="132080" y="0"/>
                </a:moveTo>
                <a:lnTo>
                  <a:pt x="546021" y="0"/>
                </a:lnTo>
                <a:arcTo hR="132080" wR="132080" stAng="16200000" swAng="5400000"/>
                <a:lnTo>
                  <a:pt x="678101" y="132080"/>
                </a:lnTo>
                <a:arcTo hR="132080" wR="132080" stAng="0" swAng="5400000"/>
                <a:lnTo>
                  <a:pt x="132080" y="264160"/>
                </a:lnTo>
                <a:arcTo hR="132080" wR="132080" stAng="5400000" swAng="5400000"/>
                <a:lnTo>
                  <a:pt x="0" y="132080"/>
                </a:lnTo>
                <a:arcTo hR="132080" wR="132080" stAng="10800000" swAng="5400000"/>
                <a:close/>
              </a:path>
            </a:pathLst>
          </a:custGeom>
          <a:solidFill>
            <a:srgbClr val="E8E3D8"/>
          </a:solidFill>
          <a:ln/>
        </p:spPr>
        <p:txBody>
          <a:bodyPr wrap="none" lIns="0" tIns="0" rIns="0" bIns="0" rtlCol="0" anchor="ctr">
            <a:normAutofit/>
          </a:bodyPr>
          <a:lstStyle/>
          <a:p>
            <a:pPr algn="ctr" indent="0" marL="0">
              <a:lnSpc>
                <a:spcPts val="1680"/>
              </a:lnSpc>
              <a:buNone/>
            </a:pPr>
            <a:r>
              <a:rPr lang="en-US" sz="1200" b="1" dirty="0">
                <a:solidFill>
                  <a:srgbClr val="101828"/>
                </a:solidFill>
                <a:latin typeface="DM Sans" pitchFamily="34" charset="0"/>
                <a:ea typeface="DM Sans" pitchFamily="34" charset="-122"/>
                <a:cs typeface="DM Sans" pitchFamily="34" charset="-120"/>
              </a:rPr>
              <a:t>Senior</a:t>
            </a:r>
            <a:endParaRPr lang="en-US" sz="1200" dirty="0"/>
          </a:p>
        </p:txBody>
      </p:sp>
      <p:sp>
        <p:nvSpPr>
          <p:cNvPr id="4" name="Text 2"/>
          <p:cNvSpPr/>
          <p:nvPr>
            <p:ph type="title"/>
          </p:nvPr>
        </p:nvSpPr>
        <p:spPr>
          <a:xfrm>
            <a:off x="812800" y="949958"/>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01828"/>
                </a:solidFill>
                <a:latin typeface="Poppins" pitchFamily="34" charset="0"/>
                <a:ea typeface="Poppins" pitchFamily="34" charset="-122"/>
                <a:cs typeface="Poppins" pitchFamily="34" charset="-120"/>
              </a:rPr>
              <a:t>Money paid to the club</a:t>
            </a:r>
            <a:endParaRPr lang="en-US" sz="2800" dirty="0"/>
          </a:p>
        </p:txBody>
      </p:sp>
      <p:sp>
        <p:nvSpPr>
          <p:cNvPr id="5" name="Text 3"/>
          <p:cNvSpPr/>
          <p:nvPr/>
        </p:nvSpPr>
        <p:spPr>
          <a:xfrm>
            <a:off x="879157" y="1612900"/>
            <a:ext cx="3954971" cy="1021080"/>
          </a:xfrm>
          <a:prstGeom prst="rect">
            <a:avLst/>
          </a:prstGeom>
          <a:noFill/>
          <a:ln/>
        </p:spPr>
        <p:txBody>
          <a:bodyPr wrap="square" lIns="0" tIns="0" rIns="0" bIns="0" rtlCol="0" anchor="t">
            <a:normAutofit/>
          </a:bodyPr>
          <a:lstStyle/>
          <a:p>
            <a:pPr algn="l" marL="187643" indent="-187643">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Cash or bank transfer? </a:t>
            </a:r>
            <a:r>
              <a:rPr lang="en-US" sz="1400" b="1" dirty="0">
                <a:solidFill>
                  <a:srgbClr val="3D4A5C"/>
                </a:solidFill>
                <a:latin typeface="DM Sans" pitchFamily="34" charset="0"/>
                <a:ea typeface="DM Sans" pitchFamily="34" charset="-122"/>
                <a:cs typeface="DM Sans" pitchFamily="34" charset="-120"/>
              </a:rPr>
              <a:t>Record one</a:t>
            </a:r>
            <a:r>
              <a:rPr lang="en-US" sz="1400" dirty="0">
                <a:solidFill>
                  <a:srgbClr val="3D4A5C"/>
                </a:solidFill>
                <a:latin typeface="DM Sans" pitchFamily="34" charset="0"/>
                <a:ea typeface="DM Sans" pitchFamily="34" charset="-122"/>
                <a:cs typeface="DM Sans" pitchFamily="34" charset="-120"/>
              </a:rPr>
              <a:t>.</a:t>
            </a:r>
            <a:endParaRPr lang="en-US" sz="1400" dirty="0"/>
          </a:p>
          <a:p>
            <a:pPr algn="l" marL="187643" indent="-187643">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Who paid, the type, the date it runs to, and the </a:t>
            </a:r>
            <a:r>
              <a:rPr lang="en-US" sz="1400" b="1" dirty="0">
                <a:solidFill>
                  <a:srgbClr val="3D4A5C"/>
                </a:solidFill>
                <a:latin typeface="DM Sans" pitchFamily="34" charset="0"/>
                <a:ea typeface="DM Sans" pitchFamily="34" charset="-122"/>
                <a:cs typeface="DM Sans" pitchFamily="34" charset="-120"/>
              </a:rPr>
              <a:t>amount paid</a:t>
            </a:r>
            <a:r>
              <a:rPr lang="en-US" sz="1400" dirty="0">
                <a:solidFill>
                  <a:srgbClr val="3D4A5C"/>
                </a:solidFill>
                <a:latin typeface="DM Sans" pitchFamily="34" charset="0"/>
                <a:ea typeface="DM Sans" pitchFamily="34" charset="-122"/>
                <a:cs typeface="DM Sans" pitchFamily="34" charset="-120"/>
              </a:rPr>
              <a:t>.</a:t>
            </a:r>
            <a:endParaRPr lang="en-US" sz="1400" dirty="0"/>
          </a:p>
          <a:p>
            <a:pPr algn="l" marL="187643" indent="-187643">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They get member prices straight away.</a:t>
            </a:r>
            <a:endParaRPr lang="en-US" sz="1400" dirty="0"/>
          </a:p>
        </p:txBody>
      </p:sp>
      <p:sp>
        <p:nvSpPr>
          <p:cNvPr id="6" name="Text 4"/>
          <p:cNvSpPr/>
          <p:nvPr/>
        </p:nvSpPr>
        <p:spPr>
          <a:xfrm>
            <a:off x="819150" y="2767335"/>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algn="l" indent="0" marL="0">
              <a:lnSpc>
                <a:spcPts val="1680"/>
              </a:lnSpc>
              <a:buNone/>
            </a:pPr>
            <a:r>
              <a:rPr lang="en-US" sz="1200" b="1" dirty="0">
                <a:solidFill>
                  <a:srgbClr val="3D4A5C"/>
                </a:solidFill>
                <a:latin typeface="DM Sans" pitchFamily="34" charset="0"/>
                <a:ea typeface="DM Sans" pitchFamily="34" charset="-122"/>
                <a:cs typeface="DM Sans" pitchFamily="34" charset="-120"/>
              </a:rPr>
              <a:t>Extend</a:t>
            </a:r>
            <a:r>
              <a:rPr lang="en-US" sz="1200" dirty="0">
                <a:solidFill>
                  <a:srgbClr val="3D4A5C"/>
                </a:solidFill>
                <a:latin typeface="DM Sans" pitchFamily="34" charset="0"/>
                <a:ea typeface="DM Sans" pitchFamily="34" charset="-122"/>
                <a:cs typeface="DM Sans" pitchFamily="34" charset="-120"/>
              </a:rPr>
              <a:t> when they pay again. </a:t>
            </a:r>
            <a:r>
              <a:rPr lang="en-US" sz="1200" b="1" dirty="0">
                <a:solidFill>
                  <a:srgbClr val="3D4A5C"/>
                </a:solidFill>
                <a:latin typeface="DM Sans" pitchFamily="34" charset="0"/>
                <a:ea typeface="DM Sans" pitchFamily="34" charset="-122"/>
                <a:cs typeface="DM Sans" pitchFamily="34" charset="-120"/>
              </a:rPr>
              <a:t>End</a:t>
            </a:r>
            <a:r>
              <a:rPr lang="en-US" sz="1200" dirty="0">
                <a:solidFill>
                  <a:srgbClr val="3D4A5C"/>
                </a:solidFill>
                <a:latin typeface="DM Sans" pitchFamily="34" charset="0"/>
                <a:ea typeface="DM Sans" pitchFamily="34" charset="-122"/>
                <a:cs typeface="DM Sans" pitchFamily="34" charset="-120"/>
              </a:rPr>
              <a:t> stops it now; leave the refund blank unless the club agreed one.</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The Record one form, with Amount paid ringed">    </p:cNvPr>
          <p:cNvPicPr>
            <a:picLocks noChangeAspect="1"/>
          </p:cNvPicPr>
          <p:nvPr/>
        </p:nvPicPr>
        <p:blipFill>
          <a:blip r:embed="rId1"/>
          <a:srcRect l="-121" r="-121" t="0" b="0"/>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r>
          <p:cNvPicPr>
            <a:picLocks noChangeAspect="1"/>
          </p:cNvPicPr>
          <p:nvPr/>
        </p:nvPicPr>
        <p:blipFill>
          <a:blip r:embed="rId2"/>
          <a:srcRect l="0" r="0" t="-149" b="-149"/>
          <a:stretch/>
        </p:blipFill>
        <p:spPr>
          <a:xfrm>
            <a:off x="10109200" y="6229350"/>
            <a:ext cx="1270000" cy="28575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635000"/>
            <a:ext cx="166346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DM Sans" pitchFamily="34" charset="0"/>
                <a:ea typeface="DM Sans" pitchFamily="34" charset="-122"/>
                <a:cs typeface="DM Sans" pitchFamily="34" charset="-120"/>
              </a:rPr>
              <a:t>6 · MEMBERSHIPS</a:t>
            </a:r>
            <a:endParaRPr lang="en-US" sz="1200" dirty="0"/>
          </a:p>
        </p:txBody>
      </p:sp>
      <p:sp>
        <p:nvSpPr>
          <p:cNvPr id="3" name="Text 1"/>
          <p:cNvSpPr/>
          <p:nvPr/>
        </p:nvSpPr>
        <p:spPr>
          <a:xfrm>
            <a:off x="2476262" y="609600"/>
            <a:ext cx="678101" cy="264160"/>
          </a:xfrm>
          <a:custGeom>
            <a:avLst/>
            <a:gdLst/>
            <a:ahLst/>
            <a:cxnLst/>
            <a:rect l="l" t="t" r="r" b="b"/>
            <a:pathLst>
              <a:path w="678101" h="264160">
                <a:moveTo>
                  <a:pt x="132080" y="0"/>
                </a:moveTo>
                <a:lnTo>
                  <a:pt x="546021" y="0"/>
                </a:lnTo>
                <a:arcTo hR="132080" wR="132080" stAng="16200000" swAng="5400000"/>
                <a:lnTo>
                  <a:pt x="678101" y="132080"/>
                </a:lnTo>
                <a:arcTo hR="132080" wR="132080" stAng="0" swAng="5400000"/>
                <a:lnTo>
                  <a:pt x="132080" y="264160"/>
                </a:lnTo>
                <a:arcTo hR="132080" wR="132080" stAng="5400000" swAng="5400000"/>
                <a:lnTo>
                  <a:pt x="0" y="132080"/>
                </a:lnTo>
                <a:arcTo hR="132080" wR="132080" stAng="10800000" swAng="5400000"/>
                <a:close/>
              </a:path>
            </a:pathLst>
          </a:custGeom>
          <a:solidFill>
            <a:srgbClr val="E8E3D8"/>
          </a:solidFill>
          <a:ln/>
        </p:spPr>
        <p:txBody>
          <a:bodyPr wrap="none" lIns="0" tIns="0" rIns="0" bIns="0" rtlCol="0" anchor="ctr">
            <a:normAutofit/>
          </a:bodyPr>
          <a:lstStyle/>
          <a:p>
            <a:pPr algn="ctr" indent="0" marL="0">
              <a:lnSpc>
                <a:spcPts val="1680"/>
              </a:lnSpc>
              <a:buNone/>
            </a:pPr>
            <a:r>
              <a:rPr lang="en-US" sz="1200" b="1" dirty="0">
                <a:solidFill>
                  <a:srgbClr val="101828"/>
                </a:solidFill>
                <a:latin typeface="DM Sans" pitchFamily="34" charset="0"/>
                <a:ea typeface="DM Sans" pitchFamily="34" charset="-122"/>
                <a:cs typeface="DM Sans" pitchFamily="34" charset="-120"/>
              </a:rPr>
              <a:t>Senior</a:t>
            </a:r>
            <a:endParaRPr lang="en-US" sz="1200" dirty="0"/>
          </a:p>
        </p:txBody>
      </p:sp>
      <p:sp>
        <p:nvSpPr>
          <p:cNvPr id="4" name="Text 2"/>
          <p:cNvSpPr/>
          <p:nvPr>
            <p:ph type="title"/>
          </p:nvPr>
        </p:nvSpPr>
        <p:spPr>
          <a:xfrm>
            <a:off x="812800" y="949958"/>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01828"/>
                </a:solidFill>
                <a:latin typeface="Poppins" pitchFamily="34" charset="0"/>
                <a:ea typeface="Poppins" pitchFamily="34" charset="-122"/>
                <a:cs typeface="Poppins" pitchFamily="34" charset="-120"/>
              </a:rPr>
              <a:t>The renewal round</a:t>
            </a:r>
            <a:endParaRPr lang="en-US" sz="2800" dirty="0"/>
          </a:p>
        </p:txBody>
      </p:sp>
      <p:sp>
        <p:nvSpPr>
          <p:cNvPr id="5" name="Text 3"/>
          <p:cNvSpPr/>
          <p:nvPr/>
        </p:nvSpPr>
        <p:spPr>
          <a:xfrm>
            <a:off x="876300" y="1612900"/>
            <a:ext cx="3957828" cy="2265680"/>
          </a:xfrm>
          <a:prstGeom prst="rect">
            <a:avLst/>
          </a:prstGeom>
          <a:noFill/>
          <a:ln/>
        </p:spPr>
        <p:txBody>
          <a:bodyPr wrap="square" lIns="0" tIns="0" rIns="0" bIns="0" rtlCol="0" anchor="t">
            <a:normAutofit/>
          </a:bodyPr>
          <a:lstStyle/>
          <a:p>
            <a:pPr algn="l" marL="190500" indent="-190500">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The tiles count members by state. Click one to list them.</a:t>
            </a:r>
            <a:endParaRPr lang="en-US" sz="1400" dirty="0"/>
          </a:p>
          <a:p>
            <a:pPr algn="l" marL="190500" indent="-190500">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November:</a:t>
            </a:r>
            <a:r>
              <a:rPr lang="en-US" sz="1400" dirty="0">
                <a:solidFill>
                  <a:srgbClr val="3D4A5C"/>
                </a:solidFill>
                <a:latin typeface="DM Sans" pitchFamily="34" charset="0"/>
                <a:ea typeface="DM Sans" pitchFamily="34" charset="-122"/>
                <a:cs typeface="DM Sans" pitchFamily="34" charset="-120"/>
              </a:rPr>
              <a:t> Paid to club, no card yet → </a:t>
            </a:r>
            <a:r>
              <a:rPr lang="en-US" sz="1400" b="1" dirty="0">
                <a:solidFill>
                  <a:srgbClr val="3D4A5C"/>
                </a:solidFill>
                <a:latin typeface="DM Sans" pitchFamily="34" charset="0"/>
                <a:ea typeface="DM Sans" pitchFamily="34" charset="-122"/>
                <a:cs typeface="DM Sans" pitchFamily="34" charset="-120"/>
              </a:rPr>
              <a:t>Copy emails</a:t>
            </a:r>
            <a:r>
              <a:rPr lang="en-US" sz="1400" dirty="0">
                <a:solidFill>
                  <a:srgbClr val="3D4A5C"/>
                </a:solidFill>
                <a:latin typeface="DM Sans" pitchFamily="34" charset="0"/>
                <a:ea typeface="DM Sans" pitchFamily="34" charset="-122"/>
                <a:cs typeface="DM Sans" pitchFamily="34" charset="-120"/>
              </a:rPr>
              <a:t>; ask them to set up card renewal.</a:t>
            </a:r>
            <a:endParaRPr lang="en-US" sz="1400" dirty="0"/>
          </a:p>
          <a:p>
            <a:pPr algn="l" marL="190500" indent="-190500">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1 January:</a:t>
            </a:r>
            <a:r>
              <a:rPr lang="en-US" sz="1400" dirty="0">
                <a:solidFill>
                  <a:srgbClr val="3D4A5C"/>
                </a:solidFill>
                <a:latin typeface="DM Sans" pitchFamily="34" charset="0"/>
                <a:ea typeface="DM Sans" pitchFamily="34" charset="-122"/>
                <a:cs typeface="DM Sans" pitchFamily="34" charset="-120"/>
              </a:rPr>
              <a:t> Stripe takes card renewals by itself.</a:t>
            </a:r>
            <a:endParaRPr lang="en-US" sz="1400" dirty="0"/>
          </a:p>
          <a:p>
            <a:pPr algn="l" marL="190500" indent="-190500">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Card failing</a:t>
            </a:r>
            <a:r>
              <a:rPr lang="en-US" sz="1400" dirty="0">
                <a:solidFill>
                  <a:srgbClr val="3D4A5C"/>
                </a:solidFill>
                <a:latin typeface="DM Sans" pitchFamily="34" charset="0"/>
                <a:ea typeface="DM Sans" pitchFamily="34" charset="-122"/>
                <a:cs typeface="DM Sans" pitchFamily="34" charset="-120"/>
              </a:rPr>
              <a:t> and </a:t>
            </a:r>
            <a:r>
              <a:rPr lang="en-US" sz="1400" b="1" dirty="0">
                <a:solidFill>
                  <a:srgbClr val="3D4A5C"/>
                </a:solidFill>
                <a:latin typeface="DM Sans" pitchFamily="34" charset="0"/>
                <a:ea typeface="DM Sans" pitchFamily="34" charset="-122"/>
                <a:cs typeface="DM Sans" pitchFamily="34" charset="-120"/>
              </a:rPr>
              <a:t>Lapsed</a:t>
            </a:r>
            <a:r>
              <a:rPr lang="en-US" sz="1400" dirty="0">
                <a:solidFill>
                  <a:srgbClr val="3D4A5C"/>
                </a:solidFill>
                <a:latin typeface="DM Sans" pitchFamily="34" charset="0"/>
                <a:ea typeface="DM Sans" pitchFamily="34" charset="-122"/>
                <a:cs typeface="DM Sans" pitchFamily="34" charset="-120"/>
              </a:rPr>
              <a:t> show who to chase.</a:t>
            </a:r>
            <a:endParaRPr lang="en-US" sz="1400" dirty="0"/>
          </a:p>
        </p:txBody>
      </p:sp>
      <p:sp>
        <p:nvSpPr>
          <p:cNvPr id="6" name="Text 4"/>
          <p:cNvSpPr/>
          <p:nvPr/>
        </p:nvSpPr>
        <p:spPr>
          <a:xfrm>
            <a:off x="819150" y="4011935"/>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algn="l" indent="0" marL="0">
              <a:lnSpc>
                <a:spcPts val="1680"/>
              </a:lnSpc>
              <a:buNone/>
            </a:pPr>
            <a:r>
              <a:rPr lang="en-US" sz="1200" dirty="0">
                <a:solidFill>
                  <a:srgbClr val="3D4A5C"/>
                </a:solidFill>
                <a:latin typeface="DM Sans" pitchFamily="34" charset="0"/>
                <a:ea typeface="DM Sans" pitchFamily="34" charset="-122"/>
                <a:cs typeface="DM Sans" pitchFamily="34" charset="-120"/>
              </a:rPr>
              <a:t>A failed card keeps member prices for 30 days while the bank tries again.</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The membership tiles: Card failing, Cancelling, Active, Paid to club no card yet, Lapsed">    </p:cNvPr>
          <p:cNvPicPr>
            <a:picLocks noChangeAspect="1"/>
          </p:cNvPicPr>
          <p:nvPr/>
        </p:nvPicPr>
        <p:blipFill>
          <a:blip r:embed="rId1"/>
          <a:srcRect l="-121" r="-121" t="0" b="0"/>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r>
          <p:cNvPicPr>
            <a:picLocks noChangeAspect="1"/>
          </p:cNvPicPr>
          <p:nvPr/>
        </p:nvPicPr>
        <p:blipFill>
          <a:blip r:embed="rId2"/>
          <a:srcRect l="0" r="0" t="-149" b="-149"/>
          <a:stretch/>
        </p:blipFill>
        <p:spPr>
          <a:xfrm>
            <a:off x="10109200" y="6229350"/>
            <a:ext cx="1270000" cy="28575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635000"/>
            <a:ext cx="166346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DM Sans" pitchFamily="34" charset="0"/>
                <a:ea typeface="DM Sans" pitchFamily="34" charset="-122"/>
                <a:cs typeface="DM Sans" pitchFamily="34" charset="-120"/>
              </a:rPr>
              <a:t>6 · MEMBERSHIPS</a:t>
            </a:r>
            <a:endParaRPr lang="en-US" sz="1200" dirty="0"/>
          </a:p>
        </p:txBody>
      </p:sp>
      <p:sp>
        <p:nvSpPr>
          <p:cNvPr id="3" name="Text 1"/>
          <p:cNvSpPr/>
          <p:nvPr/>
        </p:nvSpPr>
        <p:spPr>
          <a:xfrm>
            <a:off x="2476262" y="609600"/>
            <a:ext cx="1635998" cy="264160"/>
          </a:xfrm>
          <a:custGeom>
            <a:avLst/>
            <a:gdLst/>
            <a:ahLst/>
            <a:cxnLst/>
            <a:rect l="l" t="t" r="r" b="b"/>
            <a:pathLst>
              <a:path w="1635998" h="264160">
                <a:moveTo>
                  <a:pt x="132080" y="0"/>
                </a:moveTo>
                <a:lnTo>
                  <a:pt x="1503918" y="0"/>
                </a:lnTo>
                <a:arcTo hR="132080" wR="132080" stAng="16200000" swAng="5400000"/>
                <a:lnTo>
                  <a:pt x="1635998" y="132080"/>
                </a:lnTo>
                <a:arcTo hR="132080" wR="132080" stAng="0" swAng="5400000"/>
                <a:lnTo>
                  <a:pt x="132080" y="264160"/>
                </a:lnTo>
                <a:arcTo hR="132080" wR="132080" stAng="5400000" swAng="5400000"/>
                <a:lnTo>
                  <a:pt x="0" y="132080"/>
                </a:lnTo>
                <a:arcTo hR="132080" wR="132080" stAng="10800000" swAng="5400000"/>
                <a:close/>
              </a:path>
            </a:pathLst>
          </a:custGeom>
          <a:solidFill>
            <a:srgbClr val="E8E3D8"/>
          </a:solidFill>
          <a:ln/>
        </p:spPr>
        <p:txBody>
          <a:bodyPr wrap="none" lIns="0" tIns="0" rIns="0" bIns="0" rtlCol="0" anchor="ctr">
            <a:normAutofit/>
          </a:bodyPr>
          <a:lstStyle/>
          <a:p>
            <a:pPr algn="ctr" indent="0" marL="0">
              <a:lnSpc>
                <a:spcPts val="1680"/>
              </a:lnSpc>
              <a:buNone/>
            </a:pPr>
            <a:r>
              <a:rPr lang="en-US" sz="1200" b="1" dirty="0">
                <a:solidFill>
                  <a:srgbClr val="101828"/>
                </a:solidFill>
                <a:latin typeface="DM Sans" pitchFamily="34" charset="0"/>
                <a:ea typeface="DM Sans" pitchFamily="34" charset="-122"/>
                <a:cs typeface="DM Sans" pitchFamily="34" charset="-120"/>
              </a:rPr>
              <a:t>Committee · Senior</a:t>
            </a:r>
            <a:endParaRPr lang="en-US" sz="1200" dirty="0"/>
          </a:p>
        </p:txBody>
      </p:sp>
      <p:sp>
        <p:nvSpPr>
          <p:cNvPr id="4" name="Text 2"/>
          <p:cNvSpPr/>
          <p:nvPr>
            <p:ph type="title"/>
          </p:nvPr>
        </p:nvSpPr>
        <p:spPr>
          <a:xfrm>
            <a:off x="812800" y="949958"/>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01828"/>
                </a:solidFill>
                <a:latin typeface="Poppins" pitchFamily="34" charset="0"/>
                <a:ea typeface="Poppins" pitchFamily="34" charset="-122"/>
                <a:cs typeface="Poppins" pitchFamily="34" charset="-120"/>
              </a:rPr>
              <a:t>The treasurer’s report</a:t>
            </a:r>
            <a:endParaRPr lang="en-US" sz="2800" dirty="0"/>
          </a:p>
        </p:txBody>
      </p:sp>
      <p:sp>
        <p:nvSpPr>
          <p:cNvPr id="5" name="Text 3"/>
          <p:cNvSpPr/>
          <p:nvPr/>
        </p:nvSpPr>
        <p:spPr>
          <a:xfrm>
            <a:off x="876300" y="1612900"/>
            <a:ext cx="3957828" cy="1518920"/>
          </a:xfrm>
          <a:prstGeom prst="rect">
            <a:avLst/>
          </a:prstGeom>
          <a:noFill/>
          <a:ln/>
        </p:spPr>
        <p:txBody>
          <a:bodyPr wrap="square" lIns="0" tIns="0" rIns="0" bIns="0" rtlCol="0" anchor="t">
            <a:normAutofit/>
          </a:bodyPr>
          <a:lstStyle/>
          <a:p>
            <a:pPr algn="l" marL="190500" indent="-190500">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Reports</a:t>
            </a:r>
            <a:r>
              <a:rPr lang="en-US" sz="1400" dirty="0">
                <a:solidFill>
                  <a:srgbClr val="3D4A5C"/>
                </a:solidFill>
                <a:latin typeface="DM Sans" pitchFamily="34" charset="0"/>
                <a:ea typeface="DM Sans" pitchFamily="34" charset="-122"/>
                <a:cs typeface="DM Sans" pitchFamily="34" charset="-120"/>
              </a:rPr>
              <a:t> → </a:t>
            </a:r>
            <a:r>
              <a:rPr lang="en-US" sz="1400" b="1" dirty="0">
                <a:solidFill>
                  <a:srgbClr val="3D4A5C"/>
                </a:solidFill>
                <a:latin typeface="DM Sans" pitchFamily="34" charset="0"/>
                <a:ea typeface="DM Sans" pitchFamily="34" charset="-122"/>
                <a:cs typeface="DM Sans" pitchFamily="34" charset="-120"/>
              </a:rPr>
              <a:t>Memberships</a:t>
            </a:r>
            <a:r>
              <a:rPr lang="en-US" sz="1400" dirty="0">
                <a:solidFill>
                  <a:srgbClr val="3D4A5C"/>
                </a:solidFill>
                <a:latin typeface="DM Sans" pitchFamily="34" charset="0"/>
                <a:ea typeface="DM Sans" pitchFamily="34" charset="-122"/>
                <a:cs typeface="DM Sans" pitchFamily="34" charset="-120"/>
              </a:rPr>
              <a:t>.</a:t>
            </a:r>
            <a:endParaRPr lang="en-US" sz="1400" dirty="0"/>
          </a:p>
          <a:p>
            <a:pPr algn="l" marL="190500" indent="-190500">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Choose a period, e.g. </a:t>
            </a:r>
            <a:r>
              <a:rPr lang="en-US" sz="1400" b="1" dirty="0">
                <a:solidFill>
                  <a:srgbClr val="3D4A5C"/>
                </a:solidFill>
                <a:latin typeface="DM Sans" pitchFamily="34" charset="0"/>
                <a:ea typeface="DM Sans" pitchFamily="34" charset="-122"/>
                <a:cs typeface="DM Sans" pitchFamily="34" charset="-120"/>
              </a:rPr>
              <a:t>This year so far</a:t>
            </a:r>
            <a:r>
              <a:rPr lang="en-US" sz="1400" dirty="0">
                <a:solidFill>
                  <a:srgbClr val="3D4A5C"/>
                </a:solidFill>
                <a:latin typeface="DM Sans" pitchFamily="34" charset="0"/>
                <a:ea typeface="DM Sans" pitchFamily="34" charset="-122"/>
                <a:cs typeface="DM Sans" pitchFamily="34" charset="-120"/>
              </a:rPr>
              <a:t>, and </a:t>
            </a:r>
            <a:r>
              <a:rPr lang="en-US" sz="1400" b="1" dirty="0">
                <a:solidFill>
                  <a:srgbClr val="3D4A5C"/>
                </a:solidFill>
                <a:latin typeface="DM Sans" pitchFamily="34" charset="0"/>
                <a:ea typeface="DM Sans" pitchFamily="34" charset="-122"/>
                <a:cs typeface="DM Sans" pitchFamily="34" charset="-120"/>
              </a:rPr>
              <a:t>Run report</a:t>
            </a:r>
            <a:r>
              <a:rPr lang="en-US" sz="1400" dirty="0">
                <a:solidFill>
                  <a:srgbClr val="3D4A5C"/>
                </a:solidFill>
                <a:latin typeface="DM Sans" pitchFamily="34" charset="0"/>
                <a:ea typeface="DM Sans" pitchFamily="34" charset="-122"/>
                <a:cs typeface="DM Sans" pitchFamily="34" charset="-120"/>
              </a:rPr>
              <a:t>.</a:t>
            </a:r>
            <a:endParaRPr lang="en-US" sz="1400" dirty="0"/>
          </a:p>
          <a:p>
            <a:pPr algn="l" marL="190500" indent="-190500">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Paid by card, paid to the club, refunds, and the total.</a:t>
            </a:r>
            <a:endParaRPr lang="en-US" sz="1400" dirty="0"/>
          </a:p>
          <a:p>
            <a:pPr algn="l" marL="190500" indent="-190500">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Download (CSV)</a:t>
            </a:r>
            <a:r>
              <a:rPr lang="en-US" sz="1400" dirty="0">
                <a:solidFill>
                  <a:srgbClr val="3D4A5C"/>
                </a:solidFill>
                <a:latin typeface="DM Sans" pitchFamily="34" charset="0"/>
                <a:ea typeface="DM Sans" pitchFamily="34" charset="-122"/>
                <a:cs typeface="DM Sans" pitchFamily="34" charset="-120"/>
              </a:rPr>
              <a:t> for the accountant.</a:t>
            </a:r>
            <a:endParaRPr lang="en-US" sz="1400" dirty="0"/>
          </a:p>
        </p:txBody>
      </p:sp>
      <p:sp>
        <p:nvSpPr>
          <p:cNvPr id="6" name="Text 4"/>
          <p:cNvSpPr/>
          <p:nvPr/>
        </p:nvSpPr>
        <p:spPr>
          <a:xfrm>
            <a:off x="819150" y="3265177"/>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algn="l" indent="0" marL="0">
              <a:lnSpc>
                <a:spcPts val="1680"/>
              </a:lnSpc>
              <a:buNone/>
            </a:pPr>
            <a:r>
              <a:rPr lang="en-US" sz="1200" b="1" dirty="0">
                <a:solidFill>
                  <a:srgbClr val="3D4A5C"/>
                </a:solidFill>
                <a:latin typeface="DM Sans" pitchFamily="34" charset="0"/>
                <a:ea typeface="DM Sans" pitchFamily="34" charset="-122"/>
                <a:cs typeface="DM Sans" pitchFamily="34" charset="-120"/>
              </a:rPr>
              <a:t>Refunds are rare.</a:t>
            </a:r>
            <a:r>
              <a:rPr lang="en-US" sz="1200" dirty="0">
                <a:solidFill>
                  <a:srgbClr val="3D4A5C"/>
                </a:solidFill>
                <a:latin typeface="DM Sans" pitchFamily="34" charset="0"/>
                <a:ea typeface="DM Sans" pitchFamily="34" charset="-122"/>
                <a:cs typeface="DM Sans" pitchFamily="34" charset="-120"/>
              </a:rPr>
              <a:t> Most are automatic: someone paid twice for the same person.</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The membership money report with its four totals ringed">    </p:cNvPr>
          <p:cNvPicPr>
            <a:picLocks noChangeAspect="1"/>
          </p:cNvPicPr>
          <p:nvPr/>
        </p:nvPicPr>
        <p:blipFill>
          <a:blip r:embed="rId1"/>
          <a:srcRect l="-121" r="-121" t="0" b="0"/>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r>
          <p:cNvPicPr>
            <a:picLocks noChangeAspect="1"/>
          </p:cNvPicPr>
          <p:nvPr/>
        </p:nvPicPr>
        <p:blipFill>
          <a:blip r:embed="rId2"/>
          <a:srcRect l="0" r="0" t="-149" b="-149"/>
          <a:stretch/>
        </p:blipFill>
        <p:spPr>
          <a:xfrm>
            <a:off x="10109200" y="6229350"/>
            <a:ext cx="1270000" cy="28575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97316"/>
          </a:solidFill>
          <a:ln/>
        </p:spPr>
      </p:sp>
      <p:sp>
        <p:nvSpPr>
          <p:cNvPr id="3" name="Text 1"/>
          <p:cNvSpPr/>
          <p:nvPr/>
        </p:nvSpPr>
        <p:spPr>
          <a:xfrm>
            <a:off x="812800" y="1954535"/>
            <a:ext cx="10883392"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97316"/>
                </a:solidFill>
                <a:latin typeface="Poppins" pitchFamily="34" charset="0"/>
                <a:ea typeface="Poppins" pitchFamily="34" charset="-122"/>
                <a:cs typeface="Poppins" pitchFamily="34" charset="-120"/>
              </a:rPr>
              <a:t>7</a:t>
            </a:r>
            <a:endParaRPr lang="en-US" sz="6000" dirty="0"/>
          </a:p>
        </p:txBody>
      </p:sp>
      <p:sp>
        <p:nvSpPr>
          <p:cNvPr id="4" name="Text 2"/>
          <p:cNvSpPr/>
          <p:nvPr>
            <p:ph type="title"/>
          </p:nvPr>
        </p:nvSpPr>
        <p:spPr>
          <a:xfrm>
            <a:off x="812800" y="2919735"/>
            <a:ext cx="10883392" cy="66548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6F4EF"/>
                </a:solidFill>
                <a:latin typeface="Poppins" pitchFamily="34" charset="0"/>
                <a:ea typeface="Poppins" pitchFamily="34" charset="-122"/>
                <a:cs typeface="Poppins" pitchFamily="34" charset="-120"/>
              </a:rPr>
              <a:t>Members and logins</a:t>
            </a:r>
            <a:endParaRPr lang="en-US" sz="4800" dirty="0"/>
          </a:p>
        </p:txBody>
      </p:sp>
      <p:sp>
        <p:nvSpPr>
          <p:cNvPr id="5" name="Text 3"/>
          <p:cNvSpPr/>
          <p:nvPr/>
        </p:nvSpPr>
        <p:spPr>
          <a:xfrm>
            <a:off x="812800" y="3763008"/>
            <a:ext cx="8502650" cy="6299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9D2E0"/>
                </a:solidFill>
                <a:latin typeface="DM Sans" pitchFamily="34" charset="0"/>
                <a:ea typeface="DM Sans" pitchFamily="34" charset="-122"/>
                <a:cs typeface="DM Sans" pitchFamily="34" charset="-120"/>
              </a:rPr>
              <a:t>Member records and their details, bringing members in from a spreadsheet, and adding players.</a:t>
            </a:r>
            <a:endParaRPr lang="en-US" sz="1700" dirty="0"/>
          </a:p>
        </p:txBody>
      </p:sp>
      <p:sp>
        <p:nvSpPr>
          <p:cNvPr id="6" name="Text 4"/>
          <p:cNvSpPr/>
          <p:nvPr/>
        </p:nvSpPr>
        <p:spPr>
          <a:xfrm>
            <a:off x="812800" y="4570735"/>
            <a:ext cx="1157208" cy="332740"/>
          </a:xfrm>
          <a:prstGeom prst="roundRect">
            <a:avLst>
              <a:gd name="adj" fmla="val 50000"/>
            </a:avLst>
          </a:prstGeom>
          <a:solidFill>
            <a:srgbClr val="F97316"/>
          </a:solidFill>
          <a:ln/>
        </p:spPr>
        <p:txBody>
          <a:bodyPr wrap="none" lIns="0" tIns="0" rIns="0" bIns="0" rtlCol="0" anchor="ctr">
            <a:normAutofit/>
          </a:bodyPr>
          <a:lstStyle/>
          <a:p>
            <a:pPr algn="ctr" indent="0" marL="0">
              <a:lnSpc>
                <a:spcPts val="1820"/>
              </a:lnSpc>
              <a:buNone/>
            </a:pPr>
            <a:r>
              <a:rPr lang="en-US" sz="1300" b="1" dirty="0">
                <a:solidFill>
                  <a:srgbClr val="101828"/>
                </a:solidFill>
                <a:latin typeface="DM Sans" pitchFamily="34" charset="0"/>
                <a:ea typeface="DM Sans" pitchFamily="34" charset="-122"/>
                <a:cs typeface="DM Sans" pitchFamily="34" charset="-120"/>
              </a:rPr>
              <a:t>For: Senior</a:t>
            </a:r>
            <a:endParaRPr lang="en-US" sz="1300" dirty="0"/>
          </a:p>
        </p:txBody>
      </p:sp>
      <p:pic>
        <p:nvPicPr>
          <p:cNvPr id="7" name="Image 0" descr="twoclear">    </p:cNvPr>
          <p:cNvPicPr>
            <a:picLocks noChangeAspect="1"/>
          </p:cNvPicPr>
          <p:nvPr/>
        </p:nvPicPr>
        <p:blipFill>
          <a:blip r:embed="rId1"/>
          <a:srcRect l="-224" r="-224" t="0" b="0"/>
          <a:stretch/>
        </p:blipFill>
        <p:spPr>
          <a:xfrm>
            <a:off x="9474200" y="5822950"/>
            <a:ext cx="1905000" cy="42545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635000"/>
            <a:ext cx="2403158"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DM Sans" pitchFamily="34" charset="0"/>
                <a:ea typeface="DM Sans" pitchFamily="34" charset="-122"/>
                <a:cs typeface="DM Sans" pitchFamily="34" charset="-120"/>
              </a:rPr>
              <a:t>7 · MEMBERS AND LOGINS</a:t>
            </a:r>
            <a:endParaRPr lang="en-US" sz="1200" dirty="0"/>
          </a:p>
        </p:txBody>
      </p:sp>
      <p:sp>
        <p:nvSpPr>
          <p:cNvPr id="3" name="Text 1"/>
          <p:cNvSpPr/>
          <p:nvPr/>
        </p:nvSpPr>
        <p:spPr>
          <a:xfrm>
            <a:off x="3215958" y="609600"/>
            <a:ext cx="678101" cy="264160"/>
          </a:xfrm>
          <a:custGeom>
            <a:avLst/>
            <a:gdLst/>
            <a:ahLst/>
            <a:cxnLst/>
            <a:rect l="l" t="t" r="r" b="b"/>
            <a:pathLst>
              <a:path w="678101" h="264160">
                <a:moveTo>
                  <a:pt x="132080" y="0"/>
                </a:moveTo>
                <a:lnTo>
                  <a:pt x="546021" y="0"/>
                </a:lnTo>
                <a:arcTo hR="132080" wR="132080" stAng="16200000" swAng="5400000"/>
                <a:lnTo>
                  <a:pt x="678101" y="132080"/>
                </a:lnTo>
                <a:arcTo hR="132080" wR="132080" stAng="0" swAng="5400000"/>
                <a:lnTo>
                  <a:pt x="132080" y="264160"/>
                </a:lnTo>
                <a:arcTo hR="132080" wR="132080" stAng="5400000" swAng="5400000"/>
                <a:lnTo>
                  <a:pt x="0" y="132080"/>
                </a:lnTo>
                <a:arcTo hR="132080" wR="132080" stAng="10800000" swAng="5400000"/>
                <a:close/>
              </a:path>
            </a:pathLst>
          </a:custGeom>
          <a:solidFill>
            <a:srgbClr val="E8E3D8"/>
          </a:solidFill>
          <a:ln/>
        </p:spPr>
        <p:txBody>
          <a:bodyPr wrap="none" lIns="0" tIns="0" rIns="0" bIns="0" rtlCol="0" anchor="ctr">
            <a:normAutofit/>
          </a:bodyPr>
          <a:lstStyle/>
          <a:p>
            <a:pPr algn="ctr" indent="0" marL="0">
              <a:lnSpc>
                <a:spcPts val="1680"/>
              </a:lnSpc>
              <a:buNone/>
            </a:pPr>
            <a:r>
              <a:rPr lang="en-US" sz="1200" b="1" dirty="0">
                <a:solidFill>
                  <a:srgbClr val="101828"/>
                </a:solidFill>
                <a:latin typeface="DM Sans" pitchFamily="34" charset="0"/>
                <a:ea typeface="DM Sans" pitchFamily="34" charset="-122"/>
                <a:cs typeface="DM Sans" pitchFamily="34" charset="-120"/>
              </a:rPr>
              <a:t>Senior</a:t>
            </a:r>
            <a:endParaRPr lang="en-US" sz="1200" dirty="0"/>
          </a:p>
        </p:txBody>
      </p:sp>
      <p:sp>
        <p:nvSpPr>
          <p:cNvPr id="4" name="Text 2"/>
          <p:cNvSpPr/>
          <p:nvPr>
            <p:ph type="title"/>
          </p:nvPr>
        </p:nvSpPr>
        <p:spPr>
          <a:xfrm>
            <a:off x="812800" y="949958"/>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01828"/>
                </a:solidFill>
                <a:latin typeface="Poppins" pitchFamily="34" charset="0"/>
                <a:ea typeface="Poppins" pitchFamily="34" charset="-122"/>
                <a:cs typeface="Poppins" pitchFamily="34" charset="-120"/>
              </a:rPr>
              <a:t>Member records</a:t>
            </a:r>
            <a:endParaRPr lang="en-US" sz="2800" dirty="0"/>
          </a:p>
        </p:txBody>
      </p:sp>
      <p:sp>
        <p:nvSpPr>
          <p:cNvPr id="5" name="Text 3"/>
          <p:cNvSpPr/>
          <p:nvPr/>
        </p:nvSpPr>
        <p:spPr>
          <a:xfrm>
            <a:off x="876300" y="1612900"/>
            <a:ext cx="3957828" cy="2016760"/>
          </a:xfrm>
          <a:prstGeom prst="rect">
            <a:avLst/>
          </a:prstGeom>
          <a:noFill/>
          <a:ln/>
        </p:spPr>
        <p:txBody>
          <a:bodyPr wrap="square" lIns="0" tIns="0" rIns="0" bIns="0" rtlCol="0" anchor="t">
            <a:normAutofit/>
          </a:bodyPr>
          <a:lstStyle/>
          <a:p>
            <a:pPr algn="l" marL="190500" indent="-190500">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Member records</a:t>
            </a:r>
            <a:r>
              <a:rPr lang="en-US" sz="1400" dirty="0">
                <a:solidFill>
                  <a:srgbClr val="3D4A5C"/>
                </a:solidFill>
                <a:latin typeface="DM Sans" pitchFamily="34" charset="0"/>
                <a:ea typeface="DM Sans" pitchFamily="34" charset="-122"/>
                <a:cs typeface="DM Sans" pitchFamily="34" charset="-120"/>
              </a:rPr>
              <a:t>: filters find, say, details missing or juniors.</a:t>
            </a:r>
            <a:endParaRPr lang="en-US" sz="1400" dirty="0"/>
          </a:p>
          <a:p>
            <a:pPr algn="l" marL="190500" indent="-190500">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Open</a:t>
            </a:r>
            <a:r>
              <a:rPr lang="en-US" sz="1400" dirty="0">
                <a:solidFill>
                  <a:srgbClr val="3D4A5C"/>
                </a:solidFill>
                <a:latin typeface="DM Sans" pitchFamily="34" charset="0"/>
                <a:ea typeface="DM Sans" pitchFamily="34" charset="-122"/>
                <a:cs typeface="DM Sans" pitchFamily="34" charset="-120"/>
              </a:rPr>
              <a:t> a record: contact details, emergency contacts, agreements.</a:t>
            </a:r>
            <a:endParaRPr lang="en-US" sz="1400" dirty="0"/>
          </a:p>
          <a:p>
            <a:pPr algn="l" marL="190500" indent="-190500">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From a paper form</a:t>
            </a:r>
            <a:r>
              <a:rPr lang="en-US" sz="1400" dirty="0">
                <a:solidFill>
                  <a:srgbClr val="3D4A5C"/>
                </a:solidFill>
                <a:latin typeface="DM Sans" pitchFamily="34" charset="0"/>
                <a:ea typeface="DM Sans" pitchFamily="34" charset="-122"/>
                <a:cs typeface="DM Sans" pitchFamily="34" charset="-120"/>
              </a:rPr>
              <a:t>: type it in; tick only what they ticked.</a:t>
            </a:r>
            <a:endParaRPr lang="en-US" sz="1400" dirty="0"/>
          </a:p>
          <a:p>
            <a:pPr algn="l" marL="190500" indent="-190500">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Show consent history</a:t>
            </a:r>
            <a:r>
              <a:rPr lang="en-US" sz="1400" dirty="0">
                <a:solidFill>
                  <a:srgbClr val="3D4A5C"/>
                </a:solidFill>
                <a:latin typeface="DM Sans" pitchFamily="34" charset="0"/>
                <a:ea typeface="DM Sans" pitchFamily="34" charset="-122"/>
                <a:cs typeface="DM Sans" pitchFamily="34" charset="-120"/>
              </a:rPr>
              <a:t> and </a:t>
            </a:r>
            <a:r>
              <a:rPr lang="en-US" sz="1400" b="1" dirty="0">
                <a:solidFill>
                  <a:srgbClr val="3D4A5C"/>
                </a:solidFill>
                <a:latin typeface="DM Sans" pitchFamily="34" charset="0"/>
                <a:ea typeface="DM Sans" pitchFamily="34" charset="-122"/>
                <a:cs typeface="DM Sans" pitchFamily="34" charset="-120"/>
              </a:rPr>
              <a:t>Erase details…</a:t>
            </a:r>
            <a:r>
              <a:rPr lang="en-US" sz="1400" dirty="0">
                <a:solidFill>
                  <a:srgbClr val="3D4A5C"/>
                </a:solidFill>
                <a:latin typeface="DM Sans" pitchFamily="34" charset="0"/>
                <a:ea typeface="DM Sans" pitchFamily="34" charset="-122"/>
                <a:cs typeface="DM Sans" pitchFamily="34" charset="-120"/>
              </a:rPr>
              <a:t> when asked.</a:t>
            </a:r>
            <a:endParaRPr lang="en-US" sz="1400" dirty="0"/>
          </a:p>
        </p:txBody>
      </p:sp>
      <p:sp>
        <p:nvSpPr>
          <p:cNvPr id="6" name="Text 4"/>
          <p:cNvSpPr/>
          <p:nvPr/>
        </p:nvSpPr>
        <p:spPr>
          <a:xfrm>
            <a:off x="819150" y="3763008"/>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algn="l" indent="0" marL="0">
              <a:lnSpc>
                <a:spcPts val="1680"/>
              </a:lnSpc>
              <a:buNone/>
            </a:pPr>
            <a:r>
              <a:rPr lang="en-US" sz="1200" b="1" dirty="0">
                <a:solidFill>
                  <a:srgbClr val="3D4A5C"/>
                </a:solidFill>
                <a:latin typeface="DM Sans" pitchFamily="34" charset="0"/>
                <a:ea typeface="DM Sans" pitchFamily="34" charset="-122"/>
                <a:cs typeface="DM Sans" pitchFamily="34" charset="-120"/>
              </a:rPr>
              <a:t>Personal data.</a:t>
            </a:r>
            <a:r>
              <a:rPr lang="en-US" sz="1200" dirty="0">
                <a:solidFill>
                  <a:srgbClr val="3D4A5C"/>
                </a:solidFill>
                <a:latin typeface="DM Sans" pitchFamily="34" charset="0"/>
                <a:ea typeface="DM Sans" pitchFamily="34" charset="-122"/>
                <a:cs typeface="DM Sans" pitchFamily="34" charset="-120"/>
              </a:rPr>
              <a:t> Every record you open is recorded.</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A member's record showing contact details, emergency contacts and agreements">    </p:cNvPr>
          <p:cNvPicPr>
            <a:picLocks noChangeAspect="1"/>
          </p:cNvPicPr>
          <p:nvPr/>
        </p:nvPicPr>
        <p:blipFill>
          <a:blip r:embed="rId1"/>
          <a:srcRect l="-121" r="-121" t="0" b="0"/>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r>
          <p:cNvPicPr>
            <a:picLocks noChangeAspect="1"/>
          </p:cNvPicPr>
          <p:nvPr/>
        </p:nvPicPr>
        <p:blipFill>
          <a:blip r:embed="rId2"/>
          <a:srcRect l="0" r="0" t="-149" b="-149"/>
          <a:stretch/>
        </p:blipFill>
        <p:spPr>
          <a:xfrm>
            <a:off x="10109200" y="6229350"/>
            <a:ext cx="1270000" cy="28575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635000"/>
            <a:ext cx="2403158"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DM Sans" pitchFamily="34" charset="0"/>
                <a:ea typeface="DM Sans" pitchFamily="34" charset="-122"/>
                <a:cs typeface="DM Sans" pitchFamily="34" charset="-120"/>
              </a:rPr>
              <a:t>7 · MEMBERS AND LOGINS</a:t>
            </a:r>
            <a:endParaRPr lang="en-US" sz="1200" dirty="0"/>
          </a:p>
        </p:txBody>
      </p:sp>
      <p:sp>
        <p:nvSpPr>
          <p:cNvPr id="3" name="Text 1"/>
          <p:cNvSpPr/>
          <p:nvPr/>
        </p:nvSpPr>
        <p:spPr>
          <a:xfrm>
            <a:off x="3215958" y="609600"/>
            <a:ext cx="678101" cy="264160"/>
          </a:xfrm>
          <a:custGeom>
            <a:avLst/>
            <a:gdLst/>
            <a:ahLst/>
            <a:cxnLst/>
            <a:rect l="l" t="t" r="r" b="b"/>
            <a:pathLst>
              <a:path w="678101" h="264160">
                <a:moveTo>
                  <a:pt x="132080" y="0"/>
                </a:moveTo>
                <a:lnTo>
                  <a:pt x="546021" y="0"/>
                </a:lnTo>
                <a:arcTo hR="132080" wR="132080" stAng="16200000" swAng="5400000"/>
                <a:lnTo>
                  <a:pt x="678101" y="132080"/>
                </a:lnTo>
                <a:arcTo hR="132080" wR="132080" stAng="0" swAng="5400000"/>
                <a:lnTo>
                  <a:pt x="132080" y="264160"/>
                </a:lnTo>
                <a:arcTo hR="132080" wR="132080" stAng="5400000" swAng="5400000"/>
                <a:lnTo>
                  <a:pt x="0" y="132080"/>
                </a:lnTo>
                <a:arcTo hR="132080" wR="132080" stAng="10800000" swAng="5400000"/>
                <a:close/>
              </a:path>
            </a:pathLst>
          </a:custGeom>
          <a:solidFill>
            <a:srgbClr val="E8E3D8"/>
          </a:solidFill>
          <a:ln/>
        </p:spPr>
        <p:txBody>
          <a:bodyPr wrap="none" lIns="0" tIns="0" rIns="0" bIns="0" rtlCol="0" anchor="ctr">
            <a:normAutofit/>
          </a:bodyPr>
          <a:lstStyle/>
          <a:p>
            <a:pPr algn="ctr" indent="0" marL="0">
              <a:lnSpc>
                <a:spcPts val="1680"/>
              </a:lnSpc>
              <a:buNone/>
            </a:pPr>
            <a:r>
              <a:rPr lang="en-US" sz="1200" b="1" dirty="0">
                <a:solidFill>
                  <a:srgbClr val="101828"/>
                </a:solidFill>
                <a:latin typeface="DM Sans" pitchFamily="34" charset="0"/>
                <a:ea typeface="DM Sans" pitchFamily="34" charset="-122"/>
                <a:cs typeface="DM Sans" pitchFamily="34" charset="-120"/>
              </a:rPr>
              <a:t>Senior</a:t>
            </a:r>
            <a:endParaRPr lang="en-US" sz="1200" dirty="0"/>
          </a:p>
        </p:txBody>
      </p:sp>
      <p:sp>
        <p:nvSpPr>
          <p:cNvPr id="4" name="Text 2"/>
          <p:cNvSpPr/>
          <p:nvPr>
            <p:ph type="title"/>
          </p:nvPr>
        </p:nvSpPr>
        <p:spPr>
          <a:xfrm>
            <a:off x="812800" y="949958"/>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01828"/>
                </a:solidFill>
                <a:latin typeface="Poppins" pitchFamily="34" charset="0"/>
                <a:ea typeface="Poppins" pitchFamily="34" charset="-122"/>
                <a:cs typeface="Poppins" pitchFamily="34" charset="-120"/>
              </a:rPr>
              <a:t>Bringing members in from a spreadsheet</a:t>
            </a:r>
            <a:endParaRPr lang="en-US" sz="2800" dirty="0"/>
          </a:p>
        </p:txBody>
      </p:sp>
      <p:sp>
        <p:nvSpPr>
          <p:cNvPr id="5" name="Text 3"/>
          <p:cNvSpPr/>
          <p:nvPr/>
        </p:nvSpPr>
        <p:spPr>
          <a:xfrm>
            <a:off x="876300" y="1612900"/>
            <a:ext cx="3957828" cy="1518920"/>
          </a:xfrm>
          <a:prstGeom prst="rect">
            <a:avLst/>
          </a:prstGeom>
          <a:noFill/>
          <a:ln/>
        </p:spPr>
        <p:txBody>
          <a:bodyPr wrap="square" lIns="0" tIns="0" rIns="0" bIns="0" rtlCol="0" anchor="t">
            <a:normAutofit/>
          </a:bodyPr>
          <a:lstStyle/>
          <a:p>
            <a:pPr algn="l" marL="190500" indent="-190500">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Download template</a:t>
            </a:r>
            <a:r>
              <a:rPr lang="en-US" sz="1400" dirty="0">
                <a:solidFill>
                  <a:srgbClr val="3D4A5C"/>
                </a:solidFill>
                <a:latin typeface="DM Sans" pitchFamily="34" charset="0"/>
                <a:ea typeface="DM Sans" pitchFamily="34" charset="-122"/>
                <a:cs typeface="DM Sans" pitchFamily="34" charset="-120"/>
              </a:rPr>
              <a:t>, fill one row per person, save as CSV.</a:t>
            </a:r>
            <a:endParaRPr lang="en-US" sz="1400" dirty="0"/>
          </a:p>
          <a:p>
            <a:pPr algn="l" marL="190500" indent="-190500">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Upload filled-in file</a:t>
            </a:r>
            <a:r>
              <a:rPr lang="en-US" sz="1400" dirty="0">
                <a:solidFill>
                  <a:srgbClr val="3D4A5C"/>
                </a:solidFill>
                <a:latin typeface="DM Sans" pitchFamily="34" charset="0"/>
                <a:ea typeface="DM Sans" pitchFamily="34" charset="-122"/>
                <a:cs typeface="DM Sans" pitchFamily="34" charset="-120"/>
              </a:rPr>
              <a:t>.</a:t>
            </a:r>
            <a:endParaRPr lang="en-US" sz="1400" dirty="0"/>
          </a:p>
          <a:p>
            <a:pPr algn="l" marL="190500" indent="-190500">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Check the preview: who’s new, who’s updated, any problems.</a:t>
            </a:r>
            <a:endParaRPr lang="en-US" sz="1400" dirty="0"/>
          </a:p>
          <a:p>
            <a:pPr algn="l" marL="190500" indent="-190500">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Happy? Click </a:t>
            </a:r>
            <a:r>
              <a:rPr lang="en-US" sz="1400" b="1" dirty="0">
                <a:solidFill>
                  <a:srgbClr val="3D4A5C"/>
                </a:solidFill>
                <a:latin typeface="DM Sans" pitchFamily="34" charset="0"/>
                <a:ea typeface="DM Sans" pitchFamily="34" charset="-122"/>
                <a:cs typeface="DM Sans" pitchFamily="34" charset="-120"/>
              </a:rPr>
              <a:t>Import</a:t>
            </a:r>
            <a:r>
              <a:rPr lang="en-US" sz="1400" dirty="0">
                <a:solidFill>
                  <a:srgbClr val="3D4A5C"/>
                </a:solidFill>
                <a:latin typeface="DM Sans" pitchFamily="34" charset="0"/>
                <a:ea typeface="DM Sans" pitchFamily="34" charset="-122"/>
                <a:cs typeface="DM Sans" pitchFamily="34" charset="-120"/>
              </a:rPr>
              <a:t>.</a:t>
            </a:r>
            <a:endParaRPr lang="en-US" sz="1400" dirty="0"/>
          </a:p>
        </p:txBody>
      </p:sp>
      <p:sp>
        <p:nvSpPr>
          <p:cNvPr id="6" name="Text 4"/>
          <p:cNvSpPr/>
          <p:nvPr/>
        </p:nvSpPr>
        <p:spPr>
          <a:xfrm>
            <a:off x="819150" y="3265177"/>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algn="l" indent="0" marL="0">
              <a:lnSpc>
                <a:spcPts val="1680"/>
              </a:lnSpc>
              <a:buNone/>
            </a:pPr>
            <a:r>
              <a:rPr lang="en-US" sz="1200" b="1" dirty="0">
                <a:solidFill>
                  <a:srgbClr val="3D4A5C"/>
                </a:solidFill>
                <a:latin typeface="DM Sans" pitchFamily="34" charset="0"/>
                <a:ea typeface="DM Sans" pitchFamily="34" charset="-122"/>
                <a:cs typeface="DM Sans" pitchFamily="34" charset="-120"/>
              </a:rPr>
              <a:t>Nothing is saved until you click Import.</a:t>
            </a:r>
            <a:r>
              <a:rPr lang="en-US" sz="1200" dirty="0">
                <a:solidFill>
                  <a:srgbClr val="3D4A5C"/>
                </a:solidFill>
                <a:latin typeface="DM Sans" pitchFamily="34" charset="0"/>
                <a:ea typeface="DM Sans" pitchFamily="34" charset="-122"/>
                <a:cs typeface="DM Sans" pitchFamily="34" charset="-120"/>
              </a:rPr>
              <a:t> A blank cell never wipes what’s already on file.</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The import preview listing new and updated people before anything is saved">    </p:cNvPr>
          <p:cNvPicPr>
            <a:picLocks noChangeAspect="1"/>
          </p:cNvPicPr>
          <p:nvPr/>
        </p:nvPicPr>
        <p:blipFill>
          <a:blip r:embed="rId1"/>
          <a:srcRect l="-121" r="-121" t="0" b="0"/>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r>
          <p:cNvPicPr>
            <a:picLocks noChangeAspect="1"/>
          </p:cNvPicPr>
          <p:nvPr/>
        </p:nvPicPr>
        <p:blipFill>
          <a:blip r:embed="rId2"/>
          <a:srcRect l="0" r="0" t="-149" b="-149"/>
          <a:stretch/>
        </p:blipFill>
        <p:spPr>
          <a:xfrm>
            <a:off x="10109200" y="6229350"/>
            <a:ext cx="1270000" cy="28575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635000"/>
            <a:ext cx="2403158"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DM Sans" pitchFamily="34" charset="0"/>
                <a:ea typeface="DM Sans" pitchFamily="34" charset="-122"/>
                <a:cs typeface="DM Sans" pitchFamily="34" charset="-120"/>
              </a:rPr>
              <a:t>7 · MEMBERS AND LOGINS</a:t>
            </a:r>
            <a:endParaRPr lang="en-US" sz="1200" dirty="0"/>
          </a:p>
        </p:txBody>
      </p:sp>
      <p:sp>
        <p:nvSpPr>
          <p:cNvPr id="3" name="Text 1"/>
          <p:cNvSpPr/>
          <p:nvPr/>
        </p:nvSpPr>
        <p:spPr>
          <a:xfrm>
            <a:off x="3215958" y="609600"/>
            <a:ext cx="678101" cy="264160"/>
          </a:xfrm>
          <a:custGeom>
            <a:avLst/>
            <a:gdLst/>
            <a:ahLst/>
            <a:cxnLst/>
            <a:rect l="l" t="t" r="r" b="b"/>
            <a:pathLst>
              <a:path w="678101" h="264160">
                <a:moveTo>
                  <a:pt x="132080" y="0"/>
                </a:moveTo>
                <a:lnTo>
                  <a:pt x="546021" y="0"/>
                </a:lnTo>
                <a:arcTo hR="132080" wR="132080" stAng="16200000" swAng="5400000"/>
                <a:lnTo>
                  <a:pt x="678101" y="132080"/>
                </a:lnTo>
                <a:arcTo hR="132080" wR="132080" stAng="0" swAng="5400000"/>
                <a:lnTo>
                  <a:pt x="132080" y="264160"/>
                </a:lnTo>
                <a:arcTo hR="132080" wR="132080" stAng="5400000" swAng="5400000"/>
                <a:lnTo>
                  <a:pt x="0" y="132080"/>
                </a:lnTo>
                <a:arcTo hR="132080" wR="132080" stAng="10800000" swAng="5400000"/>
                <a:close/>
              </a:path>
            </a:pathLst>
          </a:custGeom>
          <a:solidFill>
            <a:srgbClr val="E8E3D8"/>
          </a:solidFill>
          <a:ln/>
        </p:spPr>
        <p:txBody>
          <a:bodyPr wrap="none" lIns="0" tIns="0" rIns="0" bIns="0" rtlCol="0" anchor="ctr">
            <a:normAutofit/>
          </a:bodyPr>
          <a:lstStyle/>
          <a:p>
            <a:pPr algn="ctr" indent="0" marL="0">
              <a:lnSpc>
                <a:spcPts val="1680"/>
              </a:lnSpc>
              <a:buNone/>
            </a:pPr>
            <a:r>
              <a:rPr lang="en-US" sz="1200" b="1" dirty="0">
                <a:solidFill>
                  <a:srgbClr val="101828"/>
                </a:solidFill>
                <a:latin typeface="DM Sans" pitchFamily="34" charset="0"/>
                <a:ea typeface="DM Sans" pitchFamily="34" charset="-122"/>
                <a:cs typeface="DM Sans" pitchFamily="34" charset="-120"/>
              </a:rPr>
              <a:t>Senior</a:t>
            </a:r>
            <a:endParaRPr lang="en-US" sz="1200" dirty="0"/>
          </a:p>
        </p:txBody>
      </p:sp>
      <p:sp>
        <p:nvSpPr>
          <p:cNvPr id="4" name="Text 2"/>
          <p:cNvSpPr/>
          <p:nvPr>
            <p:ph type="title"/>
          </p:nvPr>
        </p:nvSpPr>
        <p:spPr>
          <a:xfrm>
            <a:off x="812800" y="949958"/>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01828"/>
                </a:solidFill>
                <a:latin typeface="Poppins" pitchFamily="34" charset="0"/>
                <a:ea typeface="Poppins" pitchFamily="34" charset="-122"/>
                <a:cs typeface="Poppins" pitchFamily="34" charset="-120"/>
              </a:rPr>
              <a:t>Adding players and logins</a:t>
            </a:r>
            <a:endParaRPr lang="en-US" sz="2800" dirty="0"/>
          </a:p>
        </p:txBody>
      </p:sp>
      <p:sp>
        <p:nvSpPr>
          <p:cNvPr id="5" name="Text 3"/>
          <p:cNvSpPr/>
          <p:nvPr/>
        </p:nvSpPr>
        <p:spPr>
          <a:xfrm>
            <a:off x="879157" y="1612900"/>
            <a:ext cx="3954971" cy="1270000"/>
          </a:xfrm>
          <a:prstGeom prst="rect">
            <a:avLst/>
          </a:prstGeom>
          <a:noFill/>
          <a:ln/>
        </p:spPr>
        <p:txBody>
          <a:bodyPr wrap="square" lIns="0" tIns="0" rIns="0" bIns="0" rtlCol="0" anchor="t">
            <a:normAutofit/>
          </a:bodyPr>
          <a:lstStyle/>
          <a:p>
            <a:pPr algn="l" marL="187643" indent="-187643">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Players &amp; logins</a:t>
            </a:r>
            <a:r>
              <a:rPr lang="en-US" sz="1400" dirty="0">
                <a:solidFill>
                  <a:srgbClr val="3D4A5C"/>
                </a:solidFill>
                <a:latin typeface="DM Sans" pitchFamily="34" charset="0"/>
                <a:ea typeface="DM Sans" pitchFamily="34" charset="-122"/>
                <a:cs typeface="DM Sans" pitchFamily="34" charset="-120"/>
              </a:rPr>
              <a:t> → </a:t>
            </a:r>
            <a:r>
              <a:rPr lang="en-US" sz="1400" b="1" dirty="0">
                <a:solidFill>
                  <a:srgbClr val="3D4A5C"/>
                </a:solidFill>
                <a:latin typeface="DM Sans" pitchFamily="34" charset="0"/>
                <a:ea typeface="DM Sans" pitchFamily="34" charset="-122"/>
                <a:cs typeface="DM Sans" pitchFamily="34" charset="-120"/>
              </a:rPr>
              <a:t>Add a player</a:t>
            </a:r>
            <a:r>
              <a:rPr lang="en-US" sz="1400" dirty="0">
                <a:solidFill>
                  <a:srgbClr val="3D4A5C"/>
                </a:solidFill>
                <a:latin typeface="DM Sans" pitchFamily="34" charset="0"/>
                <a:ea typeface="DM Sans" pitchFamily="34" charset="-122"/>
                <a:cs typeface="DM Sans" pitchFamily="34" charset="-120"/>
              </a:rPr>
              <a:t>: name, gender, email and a starting rating.</a:t>
            </a:r>
            <a:endParaRPr lang="en-US" sz="1400" dirty="0"/>
          </a:p>
          <a:p>
            <a:pPr algn="l" marL="187643" indent="-187643">
              <a:lnSpc>
                <a:spcPts val="1960"/>
              </a:lnSpc>
              <a:buSzPct val="100000"/>
              <a:buFontTx/>
              <a:buAutoNum type="arabicPeriod" startAt="1"/>
            </a:pPr>
            <a:r>
              <a:rPr lang="en-US" sz="1400" dirty="0">
                <a:solidFill>
                  <a:srgbClr val="3D4A5C"/>
                </a:solidFill>
                <a:latin typeface="DM Sans" pitchFamily="34" charset="0"/>
                <a:ea typeface="DM Sans" pitchFamily="34" charset="-122"/>
                <a:cs typeface="DM Sans" pitchFamily="34" charset="-120"/>
              </a:rPr>
              <a:t>Click </a:t>
            </a:r>
            <a:r>
              <a:rPr lang="en-US" sz="1400" b="1" dirty="0">
                <a:solidFill>
                  <a:srgbClr val="3D4A5C"/>
                </a:solidFill>
                <a:latin typeface="DM Sans" pitchFamily="34" charset="0"/>
                <a:ea typeface="DM Sans" pitchFamily="34" charset="-122"/>
                <a:cs typeface="DM Sans" pitchFamily="34" charset="-120"/>
              </a:rPr>
              <a:t>+ Add</a:t>
            </a:r>
            <a:r>
              <a:rPr lang="en-US" sz="1400" dirty="0">
                <a:solidFill>
                  <a:srgbClr val="3D4A5C"/>
                </a:solidFill>
                <a:latin typeface="DM Sans" pitchFamily="34" charset="0"/>
                <a:ea typeface="DM Sans" pitchFamily="34" charset="-122"/>
                <a:cs typeface="DM Sans" pitchFamily="34" charset="-120"/>
              </a:rPr>
              <a:t>. With an email, they can sign in and book straight away.</a:t>
            </a:r>
            <a:endParaRPr lang="en-US" sz="1400" dirty="0"/>
          </a:p>
          <a:p>
            <a:pPr algn="l" marL="187643" indent="-187643">
              <a:lnSpc>
                <a:spcPts val="1960"/>
              </a:lnSpc>
              <a:buSzPct val="100000"/>
              <a:buFontTx/>
              <a:buAutoNum type="arabicPeriod" startAt="1"/>
            </a:pPr>
            <a:r>
              <a:rPr lang="en-US" sz="1400" b="1" dirty="0">
                <a:solidFill>
                  <a:srgbClr val="3D4A5C"/>
                </a:solidFill>
                <a:latin typeface="DM Sans" pitchFamily="34" charset="0"/>
                <a:ea typeface="DM Sans" pitchFamily="34" charset="-122"/>
                <a:cs typeface="DM Sans" pitchFamily="34" charset="-120"/>
              </a:rPr>
              <a:t>Can log in</a:t>
            </a:r>
            <a:r>
              <a:rPr lang="en-US" sz="1400" dirty="0">
                <a:solidFill>
                  <a:srgbClr val="3D4A5C"/>
                </a:solidFill>
                <a:latin typeface="DM Sans" pitchFamily="34" charset="0"/>
                <a:ea typeface="DM Sans" pitchFamily="34" charset="-122"/>
                <a:cs typeface="DM Sans" pitchFamily="34" charset="-120"/>
              </a:rPr>
              <a:t> shows who can sign in to book.</a:t>
            </a:r>
            <a:endParaRPr lang="en-US" sz="1400" dirty="0"/>
          </a:p>
        </p:txBody>
      </p:sp>
      <p:sp>
        <p:nvSpPr>
          <p:cNvPr id="6" name="Text 4"/>
          <p:cNvSpPr/>
          <p:nvPr/>
        </p:nvSpPr>
        <p:spPr>
          <a:xfrm>
            <a:off x="819150" y="3016250"/>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algn="l" indent="0" marL="0">
              <a:lnSpc>
                <a:spcPts val="1680"/>
              </a:lnSpc>
              <a:buNone/>
            </a:pPr>
            <a:r>
              <a:rPr lang="en-US" sz="1200" b="1" dirty="0">
                <a:solidFill>
                  <a:srgbClr val="3D4A5C"/>
                </a:solidFill>
                <a:latin typeface="DM Sans" pitchFamily="34" charset="0"/>
                <a:ea typeface="DM Sans" pitchFamily="34" charset="-122"/>
                <a:cs typeface="DM Sans" pitchFamily="34" charset="-120"/>
              </a:rPr>
              <a:t>Already listed, no login?</a:t>
            </a:r>
            <a:r>
              <a:rPr lang="en-US" sz="1200" dirty="0">
                <a:solidFill>
                  <a:srgbClr val="3D4A5C"/>
                </a:solidFill>
                <a:latin typeface="DM Sans" pitchFamily="34" charset="0"/>
                <a:ea typeface="DM Sans" pitchFamily="34" charset="-122"/>
                <a:cs typeface="DM Sans" pitchFamily="34" charset="-120"/>
              </a:rPr>
              <a:t> Add their email, then </a:t>
            </a:r>
            <a:r>
              <a:rPr lang="en-US" sz="1200" b="1" dirty="0">
                <a:solidFill>
                  <a:srgbClr val="3D4A5C"/>
                </a:solidFill>
                <a:latin typeface="DM Sans" pitchFamily="34" charset="0"/>
                <a:ea typeface="DM Sans" pitchFamily="34" charset="-122"/>
                <a:cs typeface="DM Sans" pitchFamily="34" charset="-120"/>
              </a:rPr>
              <a:t>Give them access to booking</a:t>
            </a:r>
            <a:r>
              <a:rPr lang="en-US" sz="1200" dirty="0">
                <a:solidFill>
                  <a:srgbClr val="3D4A5C"/>
                </a:solidFill>
                <a:latin typeface="DM Sans" pitchFamily="34" charset="0"/>
                <a:ea typeface="DM Sans" pitchFamily="34" charset="-122"/>
                <a:cs typeface="DM Sans" pitchFamily="34" charset="-120"/>
              </a:rPr>
              <a:t>.</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The Add a player form in Players and logins">    </p:cNvPr>
          <p:cNvPicPr>
            <a:picLocks noChangeAspect="1"/>
          </p:cNvPicPr>
          <p:nvPr/>
        </p:nvPicPr>
        <p:blipFill>
          <a:blip r:embed="rId1"/>
          <a:srcRect l="-121" r="-121" t="0" b="0"/>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r>
          <p:cNvPicPr>
            <a:picLocks noChangeAspect="1"/>
          </p:cNvPicPr>
          <p:nvPr/>
        </p:nvPicPr>
        <p:blipFill>
          <a:blip r:embed="rId2"/>
          <a:srcRect l="0" r="0" t="-149" b="-149"/>
          <a:stretch/>
        </p:blipFill>
        <p:spPr>
          <a:xfrm>
            <a:off x="10109200" y="6229350"/>
            <a:ext cx="1270000" cy="28575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97316"/>
          </a:solidFill>
          <a:ln/>
        </p:spPr>
      </p:sp>
      <p:sp>
        <p:nvSpPr>
          <p:cNvPr id="3" name="Text 1"/>
          <p:cNvSpPr/>
          <p:nvPr>
            <p:ph type="title"/>
          </p:nvPr>
        </p:nvSpPr>
        <p:spPr>
          <a:xfrm>
            <a:off x="812800" y="1788158"/>
            <a:ext cx="10883392" cy="66548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6F4EF"/>
                </a:solidFill>
                <a:latin typeface="Poppins" pitchFamily="34" charset="0"/>
                <a:ea typeface="Poppins" pitchFamily="34" charset="-122"/>
                <a:cs typeface="Poppins" pitchFamily="34" charset="-120"/>
              </a:rPr>
              <a:t>Help when you need it</a:t>
            </a:r>
            <a:endParaRPr lang="en-US" sz="4800" dirty="0"/>
          </a:p>
        </p:txBody>
      </p:sp>
      <p:sp>
        <p:nvSpPr>
          <p:cNvPr id="4" name="Shape 2"/>
          <p:cNvSpPr/>
          <p:nvPr/>
        </p:nvSpPr>
        <p:spPr>
          <a:xfrm>
            <a:off x="812800" y="2733055"/>
            <a:ext cx="3386614" cy="2336800"/>
          </a:xfrm>
          <a:prstGeom prst="roundRect">
            <a:avLst>
              <a:gd name="adj" fmla="val 5435"/>
            </a:avLst>
          </a:prstGeom>
          <a:solidFill>
            <a:srgbClr val="1D2939"/>
          </a:solidFill>
          <a:ln/>
        </p:spPr>
      </p:sp>
      <p:pic>
        <p:nvPicPr>
          <p:cNvPr id="5" name="Image 0" descr="Book">    </p:cNvPr>
          <p:cNvPicPr>
            <a:picLocks noChangeAspect="1"/>
          </p:cNvPicPr>
          <p:nvPr/>
        </p:nvPicPr>
        <p:blipFill>
          <a:blip r:embed="rId1"/>
          <a:srcRect l="0" r="0" t="0" b="0"/>
          <a:stretch/>
        </p:blipFill>
        <p:spPr>
          <a:xfrm>
            <a:off x="1066800" y="2987055"/>
            <a:ext cx="355600" cy="355600"/>
          </a:xfrm>
          <a:prstGeom prst="rect">
            <a:avLst/>
          </a:prstGeom>
        </p:spPr>
      </p:pic>
      <p:sp>
        <p:nvSpPr>
          <p:cNvPr id="6" name="Text 3"/>
          <p:cNvSpPr/>
          <p:nvPr/>
        </p:nvSpPr>
        <p:spPr>
          <a:xfrm>
            <a:off x="1066800" y="3444255"/>
            <a:ext cx="296497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4EF"/>
                </a:solidFill>
                <a:latin typeface="Poppins" pitchFamily="34" charset="0"/>
                <a:ea typeface="Poppins" pitchFamily="34" charset="-122"/>
                <a:cs typeface="Poppins" pitchFamily="34" charset="-120"/>
              </a:rPr>
              <a:t>Help &amp; guides</a:t>
            </a:r>
            <a:endParaRPr lang="en-US" sz="1800" dirty="0"/>
          </a:p>
        </p:txBody>
      </p:sp>
      <p:sp>
        <p:nvSpPr>
          <p:cNvPr id="7" name="Text 4"/>
          <p:cNvSpPr/>
          <p:nvPr/>
        </p:nvSpPr>
        <p:spPr>
          <a:xfrm>
            <a:off x="1066800" y="3820170"/>
            <a:ext cx="2964972"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0D5DD"/>
                </a:solidFill>
                <a:latin typeface="DM Sans" pitchFamily="34" charset="0"/>
                <a:ea typeface="DM Sans" pitchFamily="34" charset="-122"/>
                <a:cs typeface="DM Sans" pitchFamily="34" charset="-120"/>
              </a:rPr>
              <a:t>Bottom of the menu. Every job step by step, with pictures. You only see the guides for what you can do.</a:t>
            </a:r>
            <a:endParaRPr lang="en-US" sz="1400" dirty="0"/>
          </a:p>
        </p:txBody>
      </p:sp>
      <p:sp>
        <p:nvSpPr>
          <p:cNvPr id="8" name="Shape 5"/>
          <p:cNvSpPr/>
          <p:nvPr/>
        </p:nvSpPr>
        <p:spPr>
          <a:xfrm>
            <a:off x="4402614" y="2733055"/>
            <a:ext cx="3386693" cy="2336800"/>
          </a:xfrm>
          <a:prstGeom prst="roundRect">
            <a:avLst>
              <a:gd name="adj" fmla="val 5435"/>
            </a:avLst>
          </a:prstGeom>
          <a:solidFill>
            <a:srgbClr val="1D2939"/>
          </a:solidFill>
          <a:ln/>
        </p:spPr>
      </p:sp>
      <p:pic>
        <p:nvPicPr>
          <p:cNvPr id="9" name="Image 1" descr="Users">    </p:cNvPr>
          <p:cNvPicPr>
            <a:picLocks noChangeAspect="1"/>
          </p:cNvPicPr>
          <p:nvPr/>
        </p:nvPicPr>
        <p:blipFill>
          <a:blip r:embed="rId2"/>
          <a:srcRect l="0" r="0" t="0" b="0"/>
          <a:stretch/>
        </p:blipFill>
        <p:spPr>
          <a:xfrm>
            <a:off x="4656614" y="2987055"/>
            <a:ext cx="355600" cy="355600"/>
          </a:xfrm>
          <a:prstGeom prst="rect">
            <a:avLst/>
          </a:prstGeom>
        </p:spPr>
      </p:pic>
      <p:sp>
        <p:nvSpPr>
          <p:cNvPr id="10" name="Text 6"/>
          <p:cNvSpPr/>
          <p:nvPr/>
        </p:nvSpPr>
        <p:spPr>
          <a:xfrm>
            <a:off x="4656614" y="3444255"/>
            <a:ext cx="296505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4EF"/>
                </a:solidFill>
                <a:latin typeface="Poppins" pitchFamily="34" charset="0"/>
                <a:ea typeface="Poppins" pitchFamily="34" charset="-122"/>
                <a:cs typeface="Poppins" pitchFamily="34" charset="-120"/>
              </a:rPr>
              <a:t>Your club’s Seniors</a:t>
            </a:r>
            <a:endParaRPr lang="en-US" sz="1800" dirty="0"/>
          </a:p>
        </p:txBody>
      </p:sp>
      <p:sp>
        <p:nvSpPr>
          <p:cNvPr id="11" name="Text 7"/>
          <p:cNvSpPr/>
          <p:nvPr/>
        </p:nvSpPr>
        <p:spPr>
          <a:xfrm>
            <a:off x="4656614" y="3820170"/>
            <a:ext cx="2965054"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0D5DD"/>
                </a:solidFill>
                <a:latin typeface="DM Sans" pitchFamily="34" charset="0"/>
                <a:ea typeface="DM Sans" pitchFamily="34" charset="-122"/>
                <a:cs typeface="DM Sans" pitchFamily="34" charset="-120"/>
              </a:rPr>
              <a:t>For changing what your level can do, or adding a new admin: [name and contact].</a:t>
            </a:r>
            <a:endParaRPr lang="en-US" sz="1400" dirty="0"/>
          </a:p>
        </p:txBody>
      </p:sp>
      <p:sp>
        <p:nvSpPr>
          <p:cNvPr id="12" name="Shape 8"/>
          <p:cNvSpPr/>
          <p:nvPr/>
        </p:nvSpPr>
        <p:spPr>
          <a:xfrm>
            <a:off x="7992507" y="2733055"/>
            <a:ext cx="3386693" cy="2336800"/>
          </a:xfrm>
          <a:prstGeom prst="roundRect">
            <a:avLst>
              <a:gd name="adj" fmla="val 5435"/>
            </a:avLst>
          </a:prstGeom>
          <a:solidFill>
            <a:srgbClr val="1D2939"/>
          </a:solidFill>
          <a:ln/>
        </p:spPr>
      </p:sp>
      <p:pic>
        <p:nvPicPr>
          <p:cNvPr id="13" name="Image 2" descr="Chat">    </p:cNvPr>
          <p:cNvPicPr>
            <a:picLocks noChangeAspect="1"/>
          </p:cNvPicPr>
          <p:nvPr/>
        </p:nvPicPr>
        <p:blipFill>
          <a:blip r:embed="rId3"/>
          <a:srcRect l="0" r="0" t="0" b="0"/>
          <a:stretch/>
        </p:blipFill>
        <p:spPr>
          <a:xfrm>
            <a:off x="8246507" y="2987055"/>
            <a:ext cx="355600" cy="355600"/>
          </a:xfrm>
          <a:prstGeom prst="rect">
            <a:avLst/>
          </a:prstGeom>
        </p:spPr>
      </p:pic>
      <p:sp>
        <p:nvSpPr>
          <p:cNvPr id="14" name="Text 9"/>
          <p:cNvSpPr/>
          <p:nvPr/>
        </p:nvSpPr>
        <p:spPr>
          <a:xfrm>
            <a:off x="8246507" y="3444255"/>
            <a:ext cx="296505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4EF"/>
                </a:solidFill>
                <a:latin typeface="Poppins" pitchFamily="34" charset="0"/>
                <a:ea typeface="Poppins" pitchFamily="34" charset="-122"/>
                <a:cs typeface="Poppins" pitchFamily="34" charset="-120"/>
              </a:rPr>
              <a:t>twoclear</a:t>
            </a:r>
            <a:endParaRPr lang="en-US" sz="1800" dirty="0"/>
          </a:p>
        </p:txBody>
      </p:sp>
      <p:sp>
        <p:nvSpPr>
          <p:cNvPr id="15" name="Text 10"/>
          <p:cNvSpPr/>
          <p:nvPr/>
        </p:nvSpPr>
        <p:spPr>
          <a:xfrm>
            <a:off x="8246507" y="3820170"/>
            <a:ext cx="296505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0D5DD"/>
                </a:solidFill>
                <a:latin typeface="DM Sans" pitchFamily="34" charset="0"/>
                <a:ea typeface="DM Sans" pitchFamily="34" charset="-122"/>
                <a:cs typeface="DM Sans" pitchFamily="34" charset="-120"/>
              </a:rPr>
              <a:t>Something not working as it should? hello@twoclear.co.uk</a:t>
            </a:r>
            <a:endParaRPr lang="en-US" sz="1400" dirty="0"/>
          </a:p>
        </p:txBody>
      </p:sp>
      <p:pic>
        <p:nvPicPr>
          <p:cNvPr id="16" name="Image 3" descr="twoclear">    </p:cNvPr>
          <p:cNvPicPr>
            <a:picLocks noChangeAspect="1"/>
          </p:cNvPicPr>
          <p:nvPr/>
        </p:nvPicPr>
        <p:blipFill>
          <a:blip r:embed="rId4"/>
          <a:srcRect l="-224" r="-224" t="0" b="0"/>
          <a:stretch/>
        </p:blipFill>
        <p:spPr>
          <a:xfrm>
            <a:off x="9474200" y="5822950"/>
            <a:ext cx="1905000" cy="425450"/>
          </a:xfrm>
          <a:prstGeom prst="rect">
            <a:avLst/>
          </a:prstGeom>
        </p:spPr>
      </p:pic>
    </p:spTree>
  </p:cSld>
  <p:clrMapOvr>
    <a:masterClrMapping/>
  </p:clrMapOvr>
</p:sld>
</file>

<file path=ppt/theme/theme1.xml><?xml version="1.0" encoding="utf-8"?>
<a:theme xmlns:a="http://schemas.openxmlformats.org/drawingml/2006/main" name="Running your club on twoclear">
  <a:themeElements>
    <a:clrScheme name="Running your club on twoclear">
      <a:dk1>
        <a:srgbClr val="3D4A5C"/>
      </a:dk1>
      <a:lt1>
        <a:srgbClr val="F6F4EF"/>
      </a:lt1>
      <a:dk2>
        <a:srgbClr val="6B7581"/>
      </a:dk2>
      <a:lt2>
        <a:srgbClr val="E4E3E0"/>
      </a:lt2>
      <a:accent1>
        <a:srgbClr val="F97316"/>
      </a:accent1>
      <a:accent2>
        <a:srgbClr val="C2410C"/>
      </a:accent2>
      <a:accent3>
        <a:srgbClr val="101828"/>
      </a:accent3>
      <a:accent4>
        <a:srgbClr val="6B7686"/>
      </a:accent4>
      <a:accent5>
        <a:srgbClr val="C9D2E0"/>
      </a:accent5>
      <a:accent6>
        <a:srgbClr val="1D2939"/>
      </a:accent6>
      <a:hlink>
        <a:srgbClr val="0563C1"/>
      </a:hlink>
      <a:folHlink>
        <a:srgbClr val="954F72"/>
      </a:folHlink>
    </a:clrScheme>
    <a:fontScheme name="Running your club on twoclear">
      <a:majorFont>
        <a:latin typeface="Poppi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Running your club on twoclear</dc:title>
  <dc:subject/>
  <dc:creator/>
  <cp:lastModifiedBy/>
  <cp:revision>1</cp:revision>
  <dcterms:created xsi:type="dcterms:W3CDTF">2026-10-08T13:10:12Z</dcterms:created>
  <dcterms:modified xsi:type="dcterms:W3CDTF">2026-10-08T13:10:12Z</dcterms:modified>
</cp:coreProperties>
</file>