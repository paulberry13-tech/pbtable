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use the next slide to pick the sections for the people in the room. Hide the sections they don't need (they're grouped in the deck's outline). Ambassadors usually need sections 1 and 2; Committee add 4; Seniors need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Swindon's levels today. Ambassadors: open, edit and publish sessions, and remove bookings. Committee: the same, plus free places (comps), taster sessions, guardian contacts, results and the money reports. Seniors: everything. If Ambassadors should add names at the last minute or see emergency info on the night, a Senior can switch that on for them in Admins. Then update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the same way. What appears in the Admin menu depends on each person's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code arriving? Check spam or junk, and use the newest code, because they expire quickly. Someone who can't sign in at all probably hasn't been set up as an admin with that email: a Senior adds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only shows what each admin can use, so different people in the room will see different menus. Graded sessions appears too, at clubs that run graded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Ambassadors and Committee: opening, publishing and the waiting list. Seniors: also adding someone, emergency info and cancelling (Swindon's levels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updates the booked list if people are booking as you watch. Remove takes a booking off (Ambassadors can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without enough money in their wallet are skipped, not removed, so remind waiting players to keep topped up. The lock time is set in Club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 can also give a free place (a comp) where the club allows it. A walk-in who isn't on the system yet needs adding as a player first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notes appear only for members who agreed to the club keeping them. If the club asks everyone who books for an emergency contact (Club settings), visitors appear here too. A Senior can give session leaders access in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when a session can't go ahead (venue, weather). Refunds go to wallets, not back to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sessions is for Seniors at Swindon today. Ambassadors and Committee can still edit and publish sessions once they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starts at the club's usual price (Club settings); change it for a session that costs something different. Members and non-members can have different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(show members) and opening booking are open to Ambassadors at Swindon, so this slide suits them even if they skip the rest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date becomes its own session, so a bank holiday or a venue change only touches that one. Booking for each opens by itself the set number of days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 can run the reports. Adjusting someone's balance is for Seniors.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figure next to someone means £0. A minus amount takes money off. Every adjustment shows in the money report with its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payments go straight to the club's own Stripe account. Stripe's own fees are in the club's Stripe payout reports, not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Club settings change things for everyone, so they're kept for Seniors. Nothing changes until you press Save club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already made keep their own price when the usual price changes. The lock also stops the waiting list moving close to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off people they look after doesn't remove anyone already added. The emergency contact appears in Emergency info on the session, like a member's, and admins booking someone in are never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data lives here, so it's for Seniors only, and every record opened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Erase deletes date of birth, contacts, address, health notes and consents, but keeps the name, results, login and payments. A child who has turned 18: Give them their own login, in the same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are matched by email, then by name. A row marked Problem says what's wrong and is left out: fix it in the file and upload again. Uploading the same file again updates people rather than adding them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rename a player who already has games: change the email or details instead, and ask twoclear if a name really must change. If the club lets new players join online, they arrive by themselves as non-members.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club contact before presenting. Players have their own two-page handout: putting the club on their phone, and booking 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61"/>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63701"/>
            <a:ext cx="10566400" cy="4381499"/>
          </a:xfrm>
          <a:prstGeom prst="rect">
            <a:avLst/>
          </a:prstGeom>
          <a:noFill/>
          <a:ln/>
        </p:spPr>
        <p:txBody>
          <a:bodyPr wrap="square" lIns="0" tIns="0" rIns="0" bIns="0" rtlCol="0" anchor="t"/>
          <a:lstStyle>
            <a:lvl1pPr algn="l" indent="0" marL="0">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61"/>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63701"/>
            <a:ext cx="10566400" cy="4381499"/>
          </a:xfrm>
          <a:prstGeom prst="rect">
            <a:avLst/>
          </a:prstGeom>
          <a:noFill/>
          <a:ln/>
        </p:spPr>
        <p:txBody>
          <a:bodyPr wrap="square" lIns="0" tIns="0" rIns="0" bIns="0" rtlCol="0" anchor="t"/>
          <a:lstStyle>
            <a:lvl1pPr algn="l" indent="0" marL="0">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webp"/><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webp"/><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webp"/><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webp"/><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webp"/><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webp"/><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webp"/><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webp"/><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webp"/><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webp"/><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webp"/><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97316"/>
                </a:solidFill>
                <a:latin typeface="DM Sans" pitchFamily="34" charset="0"/>
                <a:ea typeface="DM Sans" pitchFamily="34" charset="-122"/>
                <a:cs typeface="DM Sans" pitchFamily="34" charset="-120"/>
              </a:rPr>
              <a:t>ADMIN TRAINING · SWINDON PICKLEBALL CLUB</a:t>
            </a:r>
            <a:endParaRPr lang="en-US" sz="1400" dirty="0"/>
          </a:p>
        </p:txBody>
      </p:sp>
      <p:sp>
        <p:nvSpPr>
          <p:cNvPr id="4" name="Text 2"/>
          <p:cNvSpPr/>
          <p:nvPr>
            <p:ph type="title"/>
          </p:nvPr>
        </p:nvSpPr>
        <p:spPr>
          <a:xfrm>
            <a:off x="812800" y="2127250"/>
            <a:ext cx="10883392" cy="1803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6F4EF"/>
                </a:solidFill>
                <a:latin typeface="Poppins" pitchFamily="34" charset="0"/>
                <a:ea typeface="Poppins" pitchFamily="34" charset="-122"/>
                <a:cs typeface="Poppins" pitchFamily="34" charset="-120"/>
              </a:rPr>
              <a:t>Running your club</a:t>
            </a:r>
            <a:endParaRPr lang="en-US" sz="7000" dirty="0"/>
          </a:p>
          <a:p>
            <a:pPr algn="l" indent="0" marL="0">
              <a:lnSpc>
                <a:spcPts val="7000"/>
              </a:lnSpc>
              <a:buNone/>
            </a:pPr>
            <a:r>
              <a:rPr lang="en-US" sz="7000" b="1" i="0" dirty="0">
                <a:solidFill>
                  <a:srgbClr val="F6F4EF"/>
                </a:solidFill>
                <a:latin typeface="Poppins" pitchFamily="34" charset="0"/>
                <a:ea typeface="Poppins" pitchFamily="34" charset="-122"/>
                <a:cs typeface="Poppins" pitchFamily="34" charset="-120"/>
              </a:rPr>
              <a:t>on twoclear</a:t>
            </a:r>
            <a:endParaRPr lang="en-US" sz="7000" dirty="0"/>
          </a:p>
        </p:txBody>
      </p:sp>
      <p:sp>
        <p:nvSpPr>
          <p:cNvPr id="5" name="Text 3"/>
          <p:cNvSpPr/>
          <p:nvPr/>
        </p:nvSpPr>
        <p:spPr>
          <a:xfrm>
            <a:off x="812800" y="4108450"/>
            <a:ext cx="78486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2E0"/>
                </a:solidFill>
                <a:latin typeface="DM Sans" pitchFamily="34" charset="0"/>
                <a:ea typeface="DM Sans" pitchFamily="34" charset="-122"/>
                <a:cs typeface="DM Sans" pitchFamily="34" charset="-120"/>
              </a:rPr>
              <a:t>Sessions, bookings, money and members’ details: what each admin needs, step by step.</a:t>
            </a:r>
            <a:endParaRPr lang="en-US" sz="1800" dirty="0"/>
          </a:p>
        </p:txBody>
      </p:sp>
      <p:sp>
        <p:nvSpPr>
          <p:cNvPr id="6" name="Text 4"/>
          <p:cNvSpPr/>
          <p:nvPr/>
        </p:nvSpPr>
        <p:spPr>
          <a:xfrm>
            <a:off x="812800" y="581406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0"/>
                </a:solidFill>
                <a:latin typeface="DM Sans" pitchFamily="34" charset="0"/>
                <a:ea typeface="DM Sans" pitchFamily="34" charset="-122"/>
                <a:cs typeface="DM Sans" pitchFamily="34" charset="-120"/>
              </a:rPr>
              <a:t>Pictures are from the demo club. You’ll see your own club’s name, sessions and members.</a:t>
            </a:r>
            <a:endParaRPr lang="en-US" sz="1300" dirty="0"/>
          </a:p>
        </p:txBody>
      </p:sp>
      <p:pic>
        <p:nvPicPr>
          <p:cNvPr id="7" name="Image 0" descr="twoclear">    </p:cNvPr>
          <p:cNvPicPr>
            <a:picLocks noChangeAspect="1"/>
          </p:cNvPicPr>
          <p:nvPr/>
        </p:nvPicPr>
        <p:blipFill>
          <a:blip r:embed="rId1"/>
          <a:srcRect l="0" r="0" t="-149" b="-149"/>
          <a:stretch/>
        </p:blipFill>
        <p:spPr>
          <a:xfrm>
            <a:off x="9093200" y="660400"/>
            <a:ext cx="2286000" cy="514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BEFORE WE START</a:t>
            </a:r>
            <a:endParaRPr lang="en-US" sz="1200" dirty="0"/>
          </a:p>
        </p:txBody>
      </p:sp>
      <p:sp>
        <p:nvSpPr>
          <p:cNvPr id="3" name="Text 1"/>
          <p:cNvSpPr/>
          <p:nvPr>
            <p:ph type="title"/>
          </p:nvPr>
        </p:nvSpPr>
        <p:spPr>
          <a:xfrm>
            <a:off x="812800" y="89916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Which sections you need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72260"/>
          <a:ext cx="10556240" cy="2684780"/>
        </p:xfrm>
        <a:graphic>
          <a:graphicData uri="http://schemas.openxmlformats.org/drawingml/2006/table">
            <a:tbl>
              <a:tblPr/>
              <a:tblGrid>
                <a:gridCol w="4222496"/>
                <a:gridCol w="2111248"/>
                <a:gridCol w="2111248"/>
                <a:gridCol w="2111248"/>
              </a:tblGrid>
              <a:tr h="383540">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Section</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Ambassador</a:t>
                      </a:r>
                      <a:endParaRPr lang="en-US" sz="1400" dirty="0">
                        <a:latin typeface="DM Sans" charset="0"/>
                        <a:ea typeface="DM Sans" charset="0"/>
                        <a:cs typeface="DM Sans" charset="0"/>
                      </a:endParaRPr>
                    </a:p>
                  </a:txBody>
                  <a:tcPr marL="62230" marR="62230" marT="62230" marB="6223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Committee</a:t>
                      </a:r>
                      <a:endParaRPr lang="en-US" sz="1400" dirty="0">
                        <a:latin typeface="DM Sans" charset="0"/>
                        <a:ea typeface="DM Sans" charset="0"/>
                        <a:cs typeface="DM Sans" charset="0"/>
                      </a:endParaRPr>
                    </a:p>
                  </a:txBody>
                  <a:tcPr marL="62230" marR="62230" marT="62230" marB="6223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Senior</a:t>
                      </a:r>
                      <a:endParaRPr lang="en-US" sz="1400" dirty="0">
                        <a:latin typeface="DM Sans" charset="0"/>
                        <a:ea typeface="DM Sans" charset="0"/>
                        <a:cs typeface="DM Sans" charset="0"/>
                      </a:endParaRPr>
                    </a:p>
                  </a:txBody>
                  <a:tcPr marL="62230" marR="62230" marT="62230" marB="6223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1 · Getting started</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2 · Running the night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Most of it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Most of it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All of it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3 · Setting up sessions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4 · Money and reports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Reports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5 · Club settings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6 · Members and logins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4511040"/>
            <a:ext cx="9810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DM Sans" pitchFamily="34" charset="0"/>
                <a:ea typeface="DM Sans" pitchFamily="34" charset="-122"/>
                <a:cs typeface="DM Sans" pitchFamily="34" charset="-120"/>
              </a:rPr>
              <a:t>“Most of it”: adding someone to a session, emergency info and cancelling a session are for Seniors at the moment. This follows the club’s current admin levels. Seniors can change what each level can do, in </a:t>
            </a:r>
            <a:r>
              <a:rPr lang="en-US" sz="1300" b="1" dirty="0">
                <a:solidFill>
                  <a:srgbClr val="3D4A5C"/>
                </a:solidFill>
                <a:latin typeface="DM Sans" pitchFamily="34" charset="0"/>
                <a:ea typeface="DM Sans" pitchFamily="34" charset="-122"/>
                <a:cs typeface="DM Sans" pitchFamily="34" charset="-120"/>
              </a:rPr>
              <a:t>Admins</a:t>
            </a:r>
            <a:r>
              <a:rPr lang="en-US" sz="1300" dirty="0">
                <a:solidFill>
                  <a:srgbClr val="3D4A5C"/>
                </a:solidFill>
                <a:latin typeface="DM Sans" pitchFamily="34" charset="0"/>
                <a:ea typeface="DM Sans" pitchFamily="34" charset="-122"/>
                <a:cs typeface="DM Sans" pitchFamily="34" charset="-120"/>
              </a:rPr>
              <a:t>.</a:t>
            </a:r>
            <a:endParaRPr lang="en-US" sz="1300" dirty="0"/>
          </a:p>
        </p:txBody>
      </p:sp>
      <p:sp>
        <p:nvSpPr>
          <p:cNvPr id="6" name="Text 3"/>
          <p:cNvSpPr/>
          <p:nvPr/>
        </p:nvSpPr>
        <p:spPr>
          <a:xfrm>
            <a:off x="812800" y="6238241"/>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Hide the sections your audience doesn’t need</a:t>
            </a:r>
            <a:endParaRPr lang="en-US" sz="1200" dirty="0"/>
          </a:p>
        </p:txBody>
      </p:sp>
      <p:pic>
        <p:nvPicPr>
          <p:cNvPr id="7" name="Image 0" descr="twoclear">    </p:cNvPr>
          <p:cNvPicPr>
            <a:picLocks noChangeAspect="1"/>
          </p:cNvPicPr>
          <p:nvPr/>
        </p:nvPicPr>
        <p:blipFill>
          <a:blip r:embed="rId1"/>
          <a:srcRect l="0" r="0" t="-149" b="-149"/>
          <a:stretch/>
        </p:blipFill>
        <p:spPr>
          <a:xfrm>
            <a:off x="10109200" y="6229350"/>
            <a:ext cx="1270000" cy="285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1"/>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1</a:t>
            </a:r>
            <a:endParaRPr lang="en-US" sz="6000" dirty="0"/>
          </a:p>
        </p:txBody>
      </p:sp>
      <p:sp>
        <p:nvSpPr>
          <p:cNvPr id="4" name="Text 2"/>
          <p:cNvSpPr/>
          <p:nvPr>
            <p:ph type="title"/>
          </p:nvPr>
        </p:nvSpPr>
        <p:spPr>
          <a:xfrm>
            <a:off x="812800" y="3070861"/>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Getting started</a:t>
            </a:r>
            <a:endParaRPr lang="en-US" sz="4800" dirty="0"/>
          </a:p>
        </p:txBody>
      </p:sp>
      <p:sp>
        <p:nvSpPr>
          <p:cNvPr id="5" name="Text 3"/>
          <p:cNvSpPr/>
          <p:nvPr/>
        </p:nvSpPr>
        <p:spPr>
          <a:xfrm>
            <a:off x="812800" y="3914141"/>
            <a:ext cx="850265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Signing in, and finding your way round the Admin menu.</a:t>
            </a:r>
            <a:endParaRPr lang="en-US" sz="1700" dirty="0"/>
          </a:p>
        </p:txBody>
      </p:sp>
      <p:sp>
        <p:nvSpPr>
          <p:cNvPr id="6" name="Text 4"/>
          <p:cNvSpPr/>
          <p:nvPr/>
        </p:nvSpPr>
        <p:spPr>
          <a:xfrm>
            <a:off x="812800" y="4419600"/>
            <a:ext cx="1390015"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everyone</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hR="132080" wR="132080" stAng="16200000" swAng="5400000"/>
                <a:lnTo>
                  <a:pt x="893128"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Signing in as an admin</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On the club site, click </a:t>
            </a:r>
            <a:r>
              <a:rPr lang="en-US" sz="1400" b="1" dirty="0">
                <a:solidFill>
                  <a:srgbClr val="3D4A5C"/>
                </a:solidFill>
                <a:latin typeface="DM Sans" pitchFamily="34" charset="0"/>
                <a:ea typeface="DM Sans" pitchFamily="34" charset="-122"/>
                <a:cs typeface="DM Sans" pitchFamily="34" charset="-120"/>
              </a:rPr>
              <a:t>Club admin sign in</a:t>
            </a:r>
            <a:r>
              <a:rPr lang="en-US" sz="1400" dirty="0">
                <a:solidFill>
                  <a:srgbClr val="3D4A5C"/>
                </a:solidFill>
                <a:latin typeface="DM Sans" pitchFamily="34" charset="0"/>
                <a:ea typeface="DM Sans" pitchFamily="34" charset="-122"/>
                <a:cs typeface="DM Sans" pitchFamily="34" charset="-120"/>
              </a:rPr>
              <a:t> at the bottom of the menu.</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Enter the email the club set you up with, then </a:t>
            </a:r>
            <a:r>
              <a:rPr lang="en-US" sz="1400" b="1" dirty="0">
                <a:solidFill>
                  <a:srgbClr val="3D4A5C"/>
                </a:solidFill>
                <a:latin typeface="DM Sans" pitchFamily="34" charset="0"/>
                <a:ea typeface="DM Sans" pitchFamily="34" charset="-122"/>
                <a:cs typeface="DM Sans" pitchFamily="34" charset="-120"/>
              </a:rPr>
              <a:t>Email me a sign-in code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Type the code from the email and click </a:t>
            </a:r>
            <a:r>
              <a:rPr lang="en-US" sz="1400" b="1" dirty="0">
                <a:solidFill>
                  <a:srgbClr val="3D4A5C"/>
                </a:solidFill>
                <a:latin typeface="DM Sans" pitchFamily="34" charset="0"/>
                <a:ea typeface="DM Sans" pitchFamily="34" charset="-122"/>
                <a:cs typeface="DM Sans" pitchFamily="34" charset="-120"/>
              </a:rPr>
              <a:t>Verify &amp; sign in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No password.</a:t>
            </a:r>
            <a:r>
              <a:rPr lang="en-US" sz="1200" dirty="0">
                <a:solidFill>
                  <a:srgbClr val="3D4A5C"/>
                </a:solidFill>
                <a:latin typeface="DM Sans" pitchFamily="34" charset="0"/>
                <a:ea typeface="DM Sans" pitchFamily="34" charset="-122"/>
                <a:cs typeface="DM Sans" pitchFamily="34" charset="-120"/>
              </a:rPr>
              <a:t> The Admin section then appears in the menu, showing only what you can do.</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lub site with Club admin sign in ringed at the bottom of the menu">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hR="132080" wR="132080" stAng="16200000" swAng="5400000"/>
                <a:lnTo>
                  <a:pt x="893128"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Admin menu</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623060"/>
          <a:ext cx="10556240" cy="2498090"/>
        </p:xfrm>
        <a:graphic>
          <a:graphicData uri="http://schemas.openxmlformats.org/drawingml/2006/table">
            <a:tbl>
              <a:tblPr/>
              <a:tblGrid>
                <a:gridCol w="2533498"/>
                <a:gridCol w="5489245"/>
                <a:gridCol w="2533498"/>
              </a:tblGrid>
              <a:tr h="356870">
                <a:tc>
                  <a:txBody>
                    <a:bodyPr/>
                    <a:lstStyle/>
                    <a:p>
                      <a:pPr indent="0" marL="0">
                        <a:lnSpc>
                          <a:spcPts val="1820"/>
                        </a:lnSpc>
                        <a:buNone/>
                      </a:pPr>
                      <a:r>
                        <a:rPr lang="en-US" sz="1300" b="1" dirty="0">
                          <a:solidFill>
                            <a:srgbClr val="F6F4EF"/>
                          </a:solidFill>
                          <a:latin typeface="DM Sans" pitchFamily="34" charset="0"/>
                          <a:ea typeface="DM Sans" pitchFamily="34" charset="-122"/>
                          <a:cs typeface="DM Sans" pitchFamily="34" charset="-120"/>
                        </a:rPr>
                        <a:t>Menu item</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820"/>
                        </a:lnSpc>
                        <a:buNone/>
                      </a:pPr>
                      <a:r>
                        <a:rPr lang="en-US" sz="1300" b="1" dirty="0">
                          <a:solidFill>
                            <a:srgbClr val="F6F4EF"/>
                          </a:solidFill>
                          <a:latin typeface="DM Sans" pitchFamily="34" charset="0"/>
                          <a:ea typeface="DM Sans" pitchFamily="34" charset="-122"/>
                          <a:cs typeface="DM Sans" pitchFamily="34" charset="-120"/>
                        </a:rPr>
                        <a:t>What it’s for</a:t>
                      </a:r>
                      <a:endParaRPr lang="en-US" sz="1300" dirty="0">
                        <a:latin typeface="DM Sans" charset="0"/>
                        <a:ea typeface="DM Sans" charset="0"/>
                        <a:cs typeface="DM Sans" charset="0"/>
                      </a:endParaRPr>
                    </a:p>
                  </a:txBody>
                  <a:tcPr marL="57785" marR="57785" marT="57785" marB="57785"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820"/>
                        </a:lnSpc>
                        <a:buNone/>
                      </a:pPr>
                      <a:r>
                        <a:rPr lang="en-US" sz="1300" b="1" dirty="0">
                          <a:solidFill>
                            <a:srgbClr val="F6F4EF"/>
                          </a:solidFill>
                          <a:latin typeface="DM Sans" pitchFamily="34" charset="0"/>
                          <a:ea typeface="DM Sans" pitchFamily="34" charset="-122"/>
                          <a:cs typeface="DM Sans" pitchFamily="34" charset="-120"/>
                        </a:rPr>
                        <a:t>Who uses it</a:t>
                      </a:r>
                      <a:endParaRPr lang="en-US" sz="1300" dirty="0">
                        <a:latin typeface="DM Sans" charset="0"/>
                        <a:ea typeface="DM Sans" charset="0"/>
                        <a:cs typeface="DM Sans" charset="0"/>
                      </a:endParaRPr>
                    </a:p>
                  </a:txBody>
                  <a:tcPr marL="57785" marR="57785" marT="57785" marB="57785"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Social sessions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Open, run and publish sessions; create new ones</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Everyone (creating: Senior)</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Calendar</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Every session by date: open or change one</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Everyone</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Players &amp; logins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Players, sign-in access and wallet balances</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Reports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Wallet &amp; money, attendance</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Committee, Senior</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Club settings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Prices, booking rules, joining, the club’s look</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Member records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Members’ details and agreements, importing</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812800" y="6238239"/>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Something missing from your menu? Your level doesn’t include it</a:t>
            </a:r>
            <a:endParaRPr lang="en-US" sz="1200" dirty="0"/>
          </a:p>
        </p:txBody>
      </p:sp>
      <p:pic>
        <p:nvPicPr>
          <p:cNvPr id="7" name="Image 0" descr="twoclear">    </p:cNvPr>
          <p:cNvPicPr>
            <a:picLocks noChangeAspect="1"/>
          </p:cNvPicPr>
          <p:nvPr/>
        </p:nvPicPr>
        <p:blipFill>
          <a:blip r:embed="rId1"/>
          <a:srcRect l="0" r="0" t="-149" b="-149"/>
          <a:stretch/>
        </p:blipFill>
        <p:spPr>
          <a:xfrm>
            <a:off x="10109200" y="6229350"/>
            <a:ext cx="1270000" cy="285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2"/>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2</a:t>
            </a:r>
            <a:endParaRPr lang="en-US" sz="6000" dirty="0"/>
          </a:p>
        </p:txBody>
      </p:sp>
      <p:sp>
        <p:nvSpPr>
          <p:cNvPr id="4" name="Text 2"/>
          <p:cNvSpPr/>
          <p:nvPr>
            <p:ph type="title"/>
          </p:nvPr>
        </p:nvSpPr>
        <p:spPr>
          <a:xfrm>
            <a:off x="812800" y="2919732"/>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Running the night</a:t>
            </a:r>
            <a:endParaRPr lang="en-US" sz="4800" dirty="0"/>
          </a:p>
        </p:txBody>
      </p:sp>
      <p:sp>
        <p:nvSpPr>
          <p:cNvPr id="5" name="Text 3"/>
          <p:cNvSpPr/>
          <p:nvPr/>
        </p:nvSpPr>
        <p:spPr>
          <a:xfrm>
            <a:off x="812800" y="3763011"/>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Opening a session, the waiting list, adding someone, emergency info and cancelling.</a:t>
            </a:r>
            <a:endParaRPr lang="en-US" sz="1700" dirty="0"/>
          </a:p>
        </p:txBody>
      </p:sp>
      <p:sp>
        <p:nvSpPr>
          <p:cNvPr id="6" name="Text 4"/>
          <p:cNvSpPr/>
          <p:nvPr/>
        </p:nvSpPr>
        <p:spPr>
          <a:xfrm>
            <a:off x="812800" y="4570732"/>
            <a:ext cx="3340021"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Ambassador · Committee ·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2693035" cy="264160"/>
          </a:xfrm>
          <a:custGeom>
            <a:avLst/>
            <a:gdLst/>
            <a:ahLst/>
            <a:cxnLst/>
            <a:rect l="l" t="t" r="r" b="b"/>
            <a:pathLst>
              <a:path w="2693035" h="264160">
                <a:moveTo>
                  <a:pt x="132080" y="0"/>
                </a:moveTo>
                <a:lnTo>
                  <a:pt x="2560955" y="0"/>
                </a:lnTo>
                <a:arcTo hR="132080" wR="132080" stAng="16200000" swAng="5400000"/>
                <a:lnTo>
                  <a:pt x="2693035"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Opening the session</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puts it on the Social page.</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lets members book in the app.</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Booked so far</a:t>
            </a:r>
            <a:r>
              <a:rPr lang="en-US" sz="1400" dirty="0">
                <a:solidFill>
                  <a:srgbClr val="3D4A5C"/>
                </a:solidFill>
                <a:latin typeface="DM Sans" pitchFamily="34" charset="0"/>
                <a:ea typeface="DM Sans" pitchFamily="34" charset="-122"/>
                <a:cs typeface="DM Sans" pitchFamily="34" charset="-120"/>
              </a:rPr>
              <a:t> shows who’s coming and how many places are taken.</a:t>
            </a:r>
            <a:endParaRPr lang="en-US" sz="1400" dirty="0"/>
          </a:p>
        </p:txBody>
      </p:sp>
      <p:sp>
        <p:nvSpPr>
          <p:cNvPr id="6" name="Text 4"/>
          <p:cNvSpPr/>
          <p:nvPr/>
        </p:nvSpPr>
        <p:spPr>
          <a:xfrm>
            <a:off x="819150" y="3514089"/>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Showing</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 are separate: you can open booking before the line-up is public.</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session with Show members, Open for booking and Booked so far, the booked list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2693035" cy="264160"/>
          </a:xfrm>
          <a:custGeom>
            <a:avLst/>
            <a:gdLst/>
            <a:ahLst/>
            <a:cxnLst/>
            <a:rect l="l" t="t" r="r" b="b"/>
            <a:pathLst>
              <a:path w="2693035" h="264160">
                <a:moveTo>
                  <a:pt x="132080" y="0"/>
                </a:moveTo>
                <a:lnTo>
                  <a:pt x="2560955" y="0"/>
                </a:lnTo>
                <a:arcTo hR="132080" wR="132080" stAng="16200000" swAng="5400000"/>
                <a:lnTo>
                  <a:pt x="2693035"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waiting list</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When a session is full, </a:t>
            </a:r>
            <a:r>
              <a:rPr lang="en-US" sz="1400" b="1" dirty="0">
                <a:solidFill>
                  <a:srgbClr val="3D4A5C"/>
                </a:solidFill>
                <a:latin typeface="DM Sans" pitchFamily="34" charset="0"/>
                <a:ea typeface="DM Sans" pitchFamily="34" charset="-122"/>
                <a:cs typeface="DM Sans" pitchFamily="34" charset="-120"/>
              </a:rPr>
              <a:t>Waitlist</a:t>
            </a:r>
            <a:r>
              <a:rPr lang="en-US" sz="1400" dirty="0">
                <a:solidFill>
                  <a:srgbClr val="3D4A5C"/>
                </a:solidFill>
                <a:latin typeface="DM Sans" pitchFamily="34" charset="0"/>
                <a:ea typeface="DM Sans" pitchFamily="34" charset="-122"/>
                <a:cs typeface="DM Sans" pitchFamily="34" charset="-120"/>
              </a:rPr>
              <a:t> shows who’s waiting, first in line first.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A freed place goes to the first person with enough in their wallet, automatically.</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They’re booked, it’s paid from their wallet, and they get an email.</a:t>
            </a:r>
            <a:endParaRPr lang="en-US" sz="1400" dirty="0"/>
          </a:p>
        </p:txBody>
      </p:sp>
      <p:sp>
        <p:nvSpPr>
          <p:cNvPr id="6" name="Text 4"/>
          <p:cNvSpPr/>
          <p:nvPr/>
        </p:nvSpPr>
        <p:spPr>
          <a:xfrm>
            <a:off x="819150" y="3265171"/>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Nothing to do by hand.</a:t>
            </a:r>
            <a:r>
              <a:rPr lang="en-US" sz="1200" dirty="0">
                <a:solidFill>
                  <a:srgbClr val="3D4A5C"/>
                </a:solidFill>
                <a:latin typeface="DM Sans" pitchFamily="34" charset="0"/>
                <a:ea typeface="DM Sans" pitchFamily="34" charset="-122"/>
                <a:cs typeface="DM Sans" pitchFamily="34" charset="-120"/>
              </a:rPr>
              <a:t> Once the session is locked before the start, the list stops moving.</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full session's waiting list,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Adding someone yourself</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Book a member in</a:t>
            </a:r>
            <a:r>
              <a:rPr lang="en-US" sz="1400" dirty="0">
                <a:solidFill>
                  <a:srgbClr val="3D4A5C"/>
                </a:solidFill>
                <a:latin typeface="DM Sans" pitchFamily="34" charset="0"/>
                <a:ea typeface="DM Sans" pitchFamily="34" charset="-122"/>
                <a:cs typeface="DM Sans" pitchFamily="34" charset="-120"/>
              </a:rPr>
              <a:t>, type their name or email.</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Book in</a:t>
            </a:r>
            <a:r>
              <a:rPr lang="en-US" sz="1400" dirty="0">
                <a:solidFill>
                  <a:srgbClr val="3D4A5C"/>
                </a:solidFill>
                <a:latin typeface="DM Sans" pitchFamily="34" charset="0"/>
                <a:ea typeface="DM Sans" pitchFamily="34" charset="-122"/>
                <a:cs typeface="DM Sans" pitchFamily="34" charset="-120"/>
              </a:rPr>
              <a:t> next to them, then confirm.</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 cost comes out of their wallet, even after the lock.</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Ambassadors adding names on the night?</a:t>
            </a:r>
            <a:r>
              <a:rPr lang="en-US" sz="1200" dirty="0">
                <a:solidFill>
                  <a:srgbClr val="3D4A5C"/>
                </a:solidFill>
                <a:latin typeface="DM Sans" pitchFamily="34" charset="0"/>
                <a:ea typeface="DM Sans" pitchFamily="34" charset="-122"/>
                <a:cs typeface="DM Sans" pitchFamily="34" charset="-120"/>
              </a:rPr>
              <a:t> A Senior can switch this on for them in </a:t>
            </a:r>
            <a:r>
              <a:rPr lang="en-US" sz="1200" b="1" dirty="0">
                <a:solidFill>
                  <a:srgbClr val="3D4A5C"/>
                </a:solidFill>
                <a:latin typeface="DM Sans" pitchFamily="34" charset="0"/>
                <a:ea typeface="DM Sans" pitchFamily="34" charset="-122"/>
                <a:cs typeface="DM Sans" pitchFamily="34" charset="-120"/>
              </a:rPr>
              <a:t>Admins</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Book a member in, with the Book in button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Emergency info</a:t>
            </a:r>
            <a:endParaRPr lang="en-US" sz="2800" dirty="0"/>
          </a:p>
        </p:txBody>
      </p:sp>
      <p:sp>
        <p:nvSpPr>
          <p:cNvPr id="5" name="Text 3"/>
          <p:cNvSpPr/>
          <p:nvPr/>
        </p:nvSpPr>
        <p:spPr>
          <a:xfrm>
            <a:off x="879157" y="1612900"/>
            <a:ext cx="3954971" cy="102108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On the session, click </a:t>
            </a:r>
            <a:r>
              <a:rPr lang="en-US" sz="1400" b="1" dirty="0">
                <a:solidFill>
                  <a:srgbClr val="3D4A5C"/>
                </a:solidFill>
                <a:latin typeface="DM Sans" pitchFamily="34" charset="0"/>
                <a:ea typeface="DM Sans" pitchFamily="34" charset="-122"/>
                <a:cs typeface="DM Sans" pitchFamily="34" charset="-120"/>
              </a:rPr>
              <a:t>Emergency info</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It lists everyone on the session with the emergency details they’ve given.</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Print</a:t>
            </a:r>
            <a:r>
              <a:rPr lang="en-US" sz="1400" dirty="0">
                <a:solidFill>
                  <a:srgbClr val="3D4A5C"/>
                </a:solidFill>
                <a:latin typeface="DM Sans" pitchFamily="34" charset="0"/>
                <a:ea typeface="DM Sans" pitchFamily="34" charset="-122"/>
                <a:cs typeface="DM Sans" pitchFamily="34" charset="-120"/>
              </a:rPr>
              <a:t> a copy for the kit bag if you like.</a:t>
            </a:r>
            <a:endParaRPr lang="en-US" sz="1400" dirty="0"/>
          </a:p>
        </p:txBody>
      </p:sp>
      <p:sp>
        <p:nvSpPr>
          <p:cNvPr id="6" name="Text 4"/>
          <p:cNvSpPr/>
          <p:nvPr/>
        </p:nvSpPr>
        <p:spPr>
          <a:xfrm>
            <a:off x="819150" y="2767329"/>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Only in an emergency.</a:t>
            </a:r>
            <a:r>
              <a:rPr lang="en-US" sz="1200" dirty="0">
                <a:solidFill>
                  <a:srgbClr val="3D4A5C"/>
                </a:solidFill>
                <a:latin typeface="DM Sans" pitchFamily="34" charset="0"/>
                <a:ea typeface="DM Sans" pitchFamily="34" charset="-122"/>
                <a:cs typeface="DM Sans" pitchFamily="34" charset="-120"/>
              </a:rPr>
              <a:t> Opening it is recorded. Non-Seniors can open it only from the day before to the day after.</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Emergency info window for a session, listing players' emergency contact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Cancelling a session</a:t>
            </a:r>
            <a:endParaRPr lang="en-US" sz="2800" dirty="0"/>
          </a:p>
        </p:txBody>
      </p:sp>
      <p:sp>
        <p:nvSpPr>
          <p:cNvPr id="5" name="Text 3"/>
          <p:cNvSpPr/>
          <p:nvPr/>
        </p:nvSpPr>
        <p:spPr>
          <a:xfrm>
            <a:off x="881777" y="1612900"/>
            <a:ext cx="3952351" cy="1021080"/>
          </a:xfrm>
          <a:prstGeom prst="rect">
            <a:avLst/>
          </a:prstGeom>
          <a:noFill/>
          <a:ln/>
        </p:spPr>
        <p:txBody>
          <a:bodyPr wrap="square" lIns="0" tIns="0" rIns="0" bIns="0" rtlCol="0" anchor="t">
            <a:normAutofit/>
          </a:bodyPr>
          <a:lstStyle/>
          <a:p>
            <a:pPr algn="l" marL="185023" indent="-18502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On the session, click </a:t>
            </a:r>
            <a:r>
              <a:rPr lang="en-US" sz="1400" b="1" dirty="0">
                <a:solidFill>
                  <a:srgbClr val="3D4A5C"/>
                </a:solidFill>
                <a:latin typeface="DM Sans" pitchFamily="34" charset="0"/>
                <a:ea typeface="DM Sans" pitchFamily="34" charset="-122"/>
                <a:cs typeface="DM Sans" pitchFamily="34" charset="-120"/>
              </a:rPr>
              <a:t>Cancel session and refund everyone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5023" indent="-18502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Confirm. Everyone’s money goes back into their wallet.</a:t>
            </a:r>
            <a:endParaRPr lang="en-US" sz="1400" dirty="0"/>
          </a:p>
        </p:txBody>
      </p:sp>
      <p:sp>
        <p:nvSpPr>
          <p:cNvPr id="6" name="Text 4"/>
          <p:cNvSpPr/>
          <p:nvPr/>
        </p:nvSpPr>
        <p:spPr>
          <a:xfrm>
            <a:off x="819150" y="2767329"/>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It can’t be undone.</a:t>
            </a:r>
            <a:r>
              <a:rPr lang="en-US" sz="1200" dirty="0">
                <a:solidFill>
                  <a:srgbClr val="3D4A5C"/>
                </a:solidFill>
                <a:latin typeface="DM Sans" pitchFamily="34" charset="0"/>
                <a:ea typeface="DM Sans" pitchFamily="34" charset="-122"/>
                <a:cs typeface="DM Sans" pitchFamily="34" charset="-120"/>
              </a:rPr>
              <a:t> Tell the players too: a WhatsApp message alongside it helps.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ancel session and refund everyone,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4"/>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3</a:t>
            </a:r>
            <a:endParaRPr lang="en-US" sz="6000" dirty="0"/>
          </a:p>
        </p:txBody>
      </p:sp>
      <p:sp>
        <p:nvSpPr>
          <p:cNvPr id="4" name="Text 2"/>
          <p:cNvSpPr/>
          <p:nvPr>
            <p:ph type="title"/>
          </p:nvPr>
        </p:nvSpPr>
        <p:spPr>
          <a:xfrm>
            <a:off x="812800" y="3070864"/>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Setting up sessions</a:t>
            </a:r>
            <a:endParaRPr lang="en-US" sz="4800" dirty="0"/>
          </a:p>
        </p:txBody>
      </p:sp>
      <p:sp>
        <p:nvSpPr>
          <p:cNvPr id="5" name="Text 3"/>
          <p:cNvSpPr/>
          <p:nvPr/>
        </p:nvSpPr>
        <p:spPr>
          <a:xfrm>
            <a:off x="812800" y="3914142"/>
            <a:ext cx="99060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Creating a session, letting members see and book it, and repeating it every week.</a:t>
            </a:r>
            <a:endParaRPr lang="en-US" sz="1700" dirty="0"/>
          </a:p>
        </p:txBody>
      </p:sp>
      <p:sp>
        <p:nvSpPr>
          <p:cNvPr id="6" name="Text 4"/>
          <p:cNvSpPr/>
          <p:nvPr/>
        </p:nvSpPr>
        <p:spPr>
          <a:xfrm>
            <a:off x="812800" y="4419600"/>
            <a:ext cx="1157208"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751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3 · SETTING UP SESSIONS</a:t>
            </a:r>
            <a:endParaRPr lang="en-US" sz="1200" dirty="0"/>
          </a:p>
        </p:txBody>
      </p:sp>
      <p:sp>
        <p:nvSpPr>
          <p:cNvPr id="3" name="Text 1"/>
          <p:cNvSpPr/>
          <p:nvPr/>
        </p:nvSpPr>
        <p:spPr>
          <a:xfrm>
            <a:off x="318793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Creating a session</a:t>
            </a:r>
            <a:endParaRPr lang="en-US" sz="2800" dirty="0"/>
          </a:p>
        </p:txBody>
      </p:sp>
      <p:sp>
        <p:nvSpPr>
          <p:cNvPr id="5" name="Text 3"/>
          <p:cNvSpPr/>
          <p:nvPr/>
        </p:nvSpPr>
        <p:spPr>
          <a:xfrm>
            <a:off x="875744" y="1612900"/>
            <a:ext cx="3958384" cy="1270000"/>
          </a:xfrm>
          <a:prstGeom prst="rect">
            <a:avLst/>
          </a:prstGeom>
          <a:noFill/>
          <a:ln/>
        </p:spPr>
        <p:txBody>
          <a:bodyPr wrap="square" lIns="0" tIns="0" rIns="0" bIns="0" rtlCol="0" anchor="t">
            <a:normAutofit/>
          </a:bodyPr>
          <a:lstStyle/>
          <a:p>
            <a:pPr algn="l" marL="191056" indent="-191056">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 New</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1056" indent="-191056">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Name, date, start and end time.</a:t>
            </a:r>
            <a:endParaRPr lang="en-US" sz="1400" dirty="0"/>
          </a:p>
          <a:p>
            <a:pPr algn="l" marL="191056" indent="-191056">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Location, capacity, courts and price.</a:t>
            </a:r>
            <a:endParaRPr lang="en-US" sz="1400" dirty="0"/>
          </a:p>
          <a:p>
            <a:pPr algn="l" marL="191056" indent="-191056">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How play is organised, e.g. round-robin.</a:t>
            </a:r>
            <a:endParaRPr lang="en-US" sz="1400" dirty="0"/>
          </a:p>
          <a:p>
            <a:pPr algn="l" marL="191056" indent="-191056">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Saved, but hidden.</a:t>
            </a:r>
            <a:r>
              <a:rPr lang="en-US" sz="1200" dirty="0">
                <a:solidFill>
                  <a:srgbClr val="3D4A5C"/>
                </a:solidFill>
                <a:latin typeface="DM Sans" pitchFamily="34" charset="0"/>
                <a:ea typeface="DM Sans" pitchFamily="34" charset="-122"/>
                <a:cs typeface="DM Sans" pitchFamily="34" charset="-120"/>
              </a:rPr>
              <a:t> Nobody can see or book it until you open it (next slide).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new session form, with date and times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751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3 · SETTING UP SESSIONS</a:t>
            </a:r>
            <a:endParaRPr lang="en-US" sz="1200" dirty="0"/>
          </a:p>
        </p:txBody>
      </p:sp>
      <p:sp>
        <p:nvSpPr>
          <p:cNvPr id="3" name="Text 1"/>
          <p:cNvSpPr/>
          <p:nvPr/>
        </p:nvSpPr>
        <p:spPr>
          <a:xfrm>
            <a:off x="3187938" y="609600"/>
            <a:ext cx="2693035" cy="264160"/>
          </a:xfrm>
          <a:custGeom>
            <a:avLst/>
            <a:gdLst/>
            <a:ahLst/>
            <a:cxnLst/>
            <a:rect l="l" t="t" r="r" b="b"/>
            <a:pathLst>
              <a:path w="2693035" h="264160">
                <a:moveTo>
                  <a:pt x="132080" y="0"/>
                </a:moveTo>
                <a:lnTo>
                  <a:pt x="2560955" y="0"/>
                </a:lnTo>
                <a:arcTo hR="132080" wR="132080" stAng="16200000" swAng="5400000"/>
                <a:lnTo>
                  <a:pt x="2693035"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Letting members see and book it</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it appears on the Social page.</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members can book in the app.</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Or let booking open by itself a set number of days before.</a:t>
            </a:r>
            <a:endParaRPr lang="en-US" sz="1400" dirty="0"/>
          </a:p>
        </p:txBody>
      </p:sp>
      <p:sp>
        <p:nvSpPr>
          <p:cNvPr id="6" name="Text 4"/>
          <p:cNvSpPr/>
          <p:nvPr/>
        </p:nvSpPr>
        <p:spPr>
          <a:xfrm>
            <a:off x="819150" y="3265171"/>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Members first?</a:t>
            </a:r>
            <a:r>
              <a:rPr lang="en-US" sz="1200" dirty="0">
                <a:solidFill>
                  <a:srgbClr val="3D4A5C"/>
                </a:solidFill>
                <a:latin typeface="DM Sans" pitchFamily="34" charset="0"/>
                <a:ea typeface="DM Sans" pitchFamily="34" charset="-122"/>
                <a:cs typeface="DM Sans" pitchFamily="34" charset="-120"/>
              </a:rPr>
              <a:t> Non-members can be made to wait a few hours after booking opens (Club settings).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session builder with Open for booking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751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3 · SETTING UP SESSIONS</a:t>
            </a:r>
            <a:endParaRPr lang="en-US" sz="1200" dirty="0"/>
          </a:p>
        </p:txBody>
      </p:sp>
      <p:sp>
        <p:nvSpPr>
          <p:cNvPr id="3" name="Text 1"/>
          <p:cNvSpPr/>
          <p:nvPr/>
        </p:nvSpPr>
        <p:spPr>
          <a:xfrm>
            <a:off x="318793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Repeating every week</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Set it up as normal, then tick </a:t>
            </a:r>
            <a:r>
              <a:rPr lang="en-US" sz="1400" b="1" dirty="0">
                <a:solidFill>
                  <a:srgbClr val="3D4A5C"/>
                </a:solidFill>
                <a:latin typeface="DM Sans" pitchFamily="34" charset="0"/>
                <a:ea typeface="DM Sans" pitchFamily="34" charset="-122"/>
                <a:cs typeface="DM Sans" pitchFamily="34" charset="-120"/>
              </a:rPr>
              <a:t>Repeat this session</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Every week</a:t>
            </a:r>
            <a:r>
              <a:rPr lang="en-US" sz="1400" dirty="0">
                <a:solidFill>
                  <a:srgbClr val="3D4A5C"/>
                </a:solidFill>
                <a:latin typeface="DM Sans" pitchFamily="34" charset="0"/>
                <a:ea typeface="DM Sans" pitchFamily="34" charset="-122"/>
                <a:cs typeface="DM Sans" pitchFamily="34" charset="-120"/>
              </a:rPr>
              <a:t> or </a:t>
            </a:r>
            <a:r>
              <a:rPr lang="en-US" sz="1400" b="1" dirty="0">
                <a:solidFill>
                  <a:srgbClr val="3D4A5C"/>
                </a:solidFill>
                <a:latin typeface="DM Sans" pitchFamily="34" charset="0"/>
                <a:ea typeface="DM Sans" pitchFamily="34" charset="-122"/>
                <a:cs typeface="DM Sans" pitchFamily="34" charset="-120"/>
              </a:rPr>
              <a:t>every 2 weeks</a:t>
            </a:r>
            <a:r>
              <a:rPr lang="en-US" sz="1400" dirty="0">
                <a:solidFill>
                  <a:srgbClr val="3D4A5C"/>
                </a:solidFill>
                <a:latin typeface="DM Sans" pitchFamily="34" charset="0"/>
                <a:ea typeface="DM Sans" pitchFamily="34" charset="-122"/>
                <a:cs typeface="DM Sans" pitchFamily="34" charset="-120"/>
              </a:rPr>
              <a:t>, and a last date.</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Check the dates, then </a:t>
            </a: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016250"/>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One-off changes:</a:t>
            </a:r>
            <a:r>
              <a:rPr lang="en-US" sz="1200" dirty="0">
                <a:solidFill>
                  <a:srgbClr val="3D4A5C"/>
                </a:solidFill>
                <a:latin typeface="DM Sans" pitchFamily="34" charset="0"/>
                <a:ea typeface="DM Sans" pitchFamily="34" charset="-122"/>
                <a:cs typeface="DM Sans" pitchFamily="34" charset="-120"/>
              </a:rPr>
              <a:t> in </a:t>
            </a:r>
            <a:r>
              <a:rPr lang="en-US" sz="1200" b="1" dirty="0">
                <a:solidFill>
                  <a:srgbClr val="3D4A5C"/>
                </a:solidFill>
                <a:latin typeface="DM Sans" pitchFamily="34" charset="0"/>
                <a:ea typeface="DM Sans" pitchFamily="34" charset="-122"/>
                <a:cs typeface="DM Sans" pitchFamily="34" charset="-120"/>
              </a:rPr>
              <a:t>Calendar</a:t>
            </a:r>
            <a:r>
              <a:rPr lang="en-US" sz="1200" dirty="0">
                <a:solidFill>
                  <a:srgbClr val="3D4A5C"/>
                </a:solidFill>
                <a:latin typeface="DM Sans" pitchFamily="34" charset="0"/>
                <a:ea typeface="DM Sans" pitchFamily="34" charset="-122"/>
                <a:cs typeface="DM Sans" pitchFamily="34" charset="-120"/>
              </a:rPr>
              <a:t>, click a day. </a:t>
            </a:r>
            <a:r>
              <a:rPr lang="en-US" sz="1200" b="1" dirty="0">
                <a:solidFill>
                  <a:srgbClr val="3D4A5C"/>
                </a:solidFill>
                <a:latin typeface="DM Sans" pitchFamily="34" charset="0"/>
                <a:ea typeface="DM Sans" pitchFamily="34" charset="-122"/>
                <a:cs typeface="DM Sans" pitchFamily="34" charset="-120"/>
              </a:rPr>
              <a:t>Open</a:t>
            </a:r>
            <a:r>
              <a:rPr lang="en-US" sz="1200" dirty="0">
                <a:solidFill>
                  <a:srgbClr val="3D4A5C"/>
                </a:solidFill>
                <a:latin typeface="DM Sans" pitchFamily="34" charset="0"/>
                <a:ea typeface="DM Sans" pitchFamily="34" charset="-122"/>
                <a:cs typeface="DM Sans" pitchFamily="34" charset="-120"/>
              </a:rPr>
              <a:t> changes just that session; </a:t>
            </a:r>
            <a:r>
              <a:rPr lang="en-US" sz="1200" b="1" dirty="0">
                <a:solidFill>
                  <a:srgbClr val="3D4A5C"/>
                </a:solidFill>
                <a:latin typeface="DM Sans" pitchFamily="34" charset="0"/>
                <a:ea typeface="DM Sans" pitchFamily="34" charset="-122"/>
                <a:cs typeface="DM Sans" pitchFamily="34" charset="-120"/>
              </a:rPr>
              <a:t>Delete</a:t>
            </a:r>
            <a:r>
              <a:rPr lang="en-US" sz="1200" dirty="0">
                <a:solidFill>
                  <a:srgbClr val="3D4A5C"/>
                </a:solidFill>
                <a:latin typeface="DM Sans" pitchFamily="34" charset="0"/>
                <a:ea typeface="DM Sans" pitchFamily="34" charset="-122"/>
                <a:cs typeface="DM Sans" pitchFamily="34" charset="-120"/>
              </a:rPr>
              <a:t> removes just that one.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Repeat options: every week, every 2 weeks and Repeat until,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58"/>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4</a:t>
            </a:r>
            <a:endParaRPr lang="en-US" sz="6000" dirty="0"/>
          </a:p>
        </p:txBody>
      </p:sp>
      <p:sp>
        <p:nvSpPr>
          <p:cNvPr id="4" name="Text 2"/>
          <p:cNvSpPr/>
          <p:nvPr>
            <p:ph type="title"/>
          </p:nvPr>
        </p:nvSpPr>
        <p:spPr>
          <a:xfrm>
            <a:off x="812800" y="3070858"/>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Money and reports</a:t>
            </a:r>
            <a:endParaRPr lang="en-US" sz="4800" dirty="0"/>
          </a:p>
        </p:txBody>
      </p:sp>
      <p:sp>
        <p:nvSpPr>
          <p:cNvPr id="5" name="Text 3"/>
          <p:cNvSpPr/>
          <p:nvPr/>
        </p:nvSpPr>
        <p:spPr>
          <a:xfrm>
            <a:off x="812800" y="3914142"/>
            <a:ext cx="850265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Members’ wallets, adjusting a balance, and the money report for the treasurer.</a:t>
            </a:r>
            <a:endParaRPr lang="en-US" sz="1700" dirty="0"/>
          </a:p>
        </p:txBody>
      </p:sp>
      <p:sp>
        <p:nvSpPr>
          <p:cNvPr id="6" name="Text 4"/>
          <p:cNvSpPr/>
          <p:nvPr/>
        </p:nvSpPr>
        <p:spPr>
          <a:xfrm>
            <a:off x="812800" y="4419600"/>
            <a:ext cx="2194877"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Committee ·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370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4 · MONEY AND REPORTS</a:t>
            </a:r>
            <a:endParaRPr lang="en-US" sz="1200" dirty="0"/>
          </a:p>
        </p:txBody>
      </p:sp>
      <p:sp>
        <p:nvSpPr>
          <p:cNvPr id="3" name="Text 1"/>
          <p:cNvSpPr/>
          <p:nvPr/>
        </p:nvSpPr>
        <p:spPr>
          <a:xfrm>
            <a:off x="314983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Members’ wallets</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Players &amp; logins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Who can sign in</a:t>
            </a:r>
            <a:r>
              <a:rPr lang="en-US" sz="1400" dirty="0">
                <a:solidFill>
                  <a:srgbClr val="3D4A5C"/>
                </a:solidFill>
                <a:latin typeface="DM Sans" pitchFamily="34" charset="0"/>
                <a:ea typeface="DM Sans" pitchFamily="34" charset="-122"/>
                <a:cs typeface="DM Sans" pitchFamily="34" charset="-120"/>
              </a:rPr>
              <a:t> lists everyone with their balance.</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Adjust</a:t>
            </a:r>
            <a:r>
              <a:rPr lang="en-US" sz="1400" dirty="0">
                <a:solidFill>
                  <a:srgbClr val="3D4A5C"/>
                </a:solidFill>
                <a:latin typeface="DM Sans" pitchFamily="34" charset="0"/>
                <a:ea typeface="DM Sans" pitchFamily="34" charset="-122"/>
                <a:cs typeface="DM Sans" pitchFamily="34" charset="-120"/>
              </a:rPr>
              <a:t> adds or takes off credit: the amount, then the reason.</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Card top-ups arrive in wallets by themselves.</a:t>
            </a:r>
            <a:endParaRPr lang="en-US" sz="1400" dirty="0"/>
          </a:p>
        </p:txBody>
      </p:sp>
      <p:sp>
        <p:nvSpPr>
          <p:cNvPr id="6" name="Text 4"/>
          <p:cNvSpPr/>
          <p:nvPr/>
        </p:nvSpPr>
        <p:spPr>
          <a:xfrm>
            <a:off x="819150" y="3265177"/>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When to adjust:</a:t>
            </a:r>
            <a:r>
              <a:rPr lang="en-US" sz="1200" dirty="0">
                <a:solidFill>
                  <a:srgbClr val="3D4A5C"/>
                </a:solidFill>
                <a:latin typeface="DM Sans" pitchFamily="34" charset="0"/>
                <a:ea typeface="DM Sans" pitchFamily="34" charset="-122"/>
                <a:cs typeface="DM Sans" pitchFamily="34" charset="-120"/>
              </a:rPr>
              <a:t> a refund made outside Stripe, or putting a mistake right. The reason is saved with it.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Who can sign in, listing members with their wallet balance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370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4 · MONEY AND REPORTS</a:t>
            </a:r>
            <a:endParaRPr lang="en-US" sz="1200" dirty="0"/>
          </a:p>
        </p:txBody>
      </p:sp>
      <p:sp>
        <p:nvSpPr>
          <p:cNvPr id="3" name="Text 1"/>
          <p:cNvSpPr/>
          <p:nvPr/>
        </p:nvSpPr>
        <p:spPr>
          <a:xfrm>
            <a:off x="3149838" y="609600"/>
            <a:ext cx="1635998" cy="264160"/>
          </a:xfrm>
          <a:custGeom>
            <a:avLst/>
            <a:gdLst/>
            <a:ahLst/>
            <a:cxnLst/>
            <a:rect l="l" t="t" r="r" b="b"/>
            <a:pathLst>
              <a:path w="1635998" h="264160">
                <a:moveTo>
                  <a:pt x="132080" y="0"/>
                </a:moveTo>
                <a:lnTo>
                  <a:pt x="1503918" y="0"/>
                </a:lnTo>
                <a:arcTo hR="132080" wR="132080" stAng="16200000" swAng="5400000"/>
                <a:lnTo>
                  <a:pt x="1635998"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Committee · 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money report</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Reports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Wallet &amp; money</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Choose the dates (or </a:t>
            </a:r>
            <a:r>
              <a:rPr lang="en-US" sz="1400" b="1" dirty="0">
                <a:solidFill>
                  <a:srgbClr val="3D4A5C"/>
                </a:solidFill>
                <a:latin typeface="DM Sans" pitchFamily="34" charset="0"/>
                <a:ea typeface="DM Sans" pitchFamily="34" charset="-122"/>
                <a:cs typeface="DM Sans" pitchFamily="34" charset="-120"/>
              </a:rPr>
              <a:t>Last month</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Run report</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Totals in and out, and a line confirming it adds up.</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Download transactions (CSV)</a:t>
            </a:r>
            <a:r>
              <a:rPr lang="en-US" sz="1400" dirty="0">
                <a:solidFill>
                  <a:srgbClr val="3D4A5C"/>
                </a:solidFill>
                <a:latin typeface="DM Sans" pitchFamily="34" charset="0"/>
                <a:ea typeface="DM Sans" pitchFamily="34" charset="-122"/>
                <a:cs typeface="DM Sans" pitchFamily="34" charset="-120"/>
              </a:rPr>
              <a:t> for the treasurer.</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Card payments</a:t>
            </a:r>
            <a:r>
              <a:rPr lang="en-US" sz="1200" dirty="0">
                <a:solidFill>
                  <a:srgbClr val="3D4A5C"/>
                </a:solidFill>
                <a:latin typeface="DM Sans" pitchFamily="34" charset="0"/>
                <a:ea typeface="DM Sans" pitchFamily="34" charset="-122"/>
                <a:cs typeface="DM Sans" pitchFamily="34" charset="-120"/>
              </a:rPr>
              <a:t> go straight to the club’s own Stripe account.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Wallet and money report with its totals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5</a:t>
            </a:r>
            <a:endParaRPr lang="en-US" sz="6000" dirty="0"/>
          </a:p>
        </p:txBody>
      </p:sp>
      <p:sp>
        <p:nvSpPr>
          <p:cNvPr id="4" name="Text 2"/>
          <p:cNvSpPr/>
          <p:nvPr>
            <p:ph type="title"/>
          </p:nvPr>
        </p:nvSpPr>
        <p:spPr>
          <a:xfrm>
            <a:off x="812800" y="2919735"/>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Club settings</a:t>
            </a:r>
            <a:endParaRPr lang="en-US" sz="4800" dirty="0"/>
          </a:p>
        </p:txBody>
      </p:sp>
      <p:sp>
        <p:nvSpPr>
          <p:cNvPr id="5" name="Text 3"/>
          <p:cNvSpPr/>
          <p:nvPr/>
        </p:nvSpPr>
        <p:spPr>
          <a:xfrm>
            <a:off x="812800" y="3763008"/>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Booking rules, joining online, children, and emergency contacts for everyone who plays.</a:t>
            </a:r>
            <a:endParaRPr lang="en-US" sz="1700" dirty="0"/>
          </a:p>
        </p:txBody>
      </p:sp>
      <p:sp>
        <p:nvSpPr>
          <p:cNvPr id="6" name="Text 4"/>
          <p:cNvSpPr/>
          <p:nvPr/>
        </p:nvSpPr>
        <p:spPr>
          <a:xfrm>
            <a:off x="812800" y="4570735"/>
            <a:ext cx="1157208"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7872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5 · CLUB SETTINGS</a:t>
            </a:r>
            <a:endParaRPr lang="en-US" sz="1200" dirty="0"/>
          </a:p>
        </p:txBody>
      </p:sp>
      <p:sp>
        <p:nvSpPr>
          <p:cNvPr id="3" name="Text 1"/>
          <p:cNvSpPr/>
          <p:nvPr/>
        </p:nvSpPr>
        <p:spPr>
          <a:xfrm>
            <a:off x="260000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Booking rules</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 usual price a new session starts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How many days before a session booking opens.</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Lock sessions before the start</a:t>
            </a:r>
            <a:r>
              <a:rPr lang="en-US" sz="1400" dirty="0">
                <a:solidFill>
                  <a:srgbClr val="3D4A5C"/>
                </a:solidFill>
                <a:latin typeface="DM Sans" pitchFamily="34" charset="0"/>
                <a:ea typeface="DM Sans" pitchFamily="34" charset="-122"/>
                <a:cs typeface="DM Sans" pitchFamily="34" charset="-120"/>
              </a:rPr>
              <a:t>: the list freezes and late cancellers lose their fee.</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Whether visitors can see who’s booked.</a:t>
            </a:r>
            <a:endParaRPr lang="en-US" sz="1400" dirty="0"/>
          </a:p>
        </p:txBody>
      </p:sp>
      <p:sp>
        <p:nvSpPr>
          <p:cNvPr id="6" name="Text 4"/>
          <p:cNvSpPr/>
          <p:nvPr/>
        </p:nvSpPr>
        <p:spPr>
          <a:xfrm>
            <a:off x="819150" y="32651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Save club settings</a:t>
            </a:r>
            <a:r>
              <a:rPr lang="en-US" sz="1200" dirty="0">
                <a:solidFill>
                  <a:srgbClr val="3D4A5C"/>
                </a:solidFill>
                <a:latin typeface="DM Sans" pitchFamily="34" charset="0"/>
                <a:ea typeface="DM Sans" pitchFamily="34" charset="-122"/>
                <a:cs typeface="DM Sans" pitchFamily="34" charset="-120"/>
              </a:rPr>
              <a:t> when you’ve finished. Only what you changed is saved.</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Lock sessions before the start setting,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7872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5 · CLUB SETTINGS</a:t>
            </a:r>
            <a:endParaRPr lang="en-US" sz="1200" dirty="0"/>
          </a:p>
        </p:txBody>
      </p:sp>
      <p:sp>
        <p:nvSpPr>
          <p:cNvPr id="3" name="Text 1"/>
          <p:cNvSpPr/>
          <p:nvPr/>
        </p:nvSpPr>
        <p:spPr>
          <a:xfrm>
            <a:off x="260000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Joining, children and emergency contacts</a:t>
            </a:r>
            <a:endParaRPr lang="en-US" sz="2800" dirty="0"/>
          </a:p>
        </p:txBody>
      </p:sp>
      <p:sp>
        <p:nvSpPr>
          <p:cNvPr id="5" name="Text 3"/>
          <p:cNvSpPr/>
          <p:nvPr/>
        </p:nvSpPr>
        <p:spPr>
          <a:xfrm>
            <a:off x="879157" y="1612900"/>
            <a:ext cx="3954971" cy="176784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Let new players join online</a:t>
            </a:r>
            <a:r>
              <a:rPr lang="en-US" sz="1400" dirty="0">
                <a:solidFill>
                  <a:srgbClr val="3D4A5C"/>
                </a:solidFill>
                <a:latin typeface="DM Sans" pitchFamily="34" charset="0"/>
                <a:ea typeface="DM Sans" pitchFamily="34" charset="-122"/>
                <a:cs typeface="DM Sans" pitchFamily="34" charset="-120"/>
              </a:rPr>
              <a:t> gives you a join link to share.</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Members can add people they look after</a:t>
            </a:r>
            <a:r>
              <a:rPr lang="en-US" sz="1400" dirty="0">
                <a:solidFill>
                  <a:srgbClr val="3D4A5C"/>
                </a:solidFill>
                <a:latin typeface="DM Sans" pitchFamily="34" charset="0"/>
                <a:ea typeface="DM Sans" pitchFamily="34" charset="-122"/>
                <a:cs typeface="DM Sans" pitchFamily="34" charset="-120"/>
              </a:rPr>
              <a:t>: switch off if the club doesn’t take children.</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Ask everyone who books for an emergency contact</a:t>
            </a:r>
            <a:r>
              <a:rPr lang="en-US" sz="1400" dirty="0">
                <a:solidFill>
                  <a:srgbClr val="3D4A5C"/>
                </a:solidFill>
                <a:latin typeface="DM Sans" pitchFamily="34" charset="0"/>
                <a:ea typeface="DM Sans" pitchFamily="34" charset="-122"/>
                <a:cs typeface="DM Sans" pitchFamily="34" charset="-120"/>
              </a:rPr>
              <a:t>: visitors too, before their first booking.</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dirty="0">
                <a:solidFill>
                  <a:srgbClr val="3D4A5C"/>
                </a:solidFill>
                <a:latin typeface="DM Sans" pitchFamily="34" charset="0"/>
                <a:ea typeface="DM Sans" pitchFamily="34" charset="-122"/>
                <a:cs typeface="DM Sans" pitchFamily="34" charset="-120"/>
              </a:rPr>
              <a:t>Asking everyone for a contact? Add a line about it to the club’s privacy notice.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hildren and emergency contact switches in Club settings, the emergency contact switch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6</a:t>
            </a:r>
            <a:endParaRPr lang="en-US" sz="6000" dirty="0"/>
          </a:p>
        </p:txBody>
      </p:sp>
      <p:sp>
        <p:nvSpPr>
          <p:cNvPr id="4" name="Text 2"/>
          <p:cNvSpPr/>
          <p:nvPr>
            <p:ph type="title"/>
          </p:nvPr>
        </p:nvSpPr>
        <p:spPr>
          <a:xfrm>
            <a:off x="812800" y="2919735"/>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Members and logins</a:t>
            </a:r>
            <a:endParaRPr lang="en-US" sz="4800" dirty="0"/>
          </a:p>
        </p:txBody>
      </p:sp>
      <p:sp>
        <p:nvSpPr>
          <p:cNvPr id="5" name="Text 3"/>
          <p:cNvSpPr/>
          <p:nvPr/>
        </p:nvSpPr>
        <p:spPr>
          <a:xfrm>
            <a:off x="812800" y="3763008"/>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Member records and their details, bringing members in from a spreadsheet, and adding players.</a:t>
            </a:r>
            <a:endParaRPr lang="en-US" sz="1700" dirty="0"/>
          </a:p>
        </p:txBody>
      </p:sp>
      <p:sp>
        <p:nvSpPr>
          <p:cNvPr id="6" name="Text 4"/>
          <p:cNvSpPr/>
          <p:nvPr/>
        </p:nvSpPr>
        <p:spPr>
          <a:xfrm>
            <a:off x="812800" y="4570735"/>
            <a:ext cx="1157208"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4180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6 · MEMBERS AND LOGINS</a:t>
            </a:r>
            <a:endParaRPr lang="en-US" sz="1200" dirty="0"/>
          </a:p>
        </p:txBody>
      </p:sp>
      <p:sp>
        <p:nvSpPr>
          <p:cNvPr id="3" name="Text 1"/>
          <p:cNvSpPr/>
          <p:nvPr/>
        </p:nvSpPr>
        <p:spPr>
          <a:xfrm>
            <a:off x="3230880"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Member records</a:t>
            </a:r>
            <a:endParaRPr lang="en-US" sz="2800" dirty="0"/>
          </a:p>
        </p:txBody>
      </p:sp>
      <p:sp>
        <p:nvSpPr>
          <p:cNvPr id="5" name="Text 3"/>
          <p:cNvSpPr/>
          <p:nvPr/>
        </p:nvSpPr>
        <p:spPr>
          <a:xfrm>
            <a:off x="876300" y="1612900"/>
            <a:ext cx="3957828" cy="201676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Member records</a:t>
            </a:r>
            <a:r>
              <a:rPr lang="en-US" sz="1400" dirty="0">
                <a:solidFill>
                  <a:srgbClr val="3D4A5C"/>
                </a:solidFill>
                <a:latin typeface="DM Sans" pitchFamily="34" charset="0"/>
                <a:ea typeface="DM Sans" pitchFamily="34" charset="-122"/>
                <a:cs typeface="DM Sans" pitchFamily="34" charset="-120"/>
              </a:rPr>
              <a:t>: filters find, say, details missing or juniors.</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a record: contact details, emergency contacts, agreements.</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From a paper form</a:t>
            </a:r>
            <a:r>
              <a:rPr lang="en-US" sz="1400" dirty="0">
                <a:solidFill>
                  <a:srgbClr val="3D4A5C"/>
                </a:solidFill>
                <a:latin typeface="DM Sans" pitchFamily="34" charset="0"/>
                <a:ea typeface="DM Sans" pitchFamily="34" charset="-122"/>
                <a:cs typeface="DM Sans" pitchFamily="34" charset="-120"/>
              </a:rPr>
              <a:t>: type it in; tick only what they ticked.</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Show consent history</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Erase details…</a:t>
            </a:r>
            <a:r>
              <a:rPr lang="en-US" sz="1400" dirty="0">
                <a:solidFill>
                  <a:srgbClr val="3D4A5C"/>
                </a:solidFill>
                <a:latin typeface="DM Sans" pitchFamily="34" charset="0"/>
                <a:ea typeface="DM Sans" pitchFamily="34" charset="-122"/>
                <a:cs typeface="DM Sans" pitchFamily="34" charset="-120"/>
              </a:rPr>
              <a:t> when asked.</a:t>
            </a:r>
            <a:endParaRPr lang="en-US" sz="1400" dirty="0"/>
          </a:p>
        </p:txBody>
      </p:sp>
      <p:sp>
        <p:nvSpPr>
          <p:cNvPr id="6" name="Text 4"/>
          <p:cNvSpPr/>
          <p:nvPr/>
        </p:nvSpPr>
        <p:spPr>
          <a:xfrm>
            <a:off x="819150" y="3763008"/>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Personal data.</a:t>
            </a:r>
            <a:r>
              <a:rPr lang="en-US" sz="1200" dirty="0">
                <a:solidFill>
                  <a:srgbClr val="3D4A5C"/>
                </a:solidFill>
                <a:latin typeface="DM Sans" pitchFamily="34" charset="0"/>
                <a:ea typeface="DM Sans" pitchFamily="34" charset="-122"/>
                <a:cs typeface="DM Sans" pitchFamily="34" charset="-120"/>
              </a:rPr>
              <a:t> Every record you open is recorded.</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member's record showing contact details, emergency contacts and agreement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4180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6 · MEMBERS AND LOGINS</a:t>
            </a:r>
            <a:endParaRPr lang="en-US" sz="1200" dirty="0"/>
          </a:p>
        </p:txBody>
      </p:sp>
      <p:sp>
        <p:nvSpPr>
          <p:cNvPr id="3" name="Text 1"/>
          <p:cNvSpPr/>
          <p:nvPr/>
        </p:nvSpPr>
        <p:spPr>
          <a:xfrm>
            <a:off x="3230880"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Bringing members in from a spreadsheet</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Download template</a:t>
            </a:r>
            <a:r>
              <a:rPr lang="en-US" sz="1400" dirty="0">
                <a:solidFill>
                  <a:srgbClr val="3D4A5C"/>
                </a:solidFill>
                <a:latin typeface="DM Sans" pitchFamily="34" charset="0"/>
                <a:ea typeface="DM Sans" pitchFamily="34" charset="-122"/>
                <a:cs typeface="DM Sans" pitchFamily="34" charset="-120"/>
              </a:rPr>
              <a:t>, fill one row per person, save as CSV.</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Upload filled-in file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Check the preview: who’s new, who’s updated, any problems.</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Happy? Click </a:t>
            </a:r>
            <a:r>
              <a:rPr lang="en-US" sz="1400" b="1" dirty="0">
                <a:solidFill>
                  <a:srgbClr val="3D4A5C"/>
                </a:solidFill>
                <a:latin typeface="DM Sans" pitchFamily="34" charset="0"/>
                <a:ea typeface="DM Sans" pitchFamily="34" charset="-122"/>
                <a:cs typeface="DM Sans" pitchFamily="34" charset="-120"/>
              </a:rPr>
              <a:t>Import</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Nothing is saved until you click Import.</a:t>
            </a:r>
            <a:r>
              <a:rPr lang="en-US" sz="1200" dirty="0">
                <a:solidFill>
                  <a:srgbClr val="3D4A5C"/>
                </a:solidFill>
                <a:latin typeface="DM Sans" pitchFamily="34" charset="0"/>
                <a:ea typeface="DM Sans" pitchFamily="34" charset="-122"/>
                <a:cs typeface="DM Sans" pitchFamily="34" charset="-120"/>
              </a:rPr>
              <a:t> A blank cell never wipes what’s already on file.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import preview listing new and updated people before anything is sav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4180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6 · MEMBERS AND LOGINS</a:t>
            </a:r>
            <a:endParaRPr lang="en-US" sz="1200" dirty="0"/>
          </a:p>
        </p:txBody>
      </p:sp>
      <p:sp>
        <p:nvSpPr>
          <p:cNvPr id="3" name="Text 1"/>
          <p:cNvSpPr/>
          <p:nvPr/>
        </p:nvSpPr>
        <p:spPr>
          <a:xfrm>
            <a:off x="3230880"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Adding players and logins</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Players &amp; logins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Add a player</a:t>
            </a:r>
            <a:r>
              <a:rPr lang="en-US" sz="1400" dirty="0">
                <a:solidFill>
                  <a:srgbClr val="3D4A5C"/>
                </a:solidFill>
                <a:latin typeface="DM Sans" pitchFamily="34" charset="0"/>
                <a:ea typeface="DM Sans" pitchFamily="34" charset="-122"/>
                <a:cs typeface="DM Sans" pitchFamily="34" charset="-120"/>
              </a:rPr>
              <a:t>: name, gender, email and a starting rating.</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 Add</a:t>
            </a:r>
            <a:r>
              <a:rPr lang="en-US" sz="1400" dirty="0">
                <a:solidFill>
                  <a:srgbClr val="3D4A5C"/>
                </a:solidFill>
                <a:latin typeface="DM Sans" pitchFamily="34" charset="0"/>
                <a:ea typeface="DM Sans" pitchFamily="34" charset="-122"/>
                <a:cs typeface="DM Sans" pitchFamily="34" charset="-120"/>
              </a:rPr>
              <a:t>. With an email, they can sign in and book straight away.</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Can log in</a:t>
            </a:r>
            <a:r>
              <a:rPr lang="en-US" sz="1400" dirty="0">
                <a:solidFill>
                  <a:srgbClr val="3D4A5C"/>
                </a:solidFill>
                <a:latin typeface="DM Sans" pitchFamily="34" charset="0"/>
                <a:ea typeface="DM Sans" pitchFamily="34" charset="-122"/>
                <a:cs typeface="DM Sans" pitchFamily="34" charset="-120"/>
              </a:rPr>
              <a:t> shows who can sign in to book.</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Already listed, no login?</a:t>
            </a:r>
            <a:r>
              <a:rPr lang="en-US" sz="1200" dirty="0">
                <a:solidFill>
                  <a:srgbClr val="3D4A5C"/>
                </a:solidFill>
                <a:latin typeface="DM Sans" pitchFamily="34" charset="0"/>
                <a:ea typeface="DM Sans" pitchFamily="34" charset="-122"/>
                <a:cs typeface="DM Sans" pitchFamily="34" charset="-120"/>
              </a:rPr>
              <a:t> Add their email, then </a:t>
            </a:r>
            <a:r>
              <a:rPr lang="en-US" sz="1200" b="1" dirty="0">
                <a:solidFill>
                  <a:srgbClr val="3D4A5C"/>
                </a:solidFill>
                <a:latin typeface="DM Sans" pitchFamily="34" charset="0"/>
                <a:ea typeface="DM Sans" pitchFamily="34" charset="-122"/>
                <a:cs typeface="DM Sans" pitchFamily="34" charset="-120"/>
              </a:rPr>
              <a:t>Give them access to booking</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Add a player form in Players and login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ph type="title"/>
          </p:nvPr>
        </p:nvSpPr>
        <p:spPr>
          <a:xfrm>
            <a:off x="812800" y="1788158"/>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Help when you need it</a:t>
            </a:r>
            <a:endParaRPr lang="en-US" sz="4800" dirty="0"/>
          </a:p>
        </p:txBody>
      </p:sp>
      <p:sp>
        <p:nvSpPr>
          <p:cNvPr id="4" name="Shape 2"/>
          <p:cNvSpPr/>
          <p:nvPr/>
        </p:nvSpPr>
        <p:spPr>
          <a:xfrm>
            <a:off x="812800" y="2733042"/>
            <a:ext cx="3386614" cy="2336800"/>
          </a:xfrm>
          <a:prstGeom prst="roundRect">
            <a:avLst>
              <a:gd name="adj" fmla="val 5435"/>
            </a:avLst>
          </a:prstGeom>
          <a:solidFill>
            <a:srgbClr val="1D2939"/>
          </a:solidFill>
          <a:ln/>
        </p:spPr>
      </p:sp>
      <p:pic>
        <p:nvPicPr>
          <p:cNvPr id="5" name="Image 0" descr="Book">    </p:cNvPr>
          <p:cNvPicPr>
            <a:picLocks noChangeAspect="1"/>
          </p:cNvPicPr>
          <p:nvPr/>
        </p:nvPicPr>
        <p:blipFill>
          <a:blip r:embed="rId1"/>
          <a:srcRect l="0" r="0" t="0" b="0"/>
          <a:stretch/>
        </p:blipFill>
        <p:spPr>
          <a:xfrm>
            <a:off x="1066800" y="2987042"/>
            <a:ext cx="355600" cy="355600"/>
          </a:xfrm>
          <a:prstGeom prst="rect">
            <a:avLst/>
          </a:prstGeom>
        </p:spPr>
      </p:pic>
      <p:sp>
        <p:nvSpPr>
          <p:cNvPr id="6" name="Text 3"/>
          <p:cNvSpPr/>
          <p:nvPr/>
        </p:nvSpPr>
        <p:spPr>
          <a:xfrm>
            <a:off x="1066800" y="3444242"/>
            <a:ext cx="29649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oppins" pitchFamily="34" charset="0"/>
                <a:ea typeface="Poppins" pitchFamily="34" charset="-122"/>
                <a:cs typeface="Poppins" pitchFamily="34" charset="-120"/>
              </a:rPr>
              <a:t>Help &amp; guides</a:t>
            </a:r>
            <a:endParaRPr lang="en-US" sz="1800" dirty="0"/>
          </a:p>
        </p:txBody>
      </p:sp>
      <p:sp>
        <p:nvSpPr>
          <p:cNvPr id="7" name="Text 4"/>
          <p:cNvSpPr/>
          <p:nvPr/>
        </p:nvSpPr>
        <p:spPr>
          <a:xfrm>
            <a:off x="1066800" y="3820158"/>
            <a:ext cx="296497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0D5DD"/>
                </a:solidFill>
                <a:latin typeface="DM Sans" pitchFamily="34" charset="0"/>
                <a:ea typeface="DM Sans" pitchFamily="34" charset="-122"/>
                <a:cs typeface="DM Sans" pitchFamily="34" charset="-120"/>
              </a:rPr>
              <a:t>Bottom of the menu. Every job step by step, with pictures. You only see the guides for what you can do.</a:t>
            </a:r>
            <a:endParaRPr lang="en-US" sz="1400" dirty="0"/>
          </a:p>
        </p:txBody>
      </p:sp>
      <p:sp>
        <p:nvSpPr>
          <p:cNvPr id="8" name="Shape 5"/>
          <p:cNvSpPr/>
          <p:nvPr/>
        </p:nvSpPr>
        <p:spPr>
          <a:xfrm>
            <a:off x="4402614" y="2733042"/>
            <a:ext cx="3386693" cy="2336800"/>
          </a:xfrm>
          <a:prstGeom prst="roundRect">
            <a:avLst>
              <a:gd name="adj" fmla="val 5435"/>
            </a:avLst>
          </a:prstGeom>
          <a:solidFill>
            <a:srgbClr val="1D2939"/>
          </a:solidFill>
          <a:ln/>
        </p:spPr>
      </p:sp>
      <p:pic>
        <p:nvPicPr>
          <p:cNvPr id="9" name="Image 1" descr="Users">    </p:cNvPr>
          <p:cNvPicPr>
            <a:picLocks noChangeAspect="1"/>
          </p:cNvPicPr>
          <p:nvPr/>
        </p:nvPicPr>
        <p:blipFill>
          <a:blip r:embed="rId2"/>
          <a:srcRect l="0" r="0" t="0" b="0"/>
          <a:stretch/>
        </p:blipFill>
        <p:spPr>
          <a:xfrm>
            <a:off x="4656614" y="2987042"/>
            <a:ext cx="355600" cy="355600"/>
          </a:xfrm>
          <a:prstGeom prst="rect">
            <a:avLst/>
          </a:prstGeom>
        </p:spPr>
      </p:pic>
      <p:sp>
        <p:nvSpPr>
          <p:cNvPr id="10" name="Text 6"/>
          <p:cNvSpPr/>
          <p:nvPr/>
        </p:nvSpPr>
        <p:spPr>
          <a:xfrm>
            <a:off x="4656614" y="3444242"/>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oppins" pitchFamily="34" charset="0"/>
                <a:ea typeface="Poppins" pitchFamily="34" charset="-122"/>
                <a:cs typeface="Poppins" pitchFamily="34" charset="-120"/>
              </a:rPr>
              <a:t>Your club’s Seniors</a:t>
            </a:r>
            <a:endParaRPr lang="en-US" sz="1800" dirty="0"/>
          </a:p>
        </p:txBody>
      </p:sp>
      <p:sp>
        <p:nvSpPr>
          <p:cNvPr id="11" name="Text 7"/>
          <p:cNvSpPr/>
          <p:nvPr/>
        </p:nvSpPr>
        <p:spPr>
          <a:xfrm>
            <a:off x="4656614" y="3820158"/>
            <a:ext cx="296505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0D5DD"/>
                </a:solidFill>
                <a:latin typeface="DM Sans" pitchFamily="34" charset="0"/>
                <a:ea typeface="DM Sans" pitchFamily="34" charset="-122"/>
                <a:cs typeface="DM Sans" pitchFamily="34" charset="-120"/>
              </a:rPr>
              <a:t>For changing what your level can do, or adding a new admin: [name and contact].</a:t>
            </a:r>
            <a:endParaRPr lang="en-US" sz="1400" dirty="0"/>
          </a:p>
        </p:txBody>
      </p:sp>
      <p:sp>
        <p:nvSpPr>
          <p:cNvPr id="12" name="Shape 8"/>
          <p:cNvSpPr/>
          <p:nvPr/>
        </p:nvSpPr>
        <p:spPr>
          <a:xfrm>
            <a:off x="7992507" y="2733042"/>
            <a:ext cx="3386693" cy="2336800"/>
          </a:xfrm>
          <a:prstGeom prst="roundRect">
            <a:avLst>
              <a:gd name="adj" fmla="val 5435"/>
            </a:avLst>
          </a:prstGeom>
          <a:solidFill>
            <a:srgbClr val="1D2939"/>
          </a:solidFill>
          <a:ln/>
        </p:spPr>
      </p:sp>
      <p:pic>
        <p:nvPicPr>
          <p:cNvPr id="13" name="Image 2" descr="Chat">    </p:cNvPr>
          <p:cNvPicPr>
            <a:picLocks noChangeAspect="1"/>
          </p:cNvPicPr>
          <p:nvPr/>
        </p:nvPicPr>
        <p:blipFill>
          <a:blip r:embed="rId3"/>
          <a:srcRect l="0" r="0" t="0" b="0"/>
          <a:stretch/>
        </p:blipFill>
        <p:spPr>
          <a:xfrm>
            <a:off x="8246507" y="2987042"/>
            <a:ext cx="355600" cy="355600"/>
          </a:xfrm>
          <a:prstGeom prst="rect">
            <a:avLst/>
          </a:prstGeom>
        </p:spPr>
      </p:pic>
      <p:sp>
        <p:nvSpPr>
          <p:cNvPr id="14" name="Text 9"/>
          <p:cNvSpPr/>
          <p:nvPr/>
        </p:nvSpPr>
        <p:spPr>
          <a:xfrm>
            <a:off x="8246507" y="3444242"/>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oppins" pitchFamily="34" charset="0"/>
                <a:ea typeface="Poppins" pitchFamily="34" charset="-122"/>
                <a:cs typeface="Poppins" pitchFamily="34" charset="-120"/>
              </a:rPr>
              <a:t>twoclear</a:t>
            </a:r>
            <a:endParaRPr lang="en-US" sz="1800" dirty="0"/>
          </a:p>
        </p:txBody>
      </p:sp>
      <p:sp>
        <p:nvSpPr>
          <p:cNvPr id="15" name="Text 10"/>
          <p:cNvSpPr/>
          <p:nvPr/>
        </p:nvSpPr>
        <p:spPr>
          <a:xfrm>
            <a:off x="8246507" y="3820158"/>
            <a:ext cx="29650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0D5DD"/>
                </a:solidFill>
                <a:latin typeface="DM Sans" pitchFamily="34" charset="0"/>
                <a:ea typeface="DM Sans" pitchFamily="34" charset="-122"/>
                <a:cs typeface="DM Sans" pitchFamily="34" charset="-120"/>
              </a:rPr>
              <a:t>Something not working as it should? hello@twoclear.co.uk</a:t>
            </a:r>
            <a:endParaRPr lang="en-US" sz="1400" dirty="0"/>
          </a:p>
        </p:txBody>
      </p:sp>
      <p:pic>
        <p:nvPicPr>
          <p:cNvPr id="16" name="Image 3" descr="twoclear">    </p:cNvPr>
          <p:cNvPicPr>
            <a:picLocks noChangeAspect="1"/>
          </p:cNvPicPr>
          <p:nvPr/>
        </p:nvPicPr>
        <p:blipFill>
          <a:blip r:embed="rId4"/>
          <a:srcRect l="-224" r="-224" t="0" b="0"/>
          <a:stretch/>
        </p:blipFill>
        <p:spPr>
          <a:xfrm>
            <a:off x="9474200" y="5822950"/>
            <a:ext cx="1905000" cy="425450"/>
          </a:xfrm>
          <a:prstGeom prst="rect">
            <a:avLst/>
          </a:prstGeom>
        </p:spPr>
      </p:pic>
    </p:spTree>
  </p:cSld>
  <p:clrMapOvr>
    <a:masterClrMapping/>
  </p:clrMapOvr>
</p:sld>
</file>

<file path=ppt/theme/theme1.xml><?xml version="1.0" encoding="utf-8"?>
<a:theme xmlns:a="http://schemas.openxmlformats.org/drawingml/2006/main" name="Running your club (no memberships)">
  <a:themeElements>
    <a:clrScheme name="Running your club (no memberships)">
      <a:dk1>
        <a:srgbClr val="3D4A5C"/>
      </a:dk1>
      <a:lt1>
        <a:srgbClr val="F6F4EF"/>
      </a:lt1>
      <a:dk2>
        <a:srgbClr val="6B7581"/>
      </a:dk2>
      <a:lt2>
        <a:srgbClr val="E4E3E0"/>
      </a:lt2>
      <a:accent1>
        <a:srgbClr val="F97316"/>
      </a:accent1>
      <a:accent2>
        <a:srgbClr val="C2410C"/>
      </a:accent2>
      <a:accent3>
        <a:srgbClr val="101828"/>
      </a:accent3>
      <a:accent4>
        <a:srgbClr val="6B7686"/>
      </a:accent4>
      <a:accent5>
        <a:srgbClr val="C9D2E0"/>
      </a:accent5>
      <a:accent6>
        <a:srgbClr val="1D2939"/>
      </a:accent6>
      <a:hlink>
        <a:srgbClr val="0563C1"/>
      </a:hlink>
      <a:folHlink>
        <a:srgbClr val="954F72"/>
      </a:folHlink>
    </a:clrScheme>
    <a:fontScheme name="Running your club (no memberships)">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your club (no memberships)</dc:title>
  <dc:subject/>
  <dc:creator/>
  <cp:lastModifiedBy/>
  <cp:revision>1</cp:revision>
  <dcterms:created xsi:type="dcterms:W3CDTF">2026-10-12T17:24:08Z</dcterms:created>
  <dcterms:modified xsi:type="dcterms:W3CDTF">2026-10-12T17:24:08Z</dcterms:modified>
</cp:coreProperties>
</file>