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583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everyone to do this before launch week, so nobody's first sign-in happens during a busy booking release. Most people will be on iPhone (Safari) or Android (Chrome). Samsung phones often use Samsung Internet. If someone's email isn't recognised, the club needs to add or correct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Pictures are from the demo club, so names and prices will differ. Cancelling after the club's cut-off (often 24 hours before) refunds only if someone from the waiting list takes the place. Not enough in the wallet? The button says Top up &amp; book: top up, then go back to the session and tap Book. Some clubs show sessions before booking opens: they say Not open yet, and can be booked from when booking opens (the session says when, if the club has set a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moves by itself when someone cancels: the first person waiting with enough in their wallet gets the place. Someone without enough is skipped, not removed. It keeps moving until the club's waiting-list cut-off, which the club sets.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5340"/>
            <a:ext cx="10566400" cy="480060"/>
          </a:xfrm>
          <a:prstGeom prst="rect">
            <a:avLst/>
          </a:prstGeom>
          <a:noFill/>
          <a:ln/>
        </p:spPr>
        <p:txBody>
          <a:bodyPr wrap="square" lIns="0" tIns="0" rIns="0" bIns="0" rtlCol="0" anchor="t"/>
          <a:lstStyle>
            <a:lvl1pPr marL="0" indent="0" algn="l">
              <a:lnSpc>
                <a:spcPct val="110000"/>
              </a:lnSpc>
              <a:buNone/>
              <a:defRPr lang="en-US" sz="3600" dirty="0">
                <a:solidFill>
                  <a:srgbClr val="101828"/>
                </a:solidFill>
                <a:latin typeface="Poppins" pitchFamily="34" charset="0"/>
                <a:ea typeface="Poppins" pitchFamily="34" charset="-122"/>
                <a:cs typeface="Poppins" pitchFamily="34" charset="-120"/>
              </a:defRPr>
            </a:lvl1pPr>
          </a:lstStyle>
          <a:p>
            <a:pPr marL="0" indent="0" algn="l">
              <a:lnSpc>
                <a:spcPct val="110000"/>
              </a:lnSpc>
              <a:buNone/>
            </a:pPr>
            <a:endParaRPr lang="en-US" sz="3600" dirty="0"/>
          </a:p>
        </p:txBody>
      </p:sp>
      <p:sp>
        <p:nvSpPr>
          <p:cNvPr id="3" name="Text Placeholder 2"/>
          <p:cNvSpPr>
            <a:spLocks noGrp="1"/>
          </p:cNvSpPr>
          <p:nvPr>
            <p:ph type="body" idx="101"/>
          </p:nvPr>
        </p:nvSpPr>
        <p:spPr>
          <a:xfrm>
            <a:off x="812800" y="1600200"/>
            <a:ext cx="10566400" cy="4445000"/>
          </a:xfrm>
          <a:prstGeom prst="rect">
            <a:avLst/>
          </a:prstGeom>
          <a:noFill/>
          <a:ln/>
        </p:spPr>
        <p:txBody>
          <a:bodyPr wrap="square" lIns="0" tIns="0" rIns="0" bIns="0" rtlCol="0" anchor="t"/>
          <a:lstStyle>
            <a:lvl1pPr marL="0" indent="0" algn="l">
              <a:lnSpc>
                <a:spcPct val="140000"/>
              </a:lnSpc>
              <a:buNone/>
              <a:defRPr lang="en-US" sz="1600" dirty="0">
                <a:solidFill>
                  <a:srgbClr val="101828"/>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5340"/>
            <a:ext cx="10566400" cy="480060"/>
          </a:xfrm>
          <a:prstGeom prst="rect">
            <a:avLst/>
          </a:prstGeom>
          <a:noFill/>
          <a:ln/>
        </p:spPr>
        <p:txBody>
          <a:bodyPr wrap="square" lIns="0" tIns="0" rIns="0" bIns="0" rtlCol="0" anchor="t"/>
          <a:lstStyle>
            <a:lvl1pPr marL="0" indent="0" algn="l">
              <a:lnSpc>
                <a:spcPct val="110000"/>
              </a:lnSpc>
              <a:buNone/>
              <a:defRPr lang="en-US" sz="3600" dirty="0">
                <a:solidFill>
                  <a:srgbClr val="101828"/>
                </a:solidFill>
                <a:latin typeface="Poppins" pitchFamily="34" charset="0"/>
                <a:ea typeface="Poppins" pitchFamily="34" charset="-122"/>
                <a:cs typeface="Poppins" pitchFamily="34" charset="-120"/>
              </a:defRPr>
            </a:lvl1pPr>
          </a:lstStyle>
          <a:p>
            <a:pPr marL="0" indent="0" algn="l">
              <a:lnSpc>
                <a:spcPct val="110000"/>
              </a:lnSpc>
              <a:buNone/>
            </a:pPr>
            <a:endParaRPr lang="en-US" sz="3600" dirty="0"/>
          </a:p>
        </p:txBody>
      </p:sp>
      <p:sp>
        <p:nvSpPr>
          <p:cNvPr id="3" name="Text Placeholder 2"/>
          <p:cNvSpPr>
            <a:spLocks noGrp="1"/>
          </p:cNvSpPr>
          <p:nvPr>
            <p:ph type="body" idx="101"/>
          </p:nvPr>
        </p:nvSpPr>
        <p:spPr>
          <a:xfrm>
            <a:off x="812800" y="1600200"/>
            <a:ext cx="10566400" cy="4445000"/>
          </a:xfrm>
          <a:prstGeom prst="rect">
            <a:avLst/>
          </a:prstGeom>
          <a:noFill/>
          <a:ln/>
        </p:spPr>
        <p:txBody>
          <a:bodyPr wrap="square" lIns="0" tIns="0" rIns="0" bIns="0" rtlCol="0" anchor="t"/>
          <a:lstStyle>
            <a:lvl1pPr marL="0" indent="0" algn="l">
              <a:lnSpc>
                <a:spcPct val="140000"/>
              </a:lnSpc>
              <a:buNone/>
              <a:defRPr lang="en-US" sz="1600" dirty="0">
                <a:solidFill>
                  <a:srgbClr val="101828"/>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webp"/><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webp"/><Relationship Id="rId5" Type="http://schemas.openxmlformats.org/officeDocument/2006/relationships/image" Target="../media/image5.webp"/><Relationship Id="rId4" Type="http://schemas.openxmlformats.org/officeDocument/2006/relationships/image" Target="../media/image4.webp"/><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webp"/><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webp"/><Relationship Id="rId5" Type="http://schemas.openxmlformats.org/officeDocument/2006/relationships/image" Target="../media/image11.webp"/><Relationship Id="rId4" Type="http://schemas.openxmlformats.org/officeDocument/2006/relationships/image" Target="../media/image10.webp"/><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2410C"/>
                </a:solidFill>
                <a:latin typeface="DM Sans" pitchFamily="34" charset="0"/>
                <a:ea typeface="DM Sans" pitchFamily="34" charset="-122"/>
                <a:cs typeface="DM Sans" pitchFamily="34" charset="-120"/>
              </a:rPr>
              <a:t>STEP 1 · BEFORE YOUR FIRST BOOKING</a:t>
            </a:r>
            <a:endParaRPr lang="en-US" sz="1300" dirty="0"/>
          </a:p>
        </p:txBody>
      </p:sp>
      <p:sp>
        <p:nvSpPr>
          <p:cNvPr id="3" name="Text 1"/>
          <p:cNvSpPr>
            <a:spLocks noGrp="1"/>
          </p:cNvSpPr>
          <p:nvPr>
            <p:ph type="title"/>
          </p:nvPr>
        </p:nvSpPr>
        <p:spPr>
          <a:xfrm>
            <a:off x="812800" y="815340"/>
            <a:ext cx="10883392" cy="50546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101828"/>
                </a:solidFill>
                <a:latin typeface="Poppins" pitchFamily="34" charset="0"/>
                <a:ea typeface="Poppins" pitchFamily="34" charset="-122"/>
                <a:cs typeface="Poppins" pitchFamily="34" charset="-120"/>
              </a:rPr>
              <a:t>Put the club on your phone</a:t>
            </a:r>
            <a:endParaRPr lang="en-US" sz="3600" dirty="0"/>
          </a:p>
        </p:txBody>
      </p:sp>
      <p:sp>
        <p:nvSpPr>
          <p:cNvPr id="4" name="Text 2"/>
          <p:cNvSpPr/>
          <p:nvPr/>
        </p:nvSpPr>
        <p:spPr>
          <a:xfrm>
            <a:off x="812800" y="1371600"/>
            <a:ext cx="10883392"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D4A5C"/>
                </a:solidFill>
                <a:latin typeface="DM Sans" pitchFamily="34" charset="0"/>
                <a:ea typeface="DM Sans" pitchFamily="34" charset="-122"/>
                <a:cs typeface="DM Sans" pitchFamily="34" charset="-120"/>
              </a:rPr>
              <a:t>Open </a:t>
            </a:r>
            <a:r>
              <a:rPr lang="en-US" sz="1400" b="1" dirty="0">
                <a:solidFill>
                  <a:srgbClr val="3D4A5C"/>
                </a:solidFill>
                <a:latin typeface="DM Sans" pitchFamily="34" charset="0"/>
                <a:ea typeface="DM Sans" pitchFamily="34" charset="-122"/>
                <a:cs typeface="DM Sans" pitchFamily="34" charset="-120"/>
              </a:rPr>
              <a:t>swindon.twoclear.co.uk</a:t>
            </a:r>
            <a:r>
              <a:rPr lang="en-US" sz="1400" dirty="0">
                <a:solidFill>
                  <a:srgbClr val="3D4A5C"/>
                </a:solidFill>
                <a:latin typeface="DM Sans" pitchFamily="34" charset="0"/>
                <a:ea typeface="DM Sans" pitchFamily="34" charset="-122"/>
                <a:cs typeface="DM Sans" pitchFamily="34" charset="-120"/>
              </a:rPr>
              <a:t> in your phone’s browser, then follow the steps for your phone.</a:t>
            </a:r>
            <a:endParaRPr lang="en-US" sz="1400" dirty="0"/>
          </a:p>
        </p:txBody>
      </p:sp>
      <p:sp>
        <p:nvSpPr>
          <p:cNvPr id="5" name="Shape 3"/>
          <p:cNvSpPr/>
          <p:nvPr/>
        </p:nvSpPr>
        <p:spPr>
          <a:xfrm>
            <a:off x="819150" y="1821180"/>
            <a:ext cx="3373914" cy="2164080"/>
          </a:xfrm>
          <a:prstGeom prst="roundRect">
            <a:avLst>
              <a:gd name="adj" fmla="val 5575"/>
            </a:avLst>
          </a:prstGeom>
          <a:solidFill>
            <a:srgbClr val="FFFDF9"/>
          </a:solidFill>
          <a:ln w="12700">
            <a:solidFill>
              <a:srgbClr val="E4DED3"/>
            </a:solidFill>
            <a:prstDash val="solid"/>
          </a:ln>
        </p:spPr>
      </p:sp>
      <p:sp>
        <p:nvSpPr>
          <p:cNvPr id="6" name="Text 4"/>
          <p:cNvSpPr/>
          <p:nvPr/>
        </p:nvSpPr>
        <p:spPr>
          <a:xfrm>
            <a:off x="1026160" y="2028190"/>
            <a:ext cx="304869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1828"/>
                </a:solidFill>
                <a:latin typeface="Poppins" pitchFamily="34" charset="0"/>
                <a:ea typeface="Poppins" pitchFamily="34" charset="-122"/>
                <a:cs typeface="Poppins" pitchFamily="34" charset="-120"/>
              </a:rPr>
              <a:t>iPhone </a:t>
            </a:r>
            <a:r>
              <a:rPr lang="en-US" sz="1800" b="1" dirty="0">
                <a:solidFill>
                  <a:srgbClr val="6B7686"/>
                </a:solidFill>
                <a:latin typeface="Poppins" pitchFamily="34" charset="0"/>
                <a:ea typeface="Poppins" pitchFamily="34" charset="-122"/>
                <a:cs typeface="Poppins" pitchFamily="34" charset="-120"/>
              </a:rPr>
              <a:t>· Safari</a:t>
            </a:r>
            <a:endParaRPr lang="en-US" sz="1800" dirty="0"/>
          </a:p>
        </p:txBody>
      </p:sp>
      <p:sp>
        <p:nvSpPr>
          <p:cNvPr id="7" name="Text 5"/>
          <p:cNvSpPr/>
          <p:nvPr/>
        </p:nvSpPr>
        <p:spPr>
          <a:xfrm>
            <a:off x="1103233" y="2391410"/>
            <a:ext cx="2963997" cy="1412240"/>
          </a:xfrm>
          <a:prstGeom prst="rect">
            <a:avLst/>
          </a:prstGeom>
          <a:noFill/>
          <a:ln/>
        </p:spPr>
        <p:txBody>
          <a:bodyPr wrap="square" lIns="0" tIns="0" rIns="0" bIns="0" rtlCol="0" anchor="t">
            <a:normAutofit/>
          </a:bodyPr>
          <a:lstStyle/>
          <a:p>
            <a:pPr marL="176927" indent="-176927" algn="l">
              <a:lnSpc>
                <a:spcPts val="1820"/>
              </a:lnSpc>
              <a:buSzPct val="100000"/>
              <a:buFontTx/>
              <a:buAutoNum type="arabicPeriod"/>
            </a:pPr>
            <a:r>
              <a:rPr lang="en-US" sz="1300" dirty="0">
                <a:solidFill>
                  <a:srgbClr val="3D4A5C"/>
                </a:solidFill>
                <a:latin typeface="DM Sans" pitchFamily="34" charset="0"/>
                <a:ea typeface="DM Sans" pitchFamily="34" charset="-122"/>
                <a:cs typeface="DM Sans" pitchFamily="34" charset="-120"/>
              </a:rPr>
              <a:t>Tap the </a:t>
            </a:r>
            <a:r>
              <a:rPr lang="en-US" sz="1300" b="1" dirty="0">
                <a:solidFill>
                  <a:srgbClr val="3D4A5C"/>
                </a:solidFill>
                <a:latin typeface="DM Sans" pitchFamily="34" charset="0"/>
                <a:ea typeface="DM Sans" pitchFamily="34" charset="-122"/>
                <a:cs typeface="DM Sans" pitchFamily="34" charset="-120"/>
              </a:rPr>
              <a:t>three lines</a:t>
            </a:r>
            <a:r>
              <a:rPr lang="en-US" sz="1300" dirty="0">
                <a:solidFill>
                  <a:srgbClr val="3D4A5C"/>
                </a:solidFill>
                <a:latin typeface="DM Sans" pitchFamily="34" charset="0"/>
                <a:ea typeface="DM Sans" pitchFamily="34" charset="-122"/>
                <a:cs typeface="DM Sans" pitchFamily="34" charset="-120"/>
              </a:rPr>
              <a:t> at the bottom left, next to the address.</a:t>
            </a:r>
            <a:endParaRPr lang="en-US" sz="1300" dirty="0"/>
          </a:p>
          <a:p>
            <a:pPr marL="176927" indent="-176927" algn="l">
              <a:lnSpc>
                <a:spcPts val="1820"/>
              </a:lnSpc>
              <a:buSzPct val="100000"/>
              <a:buFontTx/>
              <a:buAutoNum type="arabicPeriod"/>
            </a:pPr>
            <a:r>
              <a:rPr lang="en-US" sz="1300" dirty="0">
                <a:solidFill>
                  <a:srgbClr val="3D4A5C"/>
                </a:solidFill>
                <a:latin typeface="DM Sans" pitchFamily="34" charset="0"/>
                <a:ea typeface="DM Sans" pitchFamily="34" charset="-122"/>
                <a:cs typeface="DM Sans" pitchFamily="34" charset="-120"/>
              </a:rPr>
              <a:t>Tap </a:t>
            </a:r>
            <a:r>
              <a:rPr lang="en-US" sz="1300" b="1" dirty="0">
                <a:solidFill>
                  <a:srgbClr val="3D4A5C"/>
                </a:solidFill>
                <a:latin typeface="DM Sans" pitchFamily="34" charset="0"/>
                <a:ea typeface="DM Sans" pitchFamily="34" charset="-122"/>
                <a:cs typeface="DM Sans" pitchFamily="34" charset="-120"/>
              </a:rPr>
              <a:t>Share</a:t>
            </a:r>
            <a:r>
              <a:rPr lang="en-US" sz="1300" dirty="0">
                <a:solidFill>
                  <a:srgbClr val="3D4A5C"/>
                </a:solidFill>
                <a:latin typeface="DM Sans" pitchFamily="34" charset="0"/>
                <a:ea typeface="DM Sans" pitchFamily="34" charset="-122"/>
                <a:cs typeface="DM Sans" pitchFamily="34" charset="-120"/>
              </a:rPr>
              <a:t> (a square with an arrow).</a:t>
            </a:r>
            <a:endParaRPr lang="en-US" sz="1300" dirty="0"/>
          </a:p>
          <a:p>
            <a:pPr marL="176927" indent="-176927" algn="l">
              <a:lnSpc>
                <a:spcPts val="1820"/>
              </a:lnSpc>
              <a:buSzPct val="100000"/>
              <a:buFontTx/>
              <a:buAutoNum type="arabicPeriod"/>
            </a:pPr>
            <a:r>
              <a:rPr lang="en-US" sz="1300" dirty="0">
                <a:solidFill>
                  <a:srgbClr val="3D4A5C"/>
                </a:solidFill>
                <a:latin typeface="DM Sans" pitchFamily="34" charset="0"/>
                <a:ea typeface="DM Sans" pitchFamily="34" charset="-122"/>
                <a:cs typeface="DM Sans" pitchFamily="34" charset="-120"/>
              </a:rPr>
              <a:t>Scroll down and tap </a:t>
            </a:r>
            <a:r>
              <a:rPr lang="en-US" sz="1300" b="1" dirty="0">
                <a:solidFill>
                  <a:srgbClr val="3D4A5C"/>
                </a:solidFill>
                <a:latin typeface="DM Sans" pitchFamily="34" charset="0"/>
                <a:ea typeface="DM Sans" pitchFamily="34" charset="-122"/>
                <a:cs typeface="DM Sans" pitchFamily="34" charset="-120"/>
              </a:rPr>
              <a:t>Add to Home Screen</a:t>
            </a:r>
            <a:r>
              <a:rPr lang="en-US" sz="1300" dirty="0">
                <a:solidFill>
                  <a:srgbClr val="3D4A5C"/>
                </a:solidFill>
                <a:latin typeface="DM Sans" pitchFamily="34" charset="0"/>
                <a:ea typeface="DM Sans" pitchFamily="34" charset="-122"/>
                <a:cs typeface="DM Sans" pitchFamily="34" charset="-120"/>
              </a:rPr>
              <a:t>.</a:t>
            </a:r>
            <a:endParaRPr lang="en-US" sz="1300" dirty="0"/>
          </a:p>
          <a:p>
            <a:pPr marL="176927" indent="-176927" algn="l">
              <a:lnSpc>
                <a:spcPts val="1820"/>
              </a:lnSpc>
              <a:buSzPct val="100000"/>
              <a:buFontTx/>
              <a:buAutoNum type="arabicPeriod"/>
            </a:pPr>
            <a:r>
              <a:rPr lang="en-US" sz="1300" dirty="0">
                <a:solidFill>
                  <a:srgbClr val="3D4A5C"/>
                </a:solidFill>
                <a:latin typeface="DM Sans" pitchFamily="34" charset="0"/>
                <a:ea typeface="DM Sans" pitchFamily="34" charset="-122"/>
                <a:cs typeface="DM Sans" pitchFamily="34" charset="-120"/>
              </a:rPr>
              <a:t>Tap </a:t>
            </a:r>
            <a:r>
              <a:rPr lang="en-US" sz="1300" b="1" dirty="0">
                <a:solidFill>
                  <a:srgbClr val="3D4A5C"/>
                </a:solidFill>
                <a:latin typeface="DM Sans" pitchFamily="34" charset="0"/>
                <a:ea typeface="DM Sans" pitchFamily="34" charset="-122"/>
                <a:cs typeface="DM Sans" pitchFamily="34" charset="-120"/>
              </a:rPr>
              <a:t>Add</a:t>
            </a:r>
            <a:r>
              <a:rPr lang="en-US" sz="1300" dirty="0">
                <a:solidFill>
                  <a:srgbClr val="3D4A5C"/>
                </a:solidFill>
                <a:latin typeface="DM Sans" pitchFamily="34" charset="0"/>
                <a:ea typeface="DM Sans" pitchFamily="34" charset="-122"/>
                <a:cs typeface="DM Sans" pitchFamily="34" charset="-120"/>
              </a:rPr>
              <a:t> (top right).</a:t>
            </a:r>
            <a:endParaRPr lang="en-US" sz="1300" dirty="0"/>
          </a:p>
        </p:txBody>
      </p:sp>
      <p:sp>
        <p:nvSpPr>
          <p:cNvPr id="8" name="Shape 6"/>
          <p:cNvSpPr/>
          <p:nvPr/>
        </p:nvSpPr>
        <p:spPr>
          <a:xfrm>
            <a:off x="4408964" y="1821180"/>
            <a:ext cx="3373993" cy="2164080"/>
          </a:xfrm>
          <a:prstGeom prst="roundRect">
            <a:avLst>
              <a:gd name="adj" fmla="val 5575"/>
            </a:avLst>
          </a:prstGeom>
          <a:solidFill>
            <a:srgbClr val="FFFDF9"/>
          </a:solidFill>
          <a:ln w="12700">
            <a:solidFill>
              <a:srgbClr val="E4DED3"/>
            </a:solidFill>
            <a:prstDash val="solid"/>
          </a:ln>
        </p:spPr>
      </p:sp>
      <p:sp>
        <p:nvSpPr>
          <p:cNvPr id="9" name="Text 7"/>
          <p:cNvSpPr/>
          <p:nvPr/>
        </p:nvSpPr>
        <p:spPr>
          <a:xfrm>
            <a:off x="4615974" y="2028190"/>
            <a:ext cx="30487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1828"/>
                </a:solidFill>
                <a:latin typeface="Poppins" pitchFamily="34" charset="0"/>
                <a:ea typeface="Poppins" pitchFamily="34" charset="-122"/>
                <a:cs typeface="Poppins" pitchFamily="34" charset="-120"/>
              </a:rPr>
              <a:t>Android </a:t>
            </a:r>
            <a:r>
              <a:rPr lang="en-US" sz="1800" b="1" dirty="0">
                <a:solidFill>
                  <a:srgbClr val="6B7686"/>
                </a:solidFill>
                <a:latin typeface="Poppins" pitchFamily="34" charset="0"/>
                <a:ea typeface="Poppins" pitchFamily="34" charset="-122"/>
                <a:cs typeface="Poppins" pitchFamily="34" charset="-120"/>
              </a:rPr>
              <a:t>· Chrome</a:t>
            </a:r>
            <a:endParaRPr lang="en-US" sz="1800" dirty="0"/>
          </a:p>
        </p:txBody>
      </p:sp>
      <p:sp>
        <p:nvSpPr>
          <p:cNvPr id="10" name="Text 8"/>
          <p:cNvSpPr/>
          <p:nvPr/>
        </p:nvSpPr>
        <p:spPr>
          <a:xfrm>
            <a:off x="4695666" y="2391410"/>
            <a:ext cx="2961460" cy="1181100"/>
          </a:xfrm>
          <a:prstGeom prst="rect">
            <a:avLst/>
          </a:prstGeom>
          <a:noFill/>
          <a:ln/>
        </p:spPr>
        <p:txBody>
          <a:bodyPr wrap="square" lIns="0" tIns="0" rIns="0" bIns="0" rtlCol="0" anchor="t">
            <a:normAutofit/>
          </a:bodyPr>
          <a:lstStyle/>
          <a:p>
            <a:pPr marL="174307" indent="-174307" algn="l">
              <a:lnSpc>
                <a:spcPts val="1820"/>
              </a:lnSpc>
              <a:buSzPct val="100000"/>
              <a:buFontTx/>
              <a:buAutoNum type="arabicPeriod"/>
            </a:pPr>
            <a:r>
              <a:rPr lang="en-US" sz="1300" dirty="0">
                <a:solidFill>
                  <a:srgbClr val="3D4A5C"/>
                </a:solidFill>
                <a:latin typeface="DM Sans" pitchFamily="34" charset="0"/>
                <a:ea typeface="DM Sans" pitchFamily="34" charset="-122"/>
                <a:cs typeface="DM Sans" pitchFamily="34" charset="-120"/>
              </a:rPr>
              <a:t>Tap the </a:t>
            </a:r>
            <a:r>
              <a:rPr lang="en-US" sz="1300" b="1" dirty="0">
                <a:solidFill>
                  <a:srgbClr val="3D4A5C"/>
                </a:solidFill>
                <a:latin typeface="DM Sans" pitchFamily="34" charset="0"/>
                <a:ea typeface="DM Sans" pitchFamily="34" charset="-122"/>
                <a:cs typeface="DM Sans" pitchFamily="34" charset="-120"/>
              </a:rPr>
              <a:t>three dots</a:t>
            </a:r>
            <a:r>
              <a:rPr lang="en-US" sz="1300" dirty="0">
                <a:solidFill>
                  <a:srgbClr val="3D4A5C"/>
                </a:solidFill>
                <a:latin typeface="DM Sans" pitchFamily="34" charset="0"/>
                <a:ea typeface="DM Sans" pitchFamily="34" charset="-122"/>
                <a:cs typeface="DM Sans" pitchFamily="34" charset="-120"/>
              </a:rPr>
              <a:t> in the top right corner.</a:t>
            </a:r>
            <a:endParaRPr lang="en-US" sz="1300" dirty="0"/>
          </a:p>
          <a:p>
            <a:pPr marL="174307" indent="-174307" algn="l">
              <a:lnSpc>
                <a:spcPts val="1820"/>
              </a:lnSpc>
              <a:buSzPct val="100000"/>
              <a:buFontTx/>
              <a:buAutoNum type="arabicPeriod"/>
            </a:pPr>
            <a:r>
              <a:rPr lang="en-US" sz="1300" dirty="0">
                <a:solidFill>
                  <a:srgbClr val="3D4A5C"/>
                </a:solidFill>
                <a:latin typeface="DM Sans" pitchFamily="34" charset="0"/>
                <a:ea typeface="DM Sans" pitchFamily="34" charset="-122"/>
                <a:cs typeface="DM Sans" pitchFamily="34" charset="-120"/>
              </a:rPr>
              <a:t>Tap </a:t>
            </a:r>
            <a:r>
              <a:rPr lang="en-US" sz="1300" b="1" dirty="0">
                <a:solidFill>
                  <a:srgbClr val="3D4A5C"/>
                </a:solidFill>
                <a:latin typeface="DM Sans" pitchFamily="34" charset="0"/>
                <a:ea typeface="DM Sans" pitchFamily="34" charset="-122"/>
                <a:cs typeface="DM Sans" pitchFamily="34" charset="-120"/>
              </a:rPr>
              <a:t>Add to Home screen</a:t>
            </a:r>
            <a:r>
              <a:rPr lang="en-US" sz="1300" dirty="0">
                <a:solidFill>
                  <a:srgbClr val="3D4A5C"/>
                </a:solidFill>
                <a:latin typeface="DM Sans" pitchFamily="34" charset="0"/>
                <a:ea typeface="DM Sans" pitchFamily="34" charset="-122"/>
                <a:cs typeface="DM Sans" pitchFamily="34" charset="-120"/>
              </a:rPr>
              <a:t> (newer phones: </a:t>
            </a:r>
            <a:r>
              <a:rPr lang="en-US" sz="1300" b="1" dirty="0">
                <a:solidFill>
                  <a:srgbClr val="3D4A5C"/>
                </a:solidFill>
                <a:latin typeface="DM Sans" pitchFamily="34" charset="0"/>
                <a:ea typeface="DM Sans" pitchFamily="34" charset="-122"/>
                <a:cs typeface="DM Sans" pitchFamily="34" charset="-120"/>
              </a:rPr>
              <a:t>Install app</a:t>
            </a:r>
            <a:r>
              <a:rPr lang="en-US" sz="1300" dirty="0">
                <a:solidFill>
                  <a:srgbClr val="3D4A5C"/>
                </a:solidFill>
                <a:latin typeface="DM Sans" pitchFamily="34" charset="0"/>
                <a:ea typeface="DM Sans" pitchFamily="34" charset="-122"/>
                <a:cs typeface="DM Sans" pitchFamily="34" charset="-120"/>
              </a:rPr>
              <a:t>).</a:t>
            </a:r>
            <a:endParaRPr lang="en-US" sz="1300" dirty="0"/>
          </a:p>
          <a:p>
            <a:pPr marL="174307" indent="-174307" algn="l">
              <a:lnSpc>
                <a:spcPts val="1820"/>
              </a:lnSpc>
              <a:buSzPct val="100000"/>
              <a:buFontTx/>
              <a:buAutoNum type="arabicPeriod"/>
            </a:pPr>
            <a:r>
              <a:rPr lang="en-US" sz="1300" dirty="0">
                <a:solidFill>
                  <a:srgbClr val="3D4A5C"/>
                </a:solidFill>
                <a:latin typeface="DM Sans" pitchFamily="34" charset="0"/>
                <a:ea typeface="DM Sans" pitchFamily="34" charset="-122"/>
                <a:cs typeface="DM Sans" pitchFamily="34" charset="-120"/>
              </a:rPr>
              <a:t>Tap </a:t>
            </a:r>
            <a:r>
              <a:rPr lang="en-US" sz="1300" b="1" dirty="0">
                <a:solidFill>
                  <a:srgbClr val="3D4A5C"/>
                </a:solidFill>
                <a:latin typeface="DM Sans" pitchFamily="34" charset="0"/>
                <a:ea typeface="DM Sans" pitchFamily="34" charset="-122"/>
                <a:cs typeface="DM Sans" pitchFamily="34" charset="-120"/>
              </a:rPr>
              <a:t>Add</a:t>
            </a:r>
            <a:r>
              <a:rPr lang="en-US" sz="1300" dirty="0">
                <a:solidFill>
                  <a:srgbClr val="3D4A5C"/>
                </a:solidFill>
                <a:latin typeface="DM Sans" pitchFamily="34" charset="0"/>
                <a:ea typeface="DM Sans" pitchFamily="34" charset="-122"/>
                <a:cs typeface="DM Sans" pitchFamily="34" charset="-120"/>
              </a:rPr>
              <a:t> or </a:t>
            </a:r>
            <a:r>
              <a:rPr lang="en-US" sz="1300" b="1" dirty="0">
                <a:solidFill>
                  <a:srgbClr val="3D4A5C"/>
                </a:solidFill>
                <a:latin typeface="DM Sans" pitchFamily="34" charset="0"/>
                <a:ea typeface="DM Sans" pitchFamily="34" charset="-122"/>
                <a:cs typeface="DM Sans" pitchFamily="34" charset="-120"/>
              </a:rPr>
              <a:t>Install</a:t>
            </a:r>
            <a:r>
              <a:rPr lang="en-US" sz="1300" dirty="0">
                <a:solidFill>
                  <a:srgbClr val="3D4A5C"/>
                </a:solidFill>
                <a:latin typeface="DM Sans" pitchFamily="34" charset="0"/>
                <a:ea typeface="DM Sans" pitchFamily="34" charset="-122"/>
                <a:cs typeface="DM Sans" pitchFamily="34" charset="-120"/>
              </a:rPr>
              <a:t>.</a:t>
            </a:r>
            <a:endParaRPr lang="en-US" sz="1300" dirty="0"/>
          </a:p>
        </p:txBody>
      </p:sp>
      <p:sp>
        <p:nvSpPr>
          <p:cNvPr id="11" name="Shape 9"/>
          <p:cNvSpPr/>
          <p:nvPr/>
        </p:nvSpPr>
        <p:spPr>
          <a:xfrm>
            <a:off x="7998857" y="1821180"/>
            <a:ext cx="3373993" cy="2164080"/>
          </a:xfrm>
          <a:prstGeom prst="roundRect">
            <a:avLst>
              <a:gd name="adj" fmla="val 5575"/>
            </a:avLst>
          </a:prstGeom>
          <a:solidFill>
            <a:srgbClr val="FFFDF9"/>
          </a:solidFill>
          <a:ln w="12700">
            <a:solidFill>
              <a:srgbClr val="E4DED3"/>
            </a:solidFill>
            <a:prstDash val="solid"/>
          </a:ln>
        </p:spPr>
      </p:sp>
      <p:sp>
        <p:nvSpPr>
          <p:cNvPr id="12" name="Text 10"/>
          <p:cNvSpPr/>
          <p:nvPr/>
        </p:nvSpPr>
        <p:spPr>
          <a:xfrm>
            <a:off x="8205867" y="2028190"/>
            <a:ext cx="30487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1828"/>
                </a:solidFill>
                <a:latin typeface="Poppins" pitchFamily="34" charset="0"/>
                <a:ea typeface="Poppins" pitchFamily="34" charset="-122"/>
                <a:cs typeface="Poppins" pitchFamily="34" charset="-120"/>
              </a:rPr>
              <a:t>Samsung </a:t>
            </a:r>
            <a:r>
              <a:rPr lang="en-US" sz="1800" b="1" dirty="0">
                <a:solidFill>
                  <a:srgbClr val="6B7686"/>
                </a:solidFill>
                <a:latin typeface="Poppins" pitchFamily="34" charset="0"/>
                <a:ea typeface="Poppins" pitchFamily="34" charset="-122"/>
                <a:cs typeface="Poppins" pitchFamily="34" charset="-120"/>
              </a:rPr>
              <a:t>· Internet</a:t>
            </a:r>
            <a:endParaRPr lang="en-US" sz="1800" dirty="0"/>
          </a:p>
        </p:txBody>
      </p:sp>
      <p:sp>
        <p:nvSpPr>
          <p:cNvPr id="13" name="Text 11"/>
          <p:cNvSpPr/>
          <p:nvPr/>
        </p:nvSpPr>
        <p:spPr>
          <a:xfrm>
            <a:off x="8285560" y="2391410"/>
            <a:ext cx="2961460" cy="1181100"/>
          </a:xfrm>
          <a:prstGeom prst="rect">
            <a:avLst/>
          </a:prstGeom>
          <a:noFill/>
          <a:ln/>
        </p:spPr>
        <p:txBody>
          <a:bodyPr wrap="square" lIns="0" tIns="0" rIns="0" bIns="0" rtlCol="0" anchor="t">
            <a:normAutofit/>
          </a:bodyPr>
          <a:lstStyle/>
          <a:p>
            <a:pPr marL="174307" indent="-174307" algn="l">
              <a:lnSpc>
                <a:spcPts val="1820"/>
              </a:lnSpc>
              <a:buSzPct val="100000"/>
              <a:buFontTx/>
              <a:buAutoNum type="arabicPeriod"/>
            </a:pPr>
            <a:r>
              <a:rPr lang="en-US" sz="1300" dirty="0">
                <a:solidFill>
                  <a:srgbClr val="3D4A5C"/>
                </a:solidFill>
                <a:latin typeface="DM Sans" pitchFamily="34" charset="0"/>
                <a:ea typeface="DM Sans" pitchFamily="34" charset="-122"/>
                <a:cs typeface="DM Sans" pitchFamily="34" charset="-120"/>
              </a:rPr>
              <a:t>Tap the </a:t>
            </a:r>
            <a:r>
              <a:rPr lang="en-US" sz="1300" b="1" dirty="0">
                <a:solidFill>
                  <a:srgbClr val="3D4A5C"/>
                </a:solidFill>
                <a:latin typeface="DM Sans" pitchFamily="34" charset="0"/>
                <a:ea typeface="DM Sans" pitchFamily="34" charset="-122"/>
                <a:cs typeface="DM Sans" pitchFamily="34" charset="-120"/>
              </a:rPr>
              <a:t>menu</a:t>
            </a:r>
            <a:r>
              <a:rPr lang="en-US" sz="1300" dirty="0">
                <a:solidFill>
                  <a:srgbClr val="3D4A5C"/>
                </a:solidFill>
                <a:latin typeface="DM Sans" pitchFamily="34" charset="0"/>
                <a:ea typeface="DM Sans" pitchFamily="34" charset="-122"/>
                <a:cs typeface="DM Sans" pitchFamily="34" charset="-120"/>
              </a:rPr>
              <a:t> (three lines) in the bottom right corner.</a:t>
            </a:r>
            <a:endParaRPr lang="en-US" sz="1300" dirty="0"/>
          </a:p>
          <a:p>
            <a:pPr marL="174307" indent="-174307" algn="l">
              <a:lnSpc>
                <a:spcPts val="1820"/>
              </a:lnSpc>
              <a:buSzPct val="100000"/>
              <a:buFontTx/>
              <a:buAutoNum type="arabicPeriod"/>
            </a:pPr>
            <a:r>
              <a:rPr lang="en-US" sz="1300" dirty="0">
                <a:solidFill>
                  <a:srgbClr val="3D4A5C"/>
                </a:solidFill>
                <a:latin typeface="DM Sans" pitchFamily="34" charset="0"/>
                <a:ea typeface="DM Sans" pitchFamily="34" charset="-122"/>
                <a:cs typeface="DM Sans" pitchFamily="34" charset="-120"/>
              </a:rPr>
              <a:t>Tap </a:t>
            </a:r>
            <a:r>
              <a:rPr lang="en-US" sz="1300" b="1" dirty="0">
                <a:solidFill>
                  <a:srgbClr val="3D4A5C"/>
                </a:solidFill>
                <a:latin typeface="DM Sans" pitchFamily="34" charset="0"/>
                <a:ea typeface="DM Sans" pitchFamily="34" charset="-122"/>
                <a:cs typeface="DM Sans" pitchFamily="34" charset="-120"/>
              </a:rPr>
              <a:t>Add page to</a:t>
            </a:r>
            <a:r>
              <a:rPr lang="en-US" sz="1300" dirty="0">
                <a:solidFill>
                  <a:srgbClr val="3D4A5C"/>
                </a:solidFill>
                <a:latin typeface="DM Sans" pitchFamily="34" charset="0"/>
                <a:ea typeface="DM Sans" pitchFamily="34" charset="-122"/>
                <a:cs typeface="DM Sans" pitchFamily="34" charset="-120"/>
              </a:rPr>
              <a:t>, then </a:t>
            </a:r>
            <a:r>
              <a:rPr lang="en-US" sz="1300" b="1" dirty="0">
                <a:solidFill>
                  <a:srgbClr val="3D4A5C"/>
                </a:solidFill>
                <a:latin typeface="DM Sans" pitchFamily="34" charset="0"/>
                <a:ea typeface="DM Sans" pitchFamily="34" charset="-122"/>
                <a:cs typeface="DM Sans" pitchFamily="34" charset="-120"/>
              </a:rPr>
              <a:t>Home screen</a:t>
            </a:r>
            <a:r>
              <a:rPr lang="en-US" sz="1300" dirty="0">
                <a:solidFill>
                  <a:srgbClr val="3D4A5C"/>
                </a:solidFill>
                <a:latin typeface="DM Sans" pitchFamily="34" charset="0"/>
                <a:ea typeface="DM Sans" pitchFamily="34" charset="-122"/>
                <a:cs typeface="DM Sans" pitchFamily="34" charset="-120"/>
              </a:rPr>
              <a:t>.</a:t>
            </a:r>
            <a:endParaRPr lang="en-US" sz="1300" dirty="0"/>
          </a:p>
          <a:p>
            <a:pPr marL="174307" indent="-174307" algn="l">
              <a:lnSpc>
                <a:spcPts val="1820"/>
              </a:lnSpc>
              <a:buSzPct val="100000"/>
              <a:buFontTx/>
              <a:buAutoNum type="arabicPeriod"/>
            </a:pPr>
            <a:r>
              <a:rPr lang="en-US" sz="1300" dirty="0">
                <a:solidFill>
                  <a:srgbClr val="3D4A5C"/>
                </a:solidFill>
                <a:latin typeface="DM Sans" pitchFamily="34" charset="0"/>
                <a:ea typeface="DM Sans" pitchFamily="34" charset="-122"/>
                <a:cs typeface="DM Sans" pitchFamily="34" charset="-120"/>
              </a:rPr>
              <a:t>Tap </a:t>
            </a:r>
            <a:r>
              <a:rPr lang="en-US" sz="1300" b="1" dirty="0">
                <a:solidFill>
                  <a:srgbClr val="3D4A5C"/>
                </a:solidFill>
                <a:latin typeface="DM Sans" pitchFamily="34" charset="0"/>
                <a:ea typeface="DM Sans" pitchFamily="34" charset="-122"/>
                <a:cs typeface="DM Sans" pitchFamily="34" charset="-120"/>
              </a:rPr>
              <a:t>Add</a:t>
            </a:r>
            <a:r>
              <a:rPr lang="en-US" sz="1300" dirty="0">
                <a:solidFill>
                  <a:srgbClr val="3D4A5C"/>
                </a:solidFill>
                <a:latin typeface="DM Sans" pitchFamily="34" charset="0"/>
                <a:ea typeface="DM Sans" pitchFamily="34" charset="-122"/>
                <a:cs typeface="DM Sans" pitchFamily="34" charset="-120"/>
              </a:rPr>
              <a:t>.</a:t>
            </a:r>
            <a:endParaRPr lang="en-US" sz="1300" dirty="0"/>
          </a:p>
        </p:txBody>
      </p:sp>
      <p:sp>
        <p:nvSpPr>
          <p:cNvPr id="14" name="Shape 12"/>
          <p:cNvSpPr/>
          <p:nvPr/>
        </p:nvSpPr>
        <p:spPr>
          <a:xfrm>
            <a:off x="812800" y="4194810"/>
            <a:ext cx="10566400" cy="904240"/>
          </a:xfrm>
          <a:prstGeom prst="roundRect">
            <a:avLst>
              <a:gd name="adj" fmla="val 14045"/>
            </a:avLst>
          </a:prstGeom>
          <a:solidFill>
            <a:srgbClr val="101828"/>
          </a:solidFill>
          <a:ln/>
        </p:spPr>
      </p:sp>
      <p:pic>
        <p:nvPicPr>
          <p:cNvPr id="15" name="Image 0" descr="Key"/>
          <p:cNvPicPr>
            <a:picLocks noChangeAspect="1"/>
          </p:cNvPicPr>
          <p:nvPr/>
        </p:nvPicPr>
        <p:blipFill>
          <a:blip r:embed="rId3"/>
          <a:srcRect l="-111" r="-111"/>
          <a:stretch/>
        </p:blipFill>
        <p:spPr>
          <a:xfrm>
            <a:off x="1066800" y="4469130"/>
            <a:ext cx="286385" cy="355600"/>
          </a:xfrm>
          <a:prstGeom prst="rect">
            <a:avLst/>
          </a:prstGeom>
        </p:spPr>
      </p:pic>
      <p:sp>
        <p:nvSpPr>
          <p:cNvPr id="16" name="Text 13"/>
          <p:cNvSpPr/>
          <p:nvPr/>
        </p:nvSpPr>
        <p:spPr>
          <a:xfrm>
            <a:off x="1530986" y="4398010"/>
            <a:ext cx="9543415"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F"/>
                </a:solidFill>
                <a:latin typeface="DM Sans" pitchFamily="34" charset="0"/>
                <a:ea typeface="DM Sans" pitchFamily="34" charset="-122"/>
                <a:cs typeface="DM Sans" pitchFamily="34" charset="-120"/>
              </a:rPr>
              <a:t>Then sign in, once.</a:t>
            </a:r>
            <a:r>
              <a:rPr lang="en-US" sz="1400" dirty="0">
                <a:solidFill>
                  <a:srgbClr val="F6F4EF"/>
                </a:solidFill>
                <a:latin typeface="DM Sans" pitchFamily="34" charset="0"/>
                <a:ea typeface="DM Sans" pitchFamily="34" charset="-122"/>
                <a:cs typeface="DM Sans" pitchFamily="34" charset="-120"/>
              </a:rPr>
              <a:t> Open the menu and, under </a:t>
            </a:r>
            <a:r>
              <a:rPr lang="en-US" sz="1400" b="1" dirty="0">
                <a:solidFill>
                  <a:srgbClr val="F6F4EF"/>
                </a:solidFill>
                <a:latin typeface="DM Sans" pitchFamily="34" charset="0"/>
                <a:ea typeface="DM Sans" pitchFamily="34" charset="-122"/>
                <a:cs typeface="DM Sans" pitchFamily="34" charset="-120"/>
              </a:rPr>
              <a:t>Booking</a:t>
            </a:r>
            <a:r>
              <a:rPr lang="en-US" sz="1400" dirty="0">
                <a:solidFill>
                  <a:srgbClr val="F6F4EF"/>
                </a:solidFill>
                <a:latin typeface="DM Sans" pitchFamily="34" charset="0"/>
                <a:ea typeface="DM Sans" pitchFamily="34" charset="-122"/>
                <a:cs typeface="DM Sans" pitchFamily="34" charset="-120"/>
              </a:rPr>
              <a:t>, tap </a:t>
            </a:r>
            <a:r>
              <a:rPr lang="en-US" sz="1400" b="1" dirty="0">
                <a:solidFill>
                  <a:srgbClr val="F6F4EF"/>
                </a:solidFill>
                <a:latin typeface="DM Sans" pitchFamily="34" charset="0"/>
                <a:ea typeface="DM Sans" pitchFamily="34" charset="-122"/>
                <a:cs typeface="DM Sans" pitchFamily="34" charset="-120"/>
              </a:rPr>
              <a:t>My bookings</a:t>
            </a:r>
            <a:r>
              <a:rPr lang="en-US" sz="1400" dirty="0">
                <a:solidFill>
                  <a:srgbClr val="F6F4EF"/>
                </a:solidFill>
                <a:latin typeface="DM Sans" pitchFamily="34" charset="0"/>
                <a:ea typeface="DM Sans" pitchFamily="34" charset="-122"/>
                <a:cs typeface="DM Sans" pitchFamily="34" charset="-120"/>
              </a:rPr>
              <a:t>. Enter the email the club has for you, and type in the code we email you. There’s no password to remember.</a:t>
            </a:r>
            <a:endParaRPr lang="en-US" sz="1400" dirty="0"/>
          </a:p>
        </p:txBody>
      </p:sp>
      <p:sp>
        <p:nvSpPr>
          <p:cNvPr id="17" name="Text 14"/>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Step-by-step help with pictures: </a:t>
            </a:r>
            <a:r>
              <a:rPr lang="en-US" sz="1200" b="1" dirty="0">
                <a:solidFill>
                  <a:srgbClr val="6B7686"/>
                </a:solidFill>
                <a:latin typeface="DM Sans" pitchFamily="34" charset="0"/>
                <a:ea typeface="DM Sans" pitchFamily="34" charset="-122"/>
                <a:cs typeface="DM Sans" pitchFamily="34" charset="-120"/>
              </a:rPr>
              <a:t>Help &amp; guides</a:t>
            </a:r>
            <a:r>
              <a:rPr lang="en-US" sz="1200" dirty="0">
                <a:solidFill>
                  <a:srgbClr val="6B7686"/>
                </a:solidFill>
                <a:latin typeface="DM Sans" pitchFamily="34" charset="0"/>
                <a:ea typeface="DM Sans" pitchFamily="34" charset="-122"/>
                <a:cs typeface="DM Sans" pitchFamily="34" charset="-120"/>
              </a:rPr>
              <a:t> on the club site</a:t>
            </a:r>
            <a:endParaRPr lang="en-US" sz="1200" dirty="0"/>
          </a:p>
        </p:txBody>
      </p:sp>
      <p:pic>
        <p:nvPicPr>
          <p:cNvPr id="18" name="Image 1" descr="twoclear"/>
          <p:cNvPicPr>
            <a:picLocks noChangeAspect="1"/>
          </p:cNvPicPr>
          <p:nvPr/>
        </p:nvPicPr>
        <p:blipFill>
          <a:blip r:embed="rId4"/>
          <a:srcRect t="-149" b="-149"/>
          <a:stretch/>
        </p:blipFill>
        <p:spPr>
          <a:xfrm>
            <a:off x="9347200" y="508000"/>
            <a:ext cx="20320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2410C"/>
                </a:solidFill>
                <a:latin typeface="DM Sans" pitchFamily="34" charset="0"/>
                <a:ea typeface="DM Sans" pitchFamily="34" charset="-122"/>
                <a:cs typeface="DM Sans" pitchFamily="34" charset="-120"/>
              </a:rPr>
              <a:t>STEP 2 · EVERY TIME YOU PLAY</a:t>
            </a:r>
            <a:endParaRPr lang="en-US" sz="1300" dirty="0"/>
          </a:p>
        </p:txBody>
      </p:sp>
      <p:sp>
        <p:nvSpPr>
          <p:cNvPr id="3" name="Text 1"/>
          <p:cNvSpPr>
            <a:spLocks noGrp="1"/>
          </p:cNvSpPr>
          <p:nvPr>
            <p:ph type="title"/>
          </p:nvPr>
        </p:nvSpPr>
        <p:spPr>
          <a:xfrm>
            <a:off x="812800" y="815340"/>
            <a:ext cx="10883392" cy="50546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101828"/>
                </a:solidFill>
                <a:latin typeface="Poppins" pitchFamily="34" charset="0"/>
                <a:ea typeface="Poppins" pitchFamily="34" charset="-122"/>
                <a:cs typeface="Poppins" pitchFamily="34" charset="-120"/>
              </a:rPr>
              <a:t>Booking a session</a:t>
            </a:r>
            <a:endParaRPr lang="en-US" sz="3600" dirty="0"/>
          </a:p>
        </p:txBody>
      </p:sp>
      <p:pic>
        <p:nvPicPr>
          <p:cNvPr id="4" name="Image 0" descr="The Top up wallet amounts, with £20 ringed"/>
          <p:cNvPicPr>
            <a:picLocks noChangeAspect="1"/>
          </p:cNvPicPr>
          <p:nvPr/>
        </p:nvPicPr>
        <p:blipFill>
          <a:blip r:embed="rId3"/>
          <a:srcRect/>
          <a:stretch/>
        </p:blipFill>
        <p:spPr>
          <a:xfrm>
            <a:off x="825500" y="1511300"/>
            <a:ext cx="2425700" cy="2133600"/>
          </a:xfrm>
          <a:prstGeom prst="roundRect">
            <a:avLst>
              <a:gd name="adj" fmla="val 5357"/>
            </a:avLst>
          </a:prstGeom>
        </p:spPr>
      </p:pic>
      <p:sp>
        <p:nvSpPr>
          <p:cNvPr id="5" name="Shape 2"/>
          <p:cNvSpPr/>
          <p:nvPr/>
        </p:nvSpPr>
        <p:spPr>
          <a:xfrm>
            <a:off x="819150" y="1504950"/>
            <a:ext cx="2438400" cy="2146300"/>
          </a:xfrm>
          <a:prstGeom prst="roundRect">
            <a:avLst>
              <a:gd name="adj" fmla="val 5621"/>
            </a:avLst>
          </a:prstGeom>
          <a:noFill/>
          <a:ln w="12700">
            <a:solidFill>
              <a:srgbClr val="E4DED3"/>
            </a:solidFill>
            <a:prstDash val="solid"/>
          </a:ln>
        </p:spPr>
      </p:sp>
      <p:sp>
        <p:nvSpPr>
          <p:cNvPr id="6" name="Text 3"/>
          <p:cNvSpPr/>
          <p:nvPr/>
        </p:nvSpPr>
        <p:spPr>
          <a:xfrm>
            <a:off x="812800" y="3771900"/>
            <a:ext cx="104219"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Poppins" pitchFamily="34" charset="0"/>
                <a:ea typeface="Poppins" pitchFamily="34" charset="-122"/>
                <a:cs typeface="Poppins" pitchFamily="34" charset="-120"/>
              </a:rPr>
              <a:t>1</a:t>
            </a:r>
            <a:endParaRPr lang="en-US" sz="2000" dirty="0"/>
          </a:p>
        </p:txBody>
      </p:sp>
      <p:sp>
        <p:nvSpPr>
          <p:cNvPr id="7" name="Text 4"/>
          <p:cNvSpPr/>
          <p:nvPr/>
        </p:nvSpPr>
        <p:spPr>
          <a:xfrm>
            <a:off x="955119" y="3771900"/>
            <a:ext cx="2417287" cy="92983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1828"/>
                </a:solidFill>
                <a:latin typeface="DM Sans" pitchFamily="34" charset="0"/>
                <a:ea typeface="DM Sans" pitchFamily="34" charset="-122"/>
                <a:cs typeface="DM Sans" pitchFamily="34" charset="-120"/>
              </a:rPr>
              <a:t>Top up your wallet.</a:t>
            </a:r>
            <a:r>
              <a:rPr lang="en-US" sz="1300" dirty="0">
                <a:solidFill>
                  <a:srgbClr val="3D4A5C"/>
                </a:solidFill>
                <a:latin typeface="DM Sans" pitchFamily="34" charset="0"/>
                <a:ea typeface="DM Sans" pitchFamily="34" charset="-122"/>
                <a:cs typeface="DM Sans" pitchFamily="34" charset="-120"/>
              </a:rPr>
              <a:t> Menu → Booking → Wallet → Top up, then pay by card.</a:t>
            </a:r>
            <a:endParaRPr lang="en-US" sz="1300" dirty="0"/>
          </a:p>
        </p:txBody>
      </p:sp>
      <p:pic>
        <p:nvPicPr>
          <p:cNvPr id="8" name="Image 1" descr="Book a session, with a session ringed"/>
          <p:cNvPicPr>
            <a:picLocks noChangeAspect="1"/>
          </p:cNvPicPr>
          <p:nvPr/>
        </p:nvPicPr>
        <p:blipFill>
          <a:blip r:embed="rId4"/>
          <a:srcRect/>
          <a:stretch/>
        </p:blipFill>
        <p:spPr>
          <a:xfrm>
            <a:off x="3517900" y="1511300"/>
            <a:ext cx="2425700" cy="2133600"/>
          </a:xfrm>
          <a:prstGeom prst="roundRect">
            <a:avLst>
              <a:gd name="adj" fmla="val 5357"/>
            </a:avLst>
          </a:prstGeom>
        </p:spPr>
      </p:pic>
      <p:sp>
        <p:nvSpPr>
          <p:cNvPr id="9" name="Shape 5"/>
          <p:cNvSpPr/>
          <p:nvPr/>
        </p:nvSpPr>
        <p:spPr>
          <a:xfrm>
            <a:off x="3511550" y="1504950"/>
            <a:ext cx="2438400" cy="2146300"/>
          </a:xfrm>
          <a:prstGeom prst="roundRect">
            <a:avLst>
              <a:gd name="adj" fmla="val 5621"/>
            </a:avLst>
          </a:prstGeom>
          <a:noFill/>
          <a:ln w="12700">
            <a:solidFill>
              <a:srgbClr val="E4DED3"/>
            </a:solidFill>
            <a:prstDash val="solid"/>
          </a:ln>
        </p:spPr>
      </p:sp>
      <p:sp>
        <p:nvSpPr>
          <p:cNvPr id="10" name="Text 6"/>
          <p:cNvSpPr/>
          <p:nvPr/>
        </p:nvSpPr>
        <p:spPr>
          <a:xfrm>
            <a:off x="3505200" y="3771900"/>
            <a:ext cx="133906"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Poppins" pitchFamily="34" charset="0"/>
                <a:ea typeface="Poppins" pitchFamily="34" charset="-122"/>
                <a:cs typeface="Poppins" pitchFamily="34" charset="-120"/>
              </a:rPr>
              <a:t>2</a:t>
            </a:r>
            <a:endParaRPr lang="en-US" sz="2000" dirty="0"/>
          </a:p>
        </p:txBody>
      </p:sp>
      <p:sp>
        <p:nvSpPr>
          <p:cNvPr id="11" name="Text 7"/>
          <p:cNvSpPr/>
          <p:nvPr/>
        </p:nvSpPr>
        <p:spPr>
          <a:xfrm>
            <a:off x="3677206" y="3771900"/>
            <a:ext cx="2386710" cy="92983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1828"/>
                </a:solidFill>
                <a:latin typeface="DM Sans" pitchFamily="34" charset="0"/>
                <a:ea typeface="DM Sans" pitchFamily="34" charset="-122"/>
                <a:cs typeface="DM Sans" pitchFamily="34" charset="-120"/>
              </a:rPr>
              <a:t>Choose a session.</a:t>
            </a:r>
            <a:r>
              <a:rPr lang="en-US" sz="1300" dirty="0">
                <a:solidFill>
                  <a:srgbClr val="3D4A5C"/>
                </a:solidFill>
                <a:latin typeface="DM Sans" pitchFamily="34" charset="0"/>
                <a:ea typeface="DM Sans" pitchFamily="34" charset="-122"/>
                <a:cs typeface="DM Sans" pitchFamily="34" charset="-120"/>
              </a:rPr>
              <a:t> Tap the one you want in Book a session. Says Not open yet? You can book it once booking opens.</a:t>
            </a:r>
            <a:endParaRPr lang="en-US" sz="1300" dirty="0"/>
          </a:p>
        </p:txBody>
      </p:sp>
      <p:pic>
        <p:nvPicPr>
          <p:cNvPr id="12" name="Image 2" descr="A session’s price and balance, with the Book button ringed"/>
          <p:cNvPicPr>
            <a:picLocks noChangeAspect="1"/>
          </p:cNvPicPr>
          <p:nvPr/>
        </p:nvPicPr>
        <p:blipFill>
          <a:blip r:embed="rId5"/>
          <a:srcRect/>
          <a:stretch/>
        </p:blipFill>
        <p:spPr>
          <a:xfrm>
            <a:off x="6210300" y="1511300"/>
            <a:ext cx="2425700" cy="2133600"/>
          </a:xfrm>
          <a:prstGeom prst="roundRect">
            <a:avLst>
              <a:gd name="adj" fmla="val 5357"/>
            </a:avLst>
          </a:prstGeom>
        </p:spPr>
      </p:pic>
      <p:sp>
        <p:nvSpPr>
          <p:cNvPr id="13" name="Shape 8"/>
          <p:cNvSpPr/>
          <p:nvPr/>
        </p:nvSpPr>
        <p:spPr>
          <a:xfrm>
            <a:off x="6203950" y="1504950"/>
            <a:ext cx="2438400" cy="2146300"/>
          </a:xfrm>
          <a:prstGeom prst="roundRect">
            <a:avLst>
              <a:gd name="adj" fmla="val 5621"/>
            </a:avLst>
          </a:prstGeom>
          <a:noFill/>
          <a:ln w="12700">
            <a:solidFill>
              <a:srgbClr val="E4DED3"/>
            </a:solidFill>
            <a:prstDash val="solid"/>
          </a:ln>
        </p:spPr>
      </p:sp>
      <p:sp>
        <p:nvSpPr>
          <p:cNvPr id="14" name="Text 9"/>
          <p:cNvSpPr/>
          <p:nvPr/>
        </p:nvSpPr>
        <p:spPr>
          <a:xfrm>
            <a:off x="6197600" y="3771900"/>
            <a:ext cx="179467"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Poppins" pitchFamily="34" charset="0"/>
                <a:ea typeface="Poppins" pitchFamily="34" charset="-122"/>
                <a:cs typeface="Poppins" pitchFamily="34" charset="-120"/>
              </a:rPr>
              <a:t>3</a:t>
            </a:r>
            <a:endParaRPr lang="en-US" sz="2000" dirty="0"/>
          </a:p>
        </p:txBody>
      </p:sp>
      <p:sp>
        <p:nvSpPr>
          <p:cNvPr id="15" name="Text 10"/>
          <p:cNvSpPr/>
          <p:nvPr/>
        </p:nvSpPr>
        <p:spPr>
          <a:xfrm>
            <a:off x="6415167" y="3771900"/>
            <a:ext cx="2339782" cy="92983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1828"/>
                </a:solidFill>
                <a:latin typeface="DM Sans" pitchFamily="34" charset="0"/>
                <a:ea typeface="DM Sans" pitchFamily="34" charset="-122"/>
                <a:cs typeface="DM Sans" pitchFamily="34" charset="-120"/>
              </a:rPr>
              <a:t>Tap Book.</a:t>
            </a:r>
            <a:r>
              <a:rPr lang="en-US" sz="1300" dirty="0">
                <a:solidFill>
                  <a:srgbClr val="3D4A5C"/>
                </a:solidFill>
                <a:latin typeface="DM Sans" pitchFamily="34" charset="0"/>
                <a:ea typeface="DM Sans" pitchFamily="34" charset="-122"/>
                <a:cs typeface="DM Sans" pitchFamily="34" charset="-120"/>
              </a:rPr>
              <a:t> It’s paid from your wallet.</a:t>
            </a:r>
            <a:endParaRPr lang="en-US" sz="1300" dirty="0"/>
          </a:p>
        </p:txBody>
      </p:sp>
      <p:pic>
        <p:nvPicPr>
          <p:cNvPr id="16" name="Image 3" descr="My bookings, listing the booked session"/>
          <p:cNvPicPr>
            <a:picLocks noChangeAspect="1"/>
          </p:cNvPicPr>
          <p:nvPr/>
        </p:nvPicPr>
        <p:blipFill>
          <a:blip r:embed="rId6"/>
          <a:srcRect/>
          <a:stretch/>
        </p:blipFill>
        <p:spPr>
          <a:xfrm>
            <a:off x="8902700" y="1511300"/>
            <a:ext cx="2425700" cy="2133600"/>
          </a:xfrm>
          <a:prstGeom prst="roundRect">
            <a:avLst>
              <a:gd name="adj" fmla="val 5357"/>
            </a:avLst>
          </a:prstGeom>
        </p:spPr>
      </p:pic>
      <p:sp>
        <p:nvSpPr>
          <p:cNvPr id="17" name="Shape 11"/>
          <p:cNvSpPr/>
          <p:nvPr/>
        </p:nvSpPr>
        <p:spPr>
          <a:xfrm>
            <a:off x="8896350" y="1504950"/>
            <a:ext cx="2438400" cy="2146300"/>
          </a:xfrm>
          <a:prstGeom prst="roundRect">
            <a:avLst>
              <a:gd name="adj" fmla="val 5621"/>
            </a:avLst>
          </a:prstGeom>
          <a:noFill/>
          <a:ln w="12700">
            <a:solidFill>
              <a:srgbClr val="E4DED3"/>
            </a:solidFill>
            <a:prstDash val="solid"/>
          </a:ln>
        </p:spPr>
      </p:sp>
      <p:sp>
        <p:nvSpPr>
          <p:cNvPr id="18" name="Text 12"/>
          <p:cNvSpPr/>
          <p:nvPr/>
        </p:nvSpPr>
        <p:spPr>
          <a:xfrm>
            <a:off x="8890000" y="3771900"/>
            <a:ext cx="176054"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Poppins" pitchFamily="34" charset="0"/>
                <a:ea typeface="Poppins" pitchFamily="34" charset="-122"/>
                <a:cs typeface="Poppins" pitchFamily="34" charset="-120"/>
              </a:rPr>
              <a:t>4</a:t>
            </a:r>
            <a:endParaRPr lang="en-US" sz="2000" dirty="0"/>
          </a:p>
        </p:txBody>
      </p:sp>
      <p:sp>
        <p:nvSpPr>
          <p:cNvPr id="19" name="Text 13"/>
          <p:cNvSpPr/>
          <p:nvPr/>
        </p:nvSpPr>
        <p:spPr>
          <a:xfrm>
            <a:off x="9104154" y="3771900"/>
            <a:ext cx="2343298" cy="92983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1828"/>
                </a:solidFill>
                <a:latin typeface="DM Sans" pitchFamily="34" charset="0"/>
                <a:ea typeface="DM Sans" pitchFamily="34" charset="-122"/>
                <a:cs typeface="DM Sans" pitchFamily="34" charset="-120"/>
              </a:rPr>
              <a:t>You’re booked.</a:t>
            </a:r>
            <a:r>
              <a:rPr lang="en-US" sz="1300" dirty="0">
                <a:solidFill>
                  <a:srgbClr val="3D4A5C"/>
                </a:solidFill>
                <a:latin typeface="DM Sans" pitchFamily="34" charset="0"/>
                <a:ea typeface="DM Sans" pitchFamily="34" charset="-122"/>
                <a:cs typeface="DM Sans" pitchFamily="34" charset="-120"/>
              </a:rPr>
              <a:t> It’s listed in My bookings.</a:t>
            </a:r>
            <a:endParaRPr lang="en-US" sz="1300" dirty="0"/>
          </a:p>
        </p:txBody>
      </p:sp>
      <p:sp>
        <p:nvSpPr>
          <p:cNvPr id="20" name="Shape 14"/>
          <p:cNvSpPr/>
          <p:nvPr/>
        </p:nvSpPr>
        <p:spPr>
          <a:xfrm>
            <a:off x="812800" y="4856480"/>
            <a:ext cx="5181600" cy="767080"/>
          </a:xfrm>
          <a:prstGeom prst="roundRect">
            <a:avLst>
              <a:gd name="adj" fmla="val 16556"/>
            </a:avLst>
          </a:prstGeom>
          <a:solidFill>
            <a:srgbClr val="101828"/>
          </a:solidFill>
          <a:ln/>
        </p:spPr>
      </p:sp>
      <p:pic>
        <p:nvPicPr>
          <p:cNvPr id="21" name="Image 4" descr="Clock"/>
          <p:cNvPicPr>
            <a:picLocks noChangeAspect="1"/>
          </p:cNvPicPr>
          <p:nvPr/>
        </p:nvPicPr>
        <p:blipFill>
          <a:blip r:embed="rId7"/>
          <a:srcRect/>
          <a:stretch/>
        </p:blipFill>
        <p:spPr>
          <a:xfrm>
            <a:off x="1016000" y="5087620"/>
            <a:ext cx="304800" cy="304800"/>
          </a:xfrm>
          <a:prstGeom prst="rect">
            <a:avLst/>
          </a:prstGeom>
        </p:spPr>
      </p:pic>
      <p:sp>
        <p:nvSpPr>
          <p:cNvPr id="22" name="Text 15"/>
          <p:cNvSpPr/>
          <p:nvPr/>
        </p:nvSpPr>
        <p:spPr>
          <a:xfrm>
            <a:off x="1447800" y="5124450"/>
            <a:ext cx="4454271"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4EF"/>
                </a:solidFill>
                <a:latin typeface="DM Sans" pitchFamily="34" charset="0"/>
                <a:ea typeface="DM Sans" pitchFamily="34" charset="-122"/>
                <a:cs typeface="DM Sans" pitchFamily="34" charset="-120"/>
              </a:rPr>
              <a:t>Session full?</a:t>
            </a:r>
            <a:r>
              <a:rPr lang="en-US" sz="1300" dirty="0">
                <a:solidFill>
                  <a:srgbClr val="F6F4EF"/>
                </a:solidFill>
                <a:latin typeface="DM Sans" pitchFamily="34" charset="0"/>
                <a:ea typeface="DM Sans" pitchFamily="34" charset="-122"/>
                <a:cs typeface="DM Sans" pitchFamily="34" charset="-120"/>
              </a:rPr>
              <a:t> Join the waitlist: see the next page.</a:t>
            </a:r>
            <a:endParaRPr lang="en-US" sz="1300" dirty="0"/>
          </a:p>
        </p:txBody>
      </p:sp>
      <p:sp>
        <p:nvSpPr>
          <p:cNvPr id="23" name="Shape 16"/>
          <p:cNvSpPr/>
          <p:nvPr/>
        </p:nvSpPr>
        <p:spPr>
          <a:xfrm>
            <a:off x="6197600" y="4856480"/>
            <a:ext cx="5181600" cy="767080"/>
          </a:xfrm>
          <a:prstGeom prst="roundRect">
            <a:avLst>
              <a:gd name="adj" fmla="val 16556"/>
            </a:avLst>
          </a:prstGeom>
          <a:solidFill>
            <a:srgbClr val="101828"/>
          </a:solidFill>
          <a:ln/>
        </p:spPr>
      </p:sp>
      <p:pic>
        <p:nvPicPr>
          <p:cNvPr id="24" name="Image 5" descr="CheckCircle"/>
          <p:cNvPicPr>
            <a:picLocks noChangeAspect="1"/>
          </p:cNvPicPr>
          <p:nvPr/>
        </p:nvPicPr>
        <p:blipFill>
          <a:blip r:embed="rId8"/>
          <a:srcRect l="-125" r="-125"/>
          <a:stretch/>
        </p:blipFill>
        <p:spPr>
          <a:xfrm>
            <a:off x="6400800" y="5087620"/>
            <a:ext cx="222806" cy="304800"/>
          </a:xfrm>
          <a:prstGeom prst="rect">
            <a:avLst/>
          </a:prstGeom>
        </p:spPr>
      </p:pic>
      <p:sp>
        <p:nvSpPr>
          <p:cNvPr id="25" name="Text 17"/>
          <p:cNvSpPr/>
          <p:nvPr/>
        </p:nvSpPr>
        <p:spPr>
          <a:xfrm>
            <a:off x="6750606" y="5008880"/>
            <a:ext cx="4558156"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4EF"/>
                </a:solidFill>
                <a:latin typeface="DM Sans" pitchFamily="34" charset="0"/>
                <a:ea typeface="DM Sans" pitchFamily="34" charset="-122"/>
                <a:cs typeface="DM Sans" pitchFamily="34" charset="-120"/>
              </a:rPr>
              <a:t>Can’t make it?</a:t>
            </a:r>
            <a:r>
              <a:rPr lang="en-US" sz="1300" dirty="0">
                <a:solidFill>
                  <a:srgbClr val="F6F4EF"/>
                </a:solidFill>
                <a:latin typeface="DM Sans" pitchFamily="34" charset="0"/>
                <a:ea typeface="DM Sans" pitchFamily="34" charset="-122"/>
                <a:cs typeface="DM Sans" pitchFamily="34" charset="-120"/>
              </a:rPr>
              <a:t> Cancel in My bookings. In good time, it goes back to your wallet.</a:t>
            </a:r>
            <a:endParaRPr lang="en-US" sz="1300" dirty="0"/>
          </a:p>
        </p:txBody>
      </p:sp>
      <p:sp>
        <p:nvSpPr>
          <p:cNvPr id="26" name="Text 18"/>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Step-by-step help with pictures: </a:t>
            </a:r>
            <a:r>
              <a:rPr lang="en-US" sz="1200" b="1" dirty="0">
                <a:solidFill>
                  <a:srgbClr val="6B7686"/>
                </a:solidFill>
                <a:latin typeface="DM Sans" pitchFamily="34" charset="0"/>
                <a:ea typeface="DM Sans" pitchFamily="34" charset="-122"/>
                <a:cs typeface="DM Sans" pitchFamily="34" charset="-120"/>
              </a:rPr>
              <a:t>Help &amp; guides</a:t>
            </a:r>
            <a:r>
              <a:rPr lang="en-US" sz="1200" dirty="0">
                <a:solidFill>
                  <a:srgbClr val="6B7686"/>
                </a:solidFill>
                <a:latin typeface="DM Sans" pitchFamily="34" charset="0"/>
                <a:ea typeface="DM Sans" pitchFamily="34" charset="-122"/>
                <a:cs typeface="DM Sans" pitchFamily="34" charset="-120"/>
              </a:rPr>
              <a:t> on the club site</a:t>
            </a:r>
            <a:endParaRPr lang="en-US" sz="1200" dirty="0"/>
          </a:p>
        </p:txBody>
      </p:sp>
      <p:pic>
        <p:nvPicPr>
          <p:cNvPr id="27" name="Image 6" descr="twoclear"/>
          <p:cNvPicPr>
            <a:picLocks noChangeAspect="1"/>
          </p:cNvPicPr>
          <p:nvPr/>
        </p:nvPicPr>
        <p:blipFill>
          <a:blip r:embed="rId9"/>
          <a:srcRect t="-149" b="-149"/>
          <a:stretch/>
        </p:blipFill>
        <p:spPr>
          <a:xfrm>
            <a:off x="9347200" y="508000"/>
            <a:ext cx="2032000"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2410C"/>
                </a:solidFill>
                <a:latin typeface="DM Sans" pitchFamily="34" charset="0"/>
                <a:ea typeface="DM Sans" pitchFamily="34" charset="-122"/>
                <a:cs typeface="DM Sans" pitchFamily="34" charset="-120"/>
              </a:rPr>
              <a:t>STEP 3 · WHEN A SESSION IS FULL</a:t>
            </a:r>
            <a:endParaRPr lang="en-US" sz="1300" dirty="0"/>
          </a:p>
        </p:txBody>
      </p:sp>
      <p:sp>
        <p:nvSpPr>
          <p:cNvPr id="3" name="Text 1"/>
          <p:cNvSpPr>
            <a:spLocks noGrp="1"/>
          </p:cNvSpPr>
          <p:nvPr>
            <p:ph type="title"/>
          </p:nvPr>
        </p:nvSpPr>
        <p:spPr>
          <a:xfrm>
            <a:off x="812800" y="815341"/>
            <a:ext cx="10883392" cy="50546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101828"/>
                </a:solidFill>
                <a:latin typeface="Poppins" pitchFamily="34" charset="0"/>
                <a:ea typeface="Poppins" pitchFamily="34" charset="-122"/>
                <a:cs typeface="Poppins" pitchFamily="34" charset="-120"/>
              </a:rPr>
              <a:t>Joining the waiting list</a:t>
            </a:r>
            <a:endParaRPr lang="en-US" sz="3600" dirty="0"/>
          </a:p>
        </p:txBody>
      </p:sp>
      <p:pic>
        <p:nvPicPr>
          <p:cNvPr id="4" name="Image 0" descr="A session marked Full, join waitlist, in Book a session"/>
          <p:cNvPicPr>
            <a:picLocks noChangeAspect="1"/>
          </p:cNvPicPr>
          <p:nvPr/>
        </p:nvPicPr>
        <p:blipFill>
          <a:blip r:embed="rId3"/>
          <a:srcRect/>
          <a:stretch/>
        </p:blipFill>
        <p:spPr>
          <a:xfrm>
            <a:off x="825500" y="1511300"/>
            <a:ext cx="2425700" cy="2133600"/>
          </a:xfrm>
          <a:prstGeom prst="roundRect">
            <a:avLst>
              <a:gd name="adj" fmla="val 5357"/>
            </a:avLst>
          </a:prstGeom>
        </p:spPr>
      </p:pic>
      <p:sp>
        <p:nvSpPr>
          <p:cNvPr id="5" name="Shape 2"/>
          <p:cNvSpPr/>
          <p:nvPr/>
        </p:nvSpPr>
        <p:spPr>
          <a:xfrm>
            <a:off x="819150" y="1504950"/>
            <a:ext cx="2438400" cy="2146300"/>
          </a:xfrm>
          <a:prstGeom prst="roundRect">
            <a:avLst>
              <a:gd name="adj" fmla="val 5621"/>
            </a:avLst>
          </a:prstGeom>
          <a:noFill/>
          <a:ln w="12700">
            <a:solidFill>
              <a:srgbClr val="E4DED3"/>
            </a:solidFill>
            <a:prstDash val="solid"/>
          </a:ln>
        </p:spPr>
      </p:sp>
      <p:sp>
        <p:nvSpPr>
          <p:cNvPr id="6" name="Text 3"/>
          <p:cNvSpPr/>
          <p:nvPr/>
        </p:nvSpPr>
        <p:spPr>
          <a:xfrm>
            <a:off x="812800" y="3771900"/>
            <a:ext cx="146368"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Poppins" pitchFamily="34" charset="0"/>
                <a:ea typeface="Poppins" pitchFamily="34" charset="-122"/>
                <a:cs typeface="Poppins" pitchFamily="34" charset="-120"/>
              </a:rPr>
              <a:t>1</a:t>
            </a:r>
            <a:endParaRPr lang="en-US" sz="2000" dirty="0"/>
          </a:p>
        </p:txBody>
      </p:sp>
      <p:sp>
        <p:nvSpPr>
          <p:cNvPr id="7" name="Text 4"/>
          <p:cNvSpPr/>
          <p:nvPr/>
        </p:nvSpPr>
        <p:spPr>
          <a:xfrm>
            <a:off x="997268" y="3771900"/>
            <a:ext cx="250793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1828"/>
                </a:solidFill>
                <a:latin typeface="DM Sans" pitchFamily="34" charset="0"/>
                <a:ea typeface="DM Sans" pitchFamily="34" charset="-122"/>
                <a:cs typeface="DM Sans" pitchFamily="34" charset="-120"/>
              </a:rPr>
              <a:t>It says Full.</a:t>
            </a:r>
            <a:r>
              <a:rPr lang="en-US" sz="1300" dirty="0">
                <a:solidFill>
                  <a:srgbClr val="3D4A5C"/>
                </a:solidFill>
                <a:latin typeface="DM Sans" pitchFamily="34" charset="0"/>
                <a:ea typeface="DM Sans" pitchFamily="34" charset="-122"/>
                <a:cs typeface="DM Sans" pitchFamily="34" charset="-120"/>
              </a:rPr>
              <a:t> Tap the session.</a:t>
            </a:r>
            <a:endParaRPr lang="en-US" sz="1300" dirty="0"/>
          </a:p>
        </p:txBody>
      </p:sp>
      <p:pic>
        <p:nvPicPr>
          <p:cNvPr id="8" name="Image 1" descr="The Join waitlist button, ringed"/>
          <p:cNvPicPr>
            <a:picLocks noChangeAspect="1"/>
          </p:cNvPicPr>
          <p:nvPr/>
        </p:nvPicPr>
        <p:blipFill>
          <a:blip r:embed="rId4"/>
          <a:srcRect/>
          <a:stretch/>
        </p:blipFill>
        <p:spPr>
          <a:xfrm>
            <a:off x="3517900" y="1511300"/>
            <a:ext cx="2425700" cy="2133600"/>
          </a:xfrm>
          <a:prstGeom prst="roundRect">
            <a:avLst>
              <a:gd name="adj" fmla="val 5357"/>
            </a:avLst>
          </a:prstGeom>
        </p:spPr>
      </p:pic>
      <p:sp>
        <p:nvSpPr>
          <p:cNvPr id="9" name="Shape 5"/>
          <p:cNvSpPr/>
          <p:nvPr/>
        </p:nvSpPr>
        <p:spPr>
          <a:xfrm>
            <a:off x="3511550" y="1504950"/>
            <a:ext cx="2438400" cy="2146300"/>
          </a:xfrm>
          <a:prstGeom prst="roundRect">
            <a:avLst>
              <a:gd name="adj" fmla="val 5621"/>
            </a:avLst>
          </a:prstGeom>
          <a:noFill/>
          <a:ln w="12700">
            <a:solidFill>
              <a:srgbClr val="E4DED3"/>
            </a:solidFill>
            <a:prstDash val="solid"/>
          </a:ln>
        </p:spPr>
      </p:sp>
      <p:sp>
        <p:nvSpPr>
          <p:cNvPr id="10" name="Text 6"/>
          <p:cNvSpPr/>
          <p:nvPr/>
        </p:nvSpPr>
        <p:spPr>
          <a:xfrm>
            <a:off x="3505200" y="3771900"/>
            <a:ext cx="157242"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Poppins" pitchFamily="34" charset="0"/>
                <a:ea typeface="Poppins" pitchFamily="34" charset="-122"/>
                <a:cs typeface="Poppins" pitchFamily="34" charset="-120"/>
              </a:rPr>
              <a:t>2</a:t>
            </a:r>
            <a:endParaRPr lang="en-US" sz="2000" dirty="0"/>
          </a:p>
        </p:txBody>
      </p:sp>
      <p:sp>
        <p:nvSpPr>
          <p:cNvPr id="11" name="Text 7"/>
          <p:cNvSpPr/>
          <p:nvPr/>
        </p:nvSpPr>
        <p:spPr>
          <a:xfrm>
            <a:off x="3700542" y="3771900"/>
            <a:ext cx="2362674"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1828"/>
                </a:solidFill>
                <a:latin typeface="DM Sans" pitchFamily="34" charset="0"/>
                <a:ea typeface="DM Sans" pitchFamily="34" charset="-122"/>
                <a:cs typeface="DM Sans" pitchFamily="34" charset="-120"/>
              </a:rPr>
              <a:t>Tap Join waitlist.</a:t>
            </a:r>
            <a:r>
              <a:rPr lang="en-US" sz="1300" dirty="0">
                <a:solidFill>
                  <a:srgbClr val="3D4A5C"/>
                </a:solidFill>
                <a:latin typeface="DM Sans" pitchFamily="34" charset="0"/>
                <a:ea typeface="DM Sans" pitchFamily="34" charset="-122"/>
                <a:cs typeface="DM Sans" pitchFamily="34" charset="-120"/>
              </a:rPr>
              <a:t> Nothing is charged yet.</a:t>
            </a:r>
            <a:endParaRPr lang="en-US" sz="1300" dirty="0"/>
          </a:p>
        </p:txBody>
      </p:sp>
      <p:pic>
        <p:nvPicPr>
          <p:cNvPr id="12" name="Image 2" descr="The message saying you are first on the waiting list, ringed"/>
          <p:cNvPicPr>
            <a:picLocks noChangeAspect="1"/>
          </p:cNvPicPr>
          <p:nvPr/>
        </p:nvPicPr>
        <p:blipFill>
          <a:blip r:embed="rId5"/>
          <a:srcRect/>
          <a:stretch/>
        </p:blipFill>
        <p:spPr>
          <a:xfrm>
            <a:off x="6210300" y="1511300"/>
            <a:ext cx="2425700" cy="2133600"/>
          </a:xfrm>
          <a:prstGeom prst="roundRect">
            <a:avLst>
              <a:gd name="adj" fmla="val 5357"/>
            </a:avLst>
          </a:prstGeom>
        </p:spPr>
      </p:pic>
      <p:sp>
        <p:nvSpPr>
          <p:cNvPr id="13" name="Shape 8"/>
          <p:cNvSpPr/>
          <p:nvPr/>
        </p:nvSpPr>
        <p:spPr>
          <a:xfrm>
            <a:off x="6203950" y="1504950"/>
            <a:ext cx="2438400" cy="2146300"/>
          </a:xfrm>
          <a:prstGeom prst="roundRect">
            <a:avLst>
              <a:gd name="adj" fmla="val 5621"/>
            </a:avLst>
          </a:prstGeom>
          <a:noFill/>
          <a:ln w="12700">
            <a:solidFill>
              <a:srgbClr val="E4DED3"/>
            </a:solidFill>
            <a:prstDash val="solid"/>
          </a:ln>
        </p:spPr>
      </p:sp>
      <p:sp>
        <p:nvSpPr>
          <p:cNvPr id="14" name="Text 9"/>
          <p:cNvSpPr/>
          <p:nvPr/>
        </p:nvSpPr>
        <p:spPr>
          <a:xfrm>
            <a:off x="6197600" y="3771900"/>
            <a:ext cx="144463"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Poppins" pitchFamily="34" charset="0"/>
                <a:ea typeface="Poppins" pitchFamily="34" charset="-122"/>
                <a:cs typeface="Poppins" pitchFamily="34" charset="-120"/>
              </a:rPr>
              <a:t>3</a:t>
            </a:r>
            <a:endParaRPr lang="en-US" sz="2000" dirty="0"/>
          </a:p>
        </p:txBody>
      </p:sp>
      <p:sp>
        <p:nvSpPr>
          <p:cNvPr id="15" name="Text 10"/>
          <p:cNvSpPr/>
          <p:nvPr/>
        </p:nvSpPr>
        <p:spPr>
          <a:xfrm>
            <a:off x="6380163" y="3771900"/>
            <a:ext cx="2375837"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1828"/>
                </a:solidFill>
                <a:latin typeface="DM Sans" pitchFamily="34" charset="0"/>
                <a:ea typeface="DM Sans" pitchFamily="34" charset="-122"/>
                <a:cs typeface="DM Sans" pitchFamily="34" charset="-120"/>
              </a:rPr>
              <a:t>You’re on the list.</a:t>
            </a:r>
            <a:r>
              <a:rPr lang="en-US" sz="1300" dirty="0">
                <a:solidFill>
                  <a:srgbClr val="3D4A5C"/>
                </a:solidFill>
                <a:latin typeface="DM Sans" pitchFamily="34" charset="0"/>
                <a:ea typeface="DM Sans" pitchFamily="34" charset="-122"/>
                <a:cs typeface="DM Sans" pitchFamily="34" charset="-120"/>
              </a:rPr>
              <a:t> It tells you your place in the queue.</a:t>
            </a:r>
            <a:endParaRPr lang="en-US" sz="1300" dirty="0"/>
          </a:p>
        </p:txBody>
      </p:sp>
      <p:pic>
        <p:nvPicPr>
          <p:cNvPr id="16" name="Image 3" descr="My bookings with the Leave waitlist button ringed"/>
          <p:cNvPicPr>
            <a:picLocks noChangeAspect="1"/>
          </p:cNvPicPr>
          <p:nvPr/>
        </p:nvPicPr>
        <p:blipFill>
          <a:blip r:embed="rId6"/>
          <a:srcRect/>
          <a:stretch/>
        </p:blipFill>
        <p:spPr>
          <a:xfrm>
            <a:off x="8902700" y="1511300"/>
            <a:ext cx="2425700" cy="2133600"/>
          </a:xfrm>
          <a:prstGeom prst="roundRect">
            <a:avLst>
              <a:gd name="adj" fmla="val 5357"/>
            </a:avLst>
          </a:prstGeom>
        </p:spPr>
      </p:pic>
      <p:sp>
        <p:nvSpPr>
          <p:cNvPr id="17" name="Shape 11"/>
          <p:cNvSpPr/>
          <p:nvPr/>
        </p:nvSpPr>
        <p:spPr>
          <a:xfrm>
            <a:off x="8896350" y="1504950"/>
            <a:ext cx="2438400" cy="2146300"/>
          </a:xfrm>
          <a:prstGeom prst="roundRect">
            <a:avLst>
              <a:gd name="adj" fmla="val 5621"/>
            </a:avLst>
          </a:prstGeom>
          <a:noFill/>
          <a:ln w="12700">
            <a:solidFill>
              <a:srgbClr val="E4DED3"/>
            </a:solidFill>
            <a:prstDash val="solid"/>
          </a:ln>
        </p:spPr>
      </p:sp>
      <p:sp>
        <p:nvSpPr>
          <p:cNvPr id="18" name="Text 12"/>
          <p:cNvSpPr/>
          <p:nvPr/>
        </p:nvSpPr>
        <p:spPr>
          <a:xfrm>
            <a:off x="8890000" y="3771900"/>
            <a:ext cx="149939"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Poppins" pitchFamily="34" charset="0"/>
                <a:ea typeface="Poppins" pitchFamily="34" charset="-122"/>
                <a:cs typeface="Poppins" pitchFamily="34" charset="-120"/>
              </a:rPr>
              <a:t>4</a:t>
            </a:r>
            <a:endParaRPr lang="en-US" sz="2000" dirty="0"/>
          </a:p>
        </p:txBody>
      </p:sp>
      <p:sp>
        <p:nvSpPr>
          <p:cNvPr id="19" name="Text 13"/>
          <p:cNvSpPr/>
          <p:nvPr/>
        </p:nvSpPr>
        <p:spPr>
          <a:xfrm>
            <a:off x="9078040" y="3771900"/>
            <a:ext cx="2370196"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1828"/>
                </a:solidFill>
                <a:latin typeface="DM Sans" pitchFamily="34" charset="0"/>
                <a:ea typeface="DM Sans" pitchFamily="34" charset="-122"/>
                <a:cs typeface="DM Sans" pitchFamily="34" charset="-120"/>
              </a:rPr>
              <a:t>Changed your mind?</a:t>
            </a:r>
            <a:r>
              <a:rPr lang="en-US" sz="1300" dirty="0">
                <a:solidFill>
                  <a:srgbClr val="3D4A5C"/>
                </a:solidFill>
                <a:latin typeface="DM Sans" pitchFamily="34" charset="0"/>
                <a:ea typeface="DM Sans" pitchFamily="34" charset="-122"/>
                <a:cs typeface="DM Sans" pitchFamily="34" charset="-120"/>
              </a:rPr>
              <a:t> Leave waitlist, in My bookings.</a:t>
            </a:r>
            <a:endParaRPr lang="en-US" sz="1300" dirty="0"/>
          </a:p>
        </p:txBody>
      </p:sp>
      <p:sp>
        <p:nvSpPr>
          <p:cNvPr id="20" name="Shape 14"/>
          <p:cNvSpPr/>
          <p:nvPr/>
        </p:nvSpPr>
        <p:spPr>
          <a:xfrm>
            <a:off x="812800" y="4437380"/>
            <a:ext cx="5181600" cy="767080"/>
          </a:xfrm>
          <a:prstGeom prst="roundRect">
            <a:avLst>
              <a:gd name="adj" fmla="val 16556"/>
            </a:avLst>
          </a:prstGeom>
          <a:solidFill>
            <a:srgbClr val="101828"/>
          </a:solidFill>
          <a:ln/>
        </p:spPr>
      </p:sp>
      <p:pic>
        <p:nvPicPr>
          <p:cNvPr id="21" name="Image 4" descr="Lightning"/>
          <p:cNvPicPr>
            <a:picLocks noChangeAspect="1"/>
          </p:cNvPicPr>
          <p:nvPr/>
        </p:nvPicPr>
        <p:blipFill>
          <a:blip r:embed="rId7"/>
          <a:srcRect t="-61" b="-61"/>
          <a:stretch/>
        </p:blipFill>
        <p:spPr>
          <a:xfrm>
            <a:off x="1016000" y="4668520"/>
            <a:ext cx="196612" cy="304800"/>
          </a:xfrm>
          <a:prstGeom prst="rect">
            <a:avLst/>
          </a:prstGeom>
        </p:spPr>
      </p:pic>
      <p:sp>
        <p:nvSpPr>
          <p:cNvPr id="22" name="Text 15"/>
          <p:cNvSpPr/>
          <p:nvPr/>
        </p:nvSpPr>
        <p:spPr>
          <a:xfrm>
            <a:off x="1339612" y="4589780"/>
            <a:ext cx="4585136"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4EF"/>
                </a:solidFill>
                <a:latin typeface="DM Sans" pitchFamily="34" charset="0"/>
                <a:ea typeface="DM Sans" pitchFamily="34" charset="-122"/>
                <a:cs typeface="DM Sans" pitchFamily="34" charset="-120"/>
              </a:rPr>
              <a:t>A place comes up?</a:t>
            </a:r>
            <a:r>
              <a:rPr lang="en-US" sz="1300" dirty="0">
                <a:solidFill>
                  <a:srgbClr val="F6F4EF"/>
                </a:solidFill>
                <a:latin typeface="DM Sans" pitchFamily="34" charset="0"/>
                <a:ea typeface="DM Sans" pitchFamily="34" charset="-122"/>
                <a:cs typeface="DM Sans" pitchFamily="34" charset="-120"/>
              </a:rPr>
              <a:t> You’re booked by yourself, it’s paid from your wallet, and we email you.</a:t>
            </a:r>
            <a:endParaRPr lang="en-US" sz="1300" dirty="0"/>
          </a:p>
        </p:txBody>
      </p:sp>
      <p:sp>
        <p:nvSpPr>
          <p:cNvPr id="23" name="Shape 16"/>
          <p:cNvSpPr/>
          <p:nvPr/>
        </p:nvSpPr>
        <p:spPr>
          <a:xfrm>
            <a:off x="6197600" y="4437380"/>
            <a:ext cx="5181600" cy="767080"/>
          </a:xfrm>
          <a:prstGeom prst="roundRect">
            <a:avLst>
              <a:gd name="adj" fmla="val 16556"/>
            </a:avLst>
          </a:prstGeom>
          <a:solidFill>
            <a:srgbClr val="101828"/>
          </a:solidFill>
          <a:ln/>
        </p:spPr>
      </p:sp>
      <p:pic>
        <p:nvPicPr>
          <p:cNvPr id="24" name="Image 5" descr="Star"/>
          <p:cNvPicPr>
            <a:picLocks noChangeAspect="1"/>
          </p:cNvPicPr>
          <p:nvPr/>
        </p:nvPicPr>
        <p:blipFill>
          <a:blip r:embed="rId8"/>
          <a:srcRect l="-232" r="-232"/>
          <a:stretch/>
        </p:blipFill>
        <p:spPr>
          <a:xfrm>
            <a:off x="6400800" y="4668520"/>
            <a:ext cx="223282" cy="304800"/>
          </a:xfrm>
          <a:prstGeom prst="rect">
            <a:avLst/>
          </a:prstGeom>
        </p:spPr>
      </p:pic>
      <p:sp>
        <p:nvSpPr>
          <p:cNvPr id="25" name="Text 17"/>
          <p:cNvSpPr/>
          <p:nvPr/>
        </p:nvSpPr>
        <p:spPr>
          <a:xfrm>
            <a:off x="6751082" y="4589780"/>
            <a:ext cx="4557666"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4EF"/>
                </a:solidFill>
                <a:latin typeface="DM Sans" pitchFamily="34" charset="0"/>
                <a:ea typeface="DM Sans" pitchFamily="34" charset="-122"/>
                <a:cs typeface="DM Sans" pitchFamily="34" charset="-120"/>
              </a:rPr>
              <a:t>Keep your wallet topped up.</a:t>
            </a:r>
            <a:r>
              <a:rPr lang="en-US" sz="1300" dirty="0">
                <a:solidFill>
                  <a:srgbClr val="F6F4EF"/>
                </a:solidFill>
                <a:latin typeface="DM Sans" pitchFamily="34" charset="0"/>
                <a:ea typeface="DM Sans" pitchFamily="34" charset="-122"/>
                <a:cs typeface="DM Sans" pitchFamily="34" charset="-120"/>
              </a:rPr>
              <a:t> A place goes to the first person with enough in it.</a:t>
            </a:r>
            <a:endParaRPr lang="en-US" sz="1300" dirty="0"/>
          </a:p>
        </p:txBody>
      </p:sp>
      <p:sp>
        <p:nvSpPr>
          <p:cNvPr id="26" name="Text 18"/>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Step-by-step help with pictures: </a:t>
            </a:r>
            <a:r>
              <a:rPr lang="en-US" sz="1200" b="1" dirty="0">
                <a:solidFill>
                  <a:srgbClr val="6B7686"/>
                </a:solidFill>
                <a:latin typeface="DM Sans" pitchFamily="34" charset="0"/>
                <a:ea typeface="DM Sans" pitchFamily="34" charset="-122"/>
                <a:cs typeface="DM Sans" pitchFamily="34" charset="-120"/>
              </a:rPr>
              <a:t>Help &amp; guides</a:t>
            </a:r>
            <a:r>
              <a:rPr lang="en-US" sz="1200" dirty="0">
                <a:solidFill>
                  <a:srgbClr val="6B7686"/>
                </a:solidFill>
                <a:latin typeface="DM Sans" pitchFamily="34" charset="0"/>
                <a:ea typeface="DM Sans" pitchFamily="34" charset="-122"/>
                <a:cs typeface="DM Sans" pitchFamily="34" charset="-120"/>
              </a:rPr>
              <a:t> on the club site</a:t>
            </a:r>
            <a:endParaRPr lang="en-US" sz="1200" dirty="0"/>
          </a:p>
        </p:txBody>
      </p:sp>
      <p:pic>
        <p:nvPicPr>
          <p:cNvPr id="27" name="Image 6" descr="twoclear"/>
          <p:cNvPicPr>
            <a:picLocks noChangeAspect="1"/>
          </p:cNvPicPr>
          <p:nvPr/>
        </p:nvPicPr>
        <p:blipFill>
          <a:blip r:embed="rId9"/>
          <a:srcRect t="-149" b="-149"/>
          <a:stretch/>
        </p:blipFill>
        <p:spPr>
          <a:xfrm>
            <a:off x="9347200" y="508000"/>
            <a:ext cx="2032000" cy="457200"/>
          </a:xfrm>
          <a:prstGeom prst="rect">
            <a:avLst/>
          </a:prstGeom>
        </p:spPr>
      </p:pic>
    </p:spTree>
  </p:cSld>
  <p:clrMapOvr>
    <a:masterClrMapping/>
  </p:clrMapOvr>
</p:sld>
</file>

<file path=ppt/theme/theme1.xml><?xml version="1.0" encoding="utf-8"?>
<a:theme xmlns:a="http://schemas.openxmlformats.org/drawingml/2006/main" name="Booking with twoclear">
  <a:themeElements>
    <a:clrScheme name="Booking with twoclear">
      <a:dk1>
        <a:srgbClr val="101828"/>
      </a:dk1>
      <a:lt1>
        <a:srgbClr val="F6F4EF"/>
      </a:lt1>
      <a:dk2>
        <a:srgbClr val="4A4F5A"/>
      </a:dk2>
      <a:lt2>
        <a:srgbClr val="DFDEDB"/>
      </a:lt2>
      <a:accent1>
        <a:srgbClr val="C2410C"/>
      </a:accent1>
      <a:accent2>
        <a:srgbClr val="3D4A5C"/>
      </a:accent2>
      <a:accent3>
        <a:srgbClr val="6B7686"/>
      </a:accent3>
      <a:accent4>
        <a:srgbClr val="9AA0A6"/>
      </a:accent4>
      <a:accent5>
        <a:srgbClr val="6C7078"/>
      </a:accent5>
      <a:accent6>
        <a:srgbClr val="8F9195"/>
      </a:accent6>
      <a:hlink>
        <a:srgbClr val="0563C1"/>
      </a:hlink>
      <a:folHlink>
        <a:srgbClr val="954F72"/>
      </a:folHlink>
    </a:clrScheme>
    <a:fontScheme name="Booking with twoclear">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616</Words>
  <Application>Microsoft Office PowerPoint</Application>
  <PresentationFormat>Widescreen</PresentationFormat>
  <Paragraphs>50</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DM Sans</vt:lpstr>
      <vt:lpstr>Poppins</vt:lpstr>
      <vt:lpstr>Booking with twoclear</vt:lpstr>
      <vt:lpstr>Put the club on your phone</vt:lpstr>
      <vt:lpstr>Booking a session</vt:lpstr>
      <vt:lpstr>Joining the waiting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Booking with twoclear</dc:title>
  <dc:subject/>
  <dc:creator/>
  <cp:lastModifiedBy>Paul Berry</cp:lastModifiedBy>
  <cp:revision>3</cp:revision>
  <dcterms:created xsi:type="dcterms:W3CDTF">2026-10-09T09:28:43Z</dcterms:created>
  <dcterms:modified xsi:type="dcterms:W3CDTF">2026-10-25T17:18:44Z</dcterms:modified>
</cp:coreProperties>
</file>